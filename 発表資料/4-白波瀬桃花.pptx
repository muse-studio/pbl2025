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70" r:id="rId4"/>
    <p:sldId id="260" r:id="rId5"/>
    <p:sldId id="258" r:id="rId6"/>
    <p:sldId id="271" r:id="rId7"/>
    <p:sldId id="261" r:id="rId8"/>
    <p:sldId id="263" r:id="rId9"/>
    <p:sldId id="264" r:id="rId10"/>
    <p:sldId id="265" r:id="rId11"/>
    <p:sldId id="266" r:id="rId12"/>
    <p:sldId id="272" r:id="rId13"/>
  </p:sldIdLst>
  <p:sldSz cx="18288000" cy="10287000"/>
  <p:notesSz cx="6858000" cy="9144000"/>
  <p:embeddedFontLst>
    <p:embeddedFont>
      <p:font typeface="Rounded M+" panose="020B0600070205080204" charset="-128"/>
      <p:regular r:id="rId15"/>
    </p:embeddedFont>
    <p:embeddedFont>
      <p:font typeface="Rounded M+ Bold" panose="020B0600070205080204" charset="-128"/>
      <p:regular r:id="rId16"/>
    </p:embeddedFont>
    <p:embeddedFont>
      <p:font typeface="Calibri" panose="020F0502020204030204" pitchFamily="34" charset="0"/>
      <p:regular r:id="rId17"/>
      <p:bold r:id="rId18"/>
      <p:italic r:id="rId19"/>
      <p:boldItalic r:id="rId20"/>
    </p:embeddedFont>
    <p:embeddedFont>
      <p:font typeface="Noto Sans JP" panose="020B0200000000000000" pitchFamily="50" charset="-128"/>
      <p:regular r:id="rId21"/>
      <p:bold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050"/>
    <a:srgbClr val="517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39" autoAdjust="0"/>
    <p:restoredTop sz="70914" autoAdjust="0"/>
  </p:normalViewPr>
  <p:slideViewPr>
    <p:cSldViewPr>
      <p:cViewPr varScale="1">
        <p:scale>
          <a:sx n="45" d="100"/>
          <a:sy n="45" d="100"/>
        </p:scale>
        <p:origin x="1784" y="96"/>
      </p:cViewPr>
      <p:guideLst>
        <p:guide orient="horz" pos="2160"/>
        <p:guide pos="2880"/>
      </p:guideLst>
    </p:cSldViewPr>
  </p:slideViewPr>
  <p:outlineViewPr>
    <p:cViewPr>
      <p:scale>
        <a:sx n="33" d="100"/>
        <a:sy n="33" d="100"/>
      </p:scale>
      <p:origin x="0" y="0"/>
    </p:cViewPr>
  </p:outlin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橋田ゼミ</a:t>
            </a:r>
            <a:r>
              <a:rPr lang="en-US" dirty="0"/>
              <a:t>4年の白波瀬桃花です。</a:t>
            </a:r>
          </a:p>
          <a:p>
            <a:r>
              <a:rPr lang="en-US" dirty="0" err="1"/>
              <a:t>これから、楽譜上のフレーズに基づく演奏表情のパラメータ制御システムについて発表します</a:t>
            </a:r>
            <a:r>
              <a:rPr lang="en-US" dirty="0"/>
              <a:t>。</a:t>
            </a:r>
          </a:p>
          <a:p>
            <a:r>
              <a:rPr lang="en-US" dirty="0" err="1"/>
              <a:t>よろしくお願いします</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音楽の演奏では、楽譜</a:t>
            </a:r>
            <a:r>
              <a:rPr lang="ja-JP" altLang="en-US" dirty="0"/>
              <a:t>の再現だけではなく</a:t>
            </a:r>
            <a:r>
              <a:rPr lang="en-US" dirty="0"/>
              <a:t>、演奏者自身の解釈で強弱やテンポに変化を加えることで、聴き手に感動を与える表現が生まれます。</a:t>
            </a:r>
          </a:p>
          <a:p>
            <a:endParaRPr lang="en-US" dirty="0"/>
          </a:p>
          <a:p>
            <a:r>
              <a:rPr lang="en-US" dirty="0"/>
              <a:t>しかし、既存のツールには課題があります。音声編集ソフトのDAWは、細かい音響編集ができますが、右のようなピアノロール画面は五線譜に慣れた演奏者には直感的ではありません。</a:t>
            </a:r>
          </a:p>
          <a:p>
            <a:r>
              <a:rPr lang="en-US" dirty="0" err="1"/>
              <a:t>一方、楽譜ソフトは、五線譜上</a:t>
            </a:r>
            <a:r>
              <a:rPr lang="ja-JP" altLang="en-US" dirty="0"/>
              <a:t>で</a:t>
            </a:r>
            <a:r>
              <a:rPr lang="en-US" dirty="0" err="1"/>
              <a:t>操作で</a:t>
            </a:r>
            <a:r>
              <a:rPr lang="ja-JP" altLang="en-US" dirty="0"/>
              <a:t>きますが</a:t>
            </a:r>
            <a:r>
              <a:rPr lang="en-US" dirty="0"/>
              <a:t>、</a:t>
            </a:r>
            <a:r>
              <a:rPr lang="en-US" dirty="0" err="1"/>
              <a:t>再生機能は機械的で、表現の比較や検討に特化していません</a:t>
            </a:r>
            <a:r>
              <a:rPr lang="en-US" dirty="0"/>
              <a:t>。</a:t>
            </a:r>
          </a:p>
          <a:p>
            <a:r>
              <a:rPr lang="en-US" dirty="0" err="1"/>
              <a:t>このように、両者の間には操作性や目的の面で大きな壁が存在します</a:t>
            </a:r>
            <a:r>
              <a:rPr lang="en-US" dirty="0"/>
              <a:t>。</a:t>
            </a:r>
          </a:p>
          <a:p>
            <a:endParaRPr lang="en-US" dirty="0"/>
          </a:p>
          <a:p>
            <a:r>
              <a:rPr lang="en-US" dirty="0" err="1"/>
              <a:t>そこで本研究では、この壁を埋めるため、五線譜上で直感的に演奏表現を探求できるシステムの構築を目的としました</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ここで、私たち演奏者が普段どのように表現を考えているか、実際の「紙の楽譜」で話します</a:t>
            </a:r>
            <a:r>
              <a:rPr lang="en-US" dirty="0"/>
              <a:t>。</a:t>
            </a:r>
          </a:p>
          <a:p>
            <a:endParaRPr lang="en-US" dirty="0"/>
          </a:p>
          <a:p>
            <a:r>
              <a:rPr lang="en-US" dirty="0" err="1"/>
              <a:t>演奏者は練習の際、このように楽譜に直接書き込みを行います</a:t>
            </a:r>
            <a:r>
              <a:rPr lang="en-US" dirty="0"/>
              <a:t>。</a:t>
            </a:r>
          </a:p>
          <a:p>
            <a:r>
              <a:rPr lang="en-US" dirty="0" err="1"/>
              <a:t>例えば、線を引いて</a:t>
            </a:r>
            <a:r>
              <a:rPr lang="ja-JP" altLang="en-US" dirty="0"/>
              <a:t>フレーズ</a:t>
            </a:r>
            <a:r>
              <a:rPr lang="en-US" dirty="0" err="1"/>
              <a:t>のまとまりだと可視化したり</a:t>
            </a:r>
            <a:r>
              <a:rPr lang="en-US" dirty="0"/>
              <a:t>、</a:t>
            </a:r>
            <a:r>
              <a:rPr lang="ja-JP" altLang="en-US" dirty="0"/>
              <a:t>強弱記号や</a:t>
            </a:r>
            <a:r>
              <a:rPr lang="en-US" dirty="0"/>
              <a:t>「</a:t>
            </a:r>
            <a:r>
              <a:rPr lang="en-US" dirty="0" err="1"/>
              <a:t>歌うように</a:t>
            </a:r>
            <a:r>
              <a:rPr lang="en-US" dirty="0"/>
              <a:t>」</a:t>
            </a:r>
            <a:r>
              <a:rPr lang="ja-JP" altLang="en-US" dirty="0"/>
              <a:t>といった</a:t>
            </a:r>
            <a:r>
              <a:rPr lang="en-US" dirty="0" err="1"/>
              <a:t>言葉を書き込んだりします</a:t>
            </a:r>
            <a:r>
              <a:rPr lang="en-US" dirty="0"/>
              <a:t>。</a:t>
            </a:r>
          </a:p>
          <a:p>
            <a:endParaRPr lang="en-US" dirty="0"/>
          </a:p>
          <a:p>
            <a:r>
              <a:rPr lang="en-US" dirty="0" err="1"/>
              <a:t>こうして視覚的にイメージを作ることで、演奏のニュアンスを組み立てています</a:t>
            </a:r>
            <a:r>
              <a:rPr lang="en-US" dirty="0"/>
              <a:t>。</a:t>
            </a:r>
          </a:p>
          <a:p>
            <a:endParaRPr lang="en-US" dirty="0"/>
          </a:p>
          <a:p>
            <a:r>
              <a:rPr lang="en-US" dirty="0" err="1"/>
              <a:t>本研究は、この「紙の楽譜に行う直感的な試行錯誤」を、Web上で、実際の音を聴きながら行えるようにするものです</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ltLang="ja-JP" dirty="0"/>
              <a:t>紙に書き込まれた直感的な表現を、どのように音へと変換するか、その演奏表現のモデル化にあたっては、保科理論を基盤として採用しました。</a:t>
            </a:r>
          </a:p>
          <a:p>
            <a:endParaRPr lang="en-US" altLang="ja-JP" dirty="0"/>
          </a:p>
          <a:p>
            <a:r>
              <a:rPr lang="en-US" dirty="0"/>
              <a:t>この理論では、音楽のフレーズはエネルギーが最も高まる「頂点」を中心とした、山型の構造を持つとされています。本システムでは、主に強弱の制御にこの考え方を応用しました。</a:t>
            </a:r>
          </a:p>
          <a:p>
            <a:endParaRPr lang="en-US" dirty="0"/>
          </a:p>
          <a:p>
            <a:r>
              <a:rPr lang="en-US" dirty="0"/>
              <a:t>本システムでは、演奏表現を強弱と時間の2つのパラメータ</a:t>
            </a:r>
            <a:r>
              <a:rPr lang="ja-JP" altLang="en-US" dirty="0"/>
              <a:t>で</a:t>
            </a:r>
            <a:r>
              <a:rPr lang="en-US" dirty="0" err="1"/>
              <a:t>制御します</a:t>
            </a:r>
            <a:r>
              <a:rPr lang="en-US" dirty="0"/>
              <a:t>。</a:t>
            </a:r>
          </a:p>
          <a:p>
            <a:r>
              <a:rPr lang="en-US" dirty="0"/>
              <a:t>1つ目は強弱で、ここでは</a:t>
            </a:r>
            <a:r>
              <a:rPr lang="en-US" altLang="ja-JP" dirty="0"/>
              <a:t>Expression</a:t>
            </a:r>
            <a:r>
              <a:rPr lang="ja-JP" altLang="en-US" dirty="0"/>
              <a:t>の値を制御します</a:t>
            </a:r>
            <a:r>
              <a:rPr lang="en-US" dirty="0"/>
              <a:t>。</a:t>
            </a:r>
          </a:p>
          <a:p>
            <a:r>
              <a:rPr lang="en-US" dirty="0"/>
              <a:t>具体的には、ユーザーが指定したフレーズの開始、頂点、終了の3</a:t>
            </a:r>
            <a:r>
              <a:rPr lang="ja-JP" altLang="en-US" dirty="0"/>
              <a:t>点</a:t>
            </a:r>
            <a:r>
              <a:rPr lang="en-US" dirty="0"/>
              <a:t>を</a:t>
            </a:r>
            <a:r>
              <a:rPr lang="ja-JP" altLang="en-US" dirty="0"/>
              <a:t>指定することで、</a:t>
            </a:r>
            <a:r>
              <a:rPr lang="en-US" dirty="0" err="1"/>
              <a:t>頂点に向かって盛り上が</a:t>
            </a:r>
            <a:r>
              <a:rPr lang="ja-JP" altLang="en-US" dirty="0"/>
              <a:t>り、</a:t>
            </a:r>
            <a:r>
              <a:rPr lang="en-US" dirty="0" err="1"/>
              <a:t>頂点を過ぎると滑らかに収束していく、という山型の強弱カーブを</a:t>
            </a:r>
            <a:r>
              <a:rPr lang="ja-JP" altLang="en-US" dirty="0"/>
              <a:t>生成</a:t>
            </a:r>
            <a:r>
              <a:rPr lang="en-US" dirty="0" err="1"/>
              <a:t>します</a:t>
            </a:r>
            <a:r>
              <a:rPr lang="en-US" dirty="0"/>
              <a:t>。</a:t>
            </a:r>
          </a:p>
          <a:p>
            <a:endParaRPr lang="en-US" dirty="0"/>
          </a:p>
          <a:p>
            <a:r>
              <a:rPr lang="en-US" dirty="0"/>
              <a:t>2つ目が、時間制御です。</a:t>
            </a:r>
          </a:p>
          <a:p>
            <a:r>
              <a:rPr lang="en-US" dirty="0" err="1"/>
              <a:t>これは、各音符</a:t>
            </a:r>
            <a:r>
              <a:rPr lang="ja-JP" altLang="en-US" dirty="0"/>
              <a:t>の</a:t>
            </a:r>
            <a:r>
              <a:rPr lang="en-US" dirty="0" err="1"/>
              <a:t>発音タイミングをミリ秒単位で意図的にずらすことで、音楽的な「溜め」や「走り」といった、局所的なテンポの揺らぎを表現します</a:t>
            </a:r>
            <a:r>
              <a:rPr lang="en-US" dirty="0"/>
              <a:t>。</a:t>
            </a:r>
          </a:p>
          <a:p>
            <a:endParaRPr lang="en-US" dirty="0"/>
          </a:p>
          <a:p>
            <a:r>
              <a:rPr lang="en-US" dirty="0"/>
              <a:t>この2つを組み合わせることで、多様な音楽表現の生成を可能にしました。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関連研究として、ユーザーが主体的に演奏</a:t>
            </a:r>
            <a:r>
              <a:rPr lang="ja-JP" altLang="en-US" dirty="0"/>
              <a:t>表現</a:t>
            </a:r>
            <a:r>
              <a:rPr lang="en-US" dirty="0" err="1"/>
              <a:t>をデザインする「Mixtract」があります</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このシステムでは、ユーザーがフレーズや頂点を決定すると、システムが演奏を生成し、それを聴いて修正するというデザインのループを実現したシステムです。</a:t>
            </a:r>
          </a:p>
          <a:p>
            <a:endParaRPr lang="en-US" dirty="0"/>
          </a:p>
          <a:p>
            <a:r>
              <a:rPr lang="ja-JP" altLang="en-US" b="0" i="0" dirty="0">
                <a:solidFill>
                  <a:srgbClr val="D4D4D4"/>
                </a:solidFill>
                <a:effectLst/>
                <a:latin typeface="Inter"/>
              </a:rPr>
              <a:t>しかし、</a:t>
            </a:r>
            <a:r>
              <a:rPr lang="en-US" altLang="ja-JP" b="0" i="0" dirty="0" err="1">
                <a:solidFill>
                  <a:srgbClr val="D4D4D4"/>
                </a:solidFill>
                <a:effectLst/>
                <a:latin typeface="Inter"/>
              </a:rPr>
              <a:t>Mixtract</a:t>
            </a:r>
            <a:r>
              <a:rPr lang="ja-JP" altLang="en-US" b="0" i="0" dirty="0">
                <a:solidFill>
                  <a:srgbClr val="D4D4D4"/>
                </a:solidFill>
                <a:effectLst/>
                <a:latin typeface="Inter"/>
              </a:rPr>
              <a:t>を含め、これまでの研究では、主にピアノを想定した「打鍵の強さ（</a:t>
            </a:r>
            <a:r>
              <a:rPr lang="en-US" altLang="ja-JP" b="0" i="0" dirty="0">
                <a:solidFill>
                  <a:srgbClr val="D4D4D4"/>
                </a:solidFill>
                <a:effectLst/>
                <a:latin typeface="Inter"/>
              </a:rPr>
              <a:t>Velocity</a:t>
            </a:r>
            <a:r>
              <a:rPr lang="ja-JP" altLang="en-US" b="0" i="0" dirty="0">
                <a:solidFill>
                  <a:srgbClr val="D4D4D4"/>
                </a:solidFill>
                <a:effectLst/>
                <a:latin typeface="Inter"/>
              </a:rPr>
              <a:t>）」の制御が中心でした。</a:t>
            </a:r>
            <a:endParaRPr lang="en-US" dirty="0"/>
          </a:p>
          <a:p>
            <a:endParaRPr lang="en-US" dirty="0"/>
          </a:p>
          <a:p>
            <a:r>
              <a:rPr lang="en-US" altLang="ja-JP" dirty="0" err="1"/>
              <a:t>本研究では、Mixtractの思想を継承しつつ、管楽器や弦楽器の</a:t>
            </a:r>
            <a:r>
              <a:rPr lang="ja-JP" altLang="en-US" dirty="0"/>
              <a:t>表現にも対応するため、</a:t>
            </a:r>
            <a:r>
              <a:rPr lang="en-US" altLang="ja-JP" dirty="0" err="1"/>
              <a:t>音の持続中の強弱</a:t>
            </a:r>
            <a:r>
              <a:rPr lang="ja-JP" altLang="en-US" dirty="0"/>
              <a:t>、「</a:t>
            </a:r>
            <a:r>
              <a:rPr lang="en-US" altLang="ja-JP" dirty="0" err="1"/>
              <a:t>Expression」を制御できるように拡張しました</a:t>
            </a:r>
            <a:r>
              <a:rPr lang="en-US" altLang="ja-JP" dirty="0"/>
              <a:t>。</a:t>
            </a:r>
          </a:p>
          <a:p>
            <a:r>
              <a:rPr lang="en-US" dirty="0" err="1"/>
              <a:t>これ</a:t>
            </a:r>
            <a:r>
              <a:rPr lang="ja-JP" altLang="en-US" dirty="0"/>
              <a:t>により、拍より細かい単位での連続的な強弱変化を実現しています。</a:t>
            </a:r>
            <a:endParaRPr lang="en-US" dirty="0"/>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こちらがシステムの画面になります</a:t>
            </a:r>
            <a:r>
              <a:rPr lang="en-US" dirty="0"/>
              <a:t>。</a:t>
            </a:r>
          </a:p>
          <a:p>
            <a:r>
              <a:rPr lang="en-US" dirty="0" err="1"/>
              <a:t>左側が操作パネルとなっていて、右側に楽譜が表示されます</a:t>
            </a:r>
            <a:r>
              <a:rPr lang="en-US" dirty="0"/>
              <a:t>。</a:t>
            </a:r>
          </a:p>
          <a:p>
            <a:endParaRPr lang="en-US" dirty="0"/>
          </a:p>
          <a:p>
            <a:r>
              <a:rPr lang="en-US" dirty="0"/>
              <a:t>--</a:t>
            </a:r>
            <a:r>
              <a:rPr lang="en-US" dirty="0" err="1"/>
              <a:t>動画再生</a:t>
            </a:r>
            <a:r>
              <a:rPr lang="en-US" dirty="0"/>
              <a:t>--</a:t>
            </a:r>
          </a:p>
          <a:p>
            <a:r>
              <a:rPr lang="en-US" dirty="0" err="1"/>
              <a:t>操作手順は、まずMusicXMLとMIDIファイルを読み込みます</a:t>
            </a:r>
            <a:r>
              <a:rPr lang="en-US" dirty="0"/>
              <a:t>。</a:t>
            </a:r>
          </a:p>
          <a:p>
            <a:r>
              <a:rPr lang="en-US" dirty="0" err="1"/>
              <a:t>パートを選択すると、右側にそのパートの楽譜が表示されます</a:t>
            </a:r>
            <a:r>
              <a:rPr lang="en-US" dirty="0"/>
              <a:t>。</a:t>
            </a:r>
          </a:p>
          <a:p>
            <a:r>
              <a:rPr lang="en-US" dirty="0" err="1"/>
              <a:t>この楽譜上でフレーズの開始音と終了音をクリックします</a:t>
            </a:r>
            <a:r>
              <a:rPr lang="en-US" dirty="0"/>
              <a:t>。</a:t>
            </a:r>
          </a:p>
          <a:p>
            <a:r>
              <a:rPr lang="en-US" dirty="0" err="1"/>
              <a:t>すると、システムが黄色で頂点の候補を提示するので、ユーザーは自分の解釈に合う音符を頂点として選択します</a:t>
            </a:r>
            <a:r>
              <a:rPr lang="en-US" dirty="0"/>
              <a:t>。</a:t>
            </a:r>
          </a:p>
          <a:p>
            <a:endParaRPr lang="en-US" dirty="0"/>
          </a:p>
          <a:p>
            <a:r>
              <a:rPr lang="en-US" dirty="0" err="1"/>
              <a:t>次に、左の操作パネルからCantabileなどの演奏表現を選ぶと、選択した範囲に表現が適用されています</a:t>
            </a:r>
            <a:r>
              <a:rPr lang="en-US" dirty="0"/>
              <a:t>。</a:t>
            </a:r>
          </a:p>
          <a:p>
            <a:endParaRPr lang="en-US" dirty="0"/>
          </a:p>
          <a:p>
            <a:r>
              <a:rPr lang="en-US" dirty="0"/>
              <a:t>最後に、音源を生成ボタンを押すと、加工された音声が生成され、実際に耳でどう変わったのかを聴き比べ、納得がいくまでパラメータの調整を行うことができます。</a:t>
            </a:r>
          </a:p>
          <a:p>
            <a:endParaRPr lang="en-US" dirty="0"/>
          </a:p>
          <a:p>
            <a:r>
              <a:rPr lang="en-US" dirty="0" err="1"/>
              <a:t>また、Undo、Redo機能や加工したMIDIファイルとマーカーが付いた楽譜ファイルを保存する機能も実装しました</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ja-JP" altLang="en-US" dirty="0"/>
              <a:t>こちらがシステムの全体構成です。処理の流れに沿って説明します。</a:t>
            </a:r>
            <a:endParaRPr lang="en-US" altLang="ja-JP" dirty="0"/>
          </a:p>
          <a:p>
            <a:r>
              <a:rPr lang="ja-JP" altLang="en-US" b="0" i="0" dirty="0">
                <a:solidFill>
                  <a:srgbClr val="D4D4D4"/>
                </a:solidFill>
                <a:effectLst/>
                <a:latin typeface="Inter"/>
              </a:rPr>
              <a:t>まず、ユーザーがファイルを読み込み（🔸マウスで①）、</a:t>
            </a:r>
            <a:r>
              <a:rPr lang="en-US" altLang="ja-JP" b="0" i="0" dirty="0">
                <a:solidFill>
                  <a:srgbClr val="D4D4D4"/>
                </a:solidFill>
                <a:effectLst/>
                <a:latin typeface="Inter"/>
              </a:rPr>
              <a:t>Web</a:t>
            </a:r>
            <a:r>
              <a:rPr lang="ja-JP" altLang="en-US" b="0" i="0" dirty="0">
                <a:solidFill>
                  <a:srgbClr val="D4D4D4"/>
                </a:solidFill>
                <a:effectLst/>
                <a:latin typeface="Inter"/>
              </a:rPr>
              <a:t>ブラウザ上で楽譜を見ながら操作を行います（🔸②）。</a:t>
            </a:r>
            <a:endParaRPr lang="en-US" altLang="ja-JP" b="0" i="0" dirty="0">
              <a:solidFill>
                <a:srgbClr val="D4D4D4"/>
              </a:solidFill>
              <a:effectLst/>
              <a:latin typeface="Inter"/>
            </a:endParaRPr>
          </a:p>
          <a:p>
            <a:r>
              <a:rPr lang="ja-JP" altLang="en-US" b="0" i="0" dirty="0">
                <a:solidFill>
                  <a:srgbClr val="D4D4D4"/>
                </a:solidFill>
                <a:effectLst/>
                <a:latin typeface="Inter"/>
              </a:rPr>
              <a:t>このフロントエンドとバックエンドが連携する部分（🔸③</a:t>
            </a:r>
            <a:r>
              <a:rPr lang="en-US" altLang="ja-JP" b="0" i="0" dirty="0">
                <a:solidFill>
                  <a:srgbClr val="D4D4D4"/>
                </a:solidFill>
                <a:effectLst/>
                <a:latin typeface="Inter"/>
              </a:rPr>
              <a:t>※</a:t>
            </a:r>
            <a:r>
              <a:rPr lang="ja-JP" altLang="en-US" b="0" i="0" dirty="0">
                <a:solidFill>
                  <a:srgbClr val="D4D4D4"/>
                </a:solidFill>
                <a:effectLst/>
                <a:latin typeface="Inter"/>
              </a:rPr>
              <a:t>バックエンド</a:t>
            </a:r>
            <a:r>
              <a:rPr lang="en-US" altLang="ja-JP" b="0" i="0" dirty="0">
                <a:solidFill>
                  <a:srgbClr val="D4D4D4"/>
                </a:solidFill>
                <a:effectLst/>
                <a:latin typeface="Inter"/>
              </a:rPr>
              <a:t>(</a:t>
            </a:r>
            <a:r>
              <a:rPr lang="ja-JP" altLang="en-US" b="0" i="0" dirty="0">
                <a:solidFill>
                  <a:srgbClr val="D4D4D4"/>
                </a:solidFill>
                <a:effectLst/>
                <a:latin typeface="Inter"/>
              </a:rPr>
              <a:t>サーバー</a:t>
            </a:r>
            <a:r>
              <a:rPr lang="en-US" altLang="ja-JP" b="0" i="0" dirty="0">
                <a:solidFill>
                  <a:srgbClr val="D4D4D4"/>
                </a:solidFill>
                <a:effectLst/>
                <a:latin typeface="Inter"/>
              </a:rPr>
              <a:t>)</a:t>
            </a:r>
            <a:r>
              <a:rPr lang="ja-JP" altLang="en-US" b="0" i="0" dirty="0">
                <a:solidFill>
                  <a:srgbClr val="D4D4D4"/>
                </a:solidFill>
                <a:effectLst/>
                <a:latin typeface="Inter"/>
              </a:rPr>
              <a:t>）において、楽譜データと演奏データの正確な対応付けを行うことが、本研究最大の技術的課題でした。</a:t>
            </a:r>
            <a:endParaRPr lang="en-US" altLang="ja-JP" b="0" i="0" dirty="0">
              <a:solidFill>
                <a:srgbClr val="D4D4D4"/>
              </a:solidFill>
              <a:effectLst/>
              <a:latin typeface="Inter"/>
            </a:endParaRPr>
          </a:p>
          <a:p>
            <a:endParaRPr lang="ja-JP" altLang="en-US" dirty="0"/>
          </a:p>
          <a:p>
            <a:r>
              <a:rPr lang="ja-JP" altLang="en-US" dirty="0"/>
              <a:t>楽譜データの</a:t>
            </a:r>
            <a:r>
              <a:rPr lang="en-US" altLang="ja-JP" dirty="0" err="1"/>
              <a:t>MusicXML</a:t>
            </a:r>
            <a:r>
              <a:rPr lang="ja-JP" altLang="en-US" dirty="0"/>
              <a:t>は、小節や拍といった音楽的な単位で時間を管理するのに対し、</a:t>
            </a:r>
            <a:r>
              <a:rPr lang="en-US" altLang="ja-JP" dirty="0"/>
              <a:t>MIDI</a:t>
            </a:r>
            <a:r>
              <a:rPr lang="ja-JP" altLang="en-US" dirty="0"/>
              <a:t>は拍よりも細かい単位である</a:t>
            </a:r>
            <a:r>
              <a:rPr lang="en-US" altLang="ja-JP" dirty="0"/>
              <a:t>Tick</a:t>
            </a:r>
            <a:r>
              <a:rPr lang="ja-JP" altLang="en-US" dirty="0"/>
              <a:t>という絶対的な数値で管理されます。</a:t>
            </a:r>
          </a:p>
          <a:p>
            <a:r>
              <a:rPr lang="ja-JP" altLang="en-US" dirty="0"/>
              <a:t>そのため、両者の時間軸の定義が根本的に異なり、そのままでは同期させることができません。</a:t>
            </a:r>
          </a:p>
          <a:p>
            <a:endParaRPr lang="ja-JP" altLang="en-US" dirty="0"/>
          </a:p>
          <a:p>
            <a:r>
              <a:rPr lang="ja-JP" altLang="en-US" dirty="0"/>
              <a:t>そこで本システムでは、</a:t>
            </a:r>
            <a:r>
              <a:rPr lang="en-US" altLang="ja-JP" dirty="0"/>
              <a:t>2</a:t>
            </a:r>
            <a:r>
              <a:rPr lang="ja-JP" altLang="en-US" dirty="0"/>
              <a:t>つの解決策を実装しました。</a:t>
            </a:r>
          </a:p>
          <a:p>
            <a:endParaRPr lang="ja-JP" altLang="en-US" dirty="0"/>
          </a:p>
          <a:p>
            <a:r>
              <a:rPr lang="en-US" altLang="ja-JP" dirty="0"/>
              <a:t>1</a:t>
            </a:r>
            <a:r>
              <a:rPr lang="ja-JP" altLang="en-US" dirty="0"/>
              <a:t>つ目は、サーバー側での時間軸の計算です</a:t>
            </a:r>
            <a:r>
              <a:rPr lang="en-US" altLang="ja-JP" dirty="0"/>
              <a:t>(</a:t>
            </a:r>
            <a:r>
              <a:rPr lang="ja-JP" altLang="en-US" dirty="0"/>
              <a:t>🔸</a:t>
            </a:r>
            <a:r>
              <a:rPr lang="en-US" altLang="ja-JP" dirty="0"/>
              <a:t>※</a:t>
            </a:r>
            <a:r>
              <a:rPr lang="ja-JP" altLang="en-US" dirty="0"/>
              <a:t>バックエンド</a:t>
            </a:r>
            <a:r>
              <a:rPr lang="en-US" altLang="ja-JP" dirty="0"/>
              <a:t>(</a:t>
            </a:r>
            <a:r>
              <a:rPr lang="ja-JP" altLang="en-US" dirty="0"/>
              <a:t>サーバー</a:t>
            </a:r>
            <a:r>
              <a:rPr lang="en-US" altLang="ja-JP" dirty="0"/>
              <a:t>))</a:t>
            </a:r>
            <a:r>
              <a:rPr lang="ja-JP" altLang="en-US" dirty="0"/>
              <a:t>。</a:t>
            </a:r>
          </a:p>
          <a:p>
            <a:r>
              <a:rPr lang="en-US" altLang="ja-JP" dirty="0" err="1"/>
              <a:t>MusicXML</a:t>
            </a:r>
            <a:r>
              <a:rPr lang="ja-JP" altLang="en-US" dirty="0"/>
              <a:t>のテンポ情報をもとに各音符の発音時刻を全て</a:t>
            </a:r>
            <a:r>
              <a:rPr lang="en-US" altLang="ja-JP" dirty="0"/>
              <a:t>Tick</a:t>
            </a:r>
            <a:r>
              <a:rPr lang="ja-JP" altLang="en-US" dirty="0"/>
              <a:t>に換算し、音符のインデックスや音名、発音時刻などを記録した「音符との対応表」を</a:t>
            </a:r>
            <a:r>
              <a:rPr lang="en-US" altLang="ja-JP" dirty="0"/>
              <a:t>JSON</a:t>
            </a:r>
            <a:r>
              <a:rPr lang="ja-JP" altLang="en-US" dirty="0"/>
              <a:t>形式で生成することで、この時間軸の乖離を解消しました。</a:t>
            </a:r>
          </a:p>
          <a:p>
            <a:endParaRPr lang="ja-JP" altLang="en-US" dirty="0"/>
          </a:p>
          <a:p>
            <a:r>
              <a:rPr lang="en-US" altLang="ja-JP" dirty="0"/>
              <a:t>2</a:t>
            </a:r>
            <a:r>
              <a:rPr lang="ja-JP" altLang="en-US" dirty="0"/>
              <a:t>つ目は、クリック位置の特定と連携です</a:t>
            </a:r>
            <a:r>
              <a:rPr lang="en-US" altLang="ja-JP" dirty="0"/>
              <a:t>(</a:t>
            </a:r>
            <a:r>
              <a:rPr lang="ja-JP" altLang="en-US" dirty="0"/>
              <a:t>🔸</a:t>
            </a:r>
            <a:r>
              <a:rPr lang="en-US" altLang="ja-JP" dirty="0"/>
              <a:t>※</a:t>
            </a:r>
            <a:r>
              <a:rPr lang="ja-JP" altLang="en-US" dirty="0"/>
              <a:t>フロントエンド→データ連携の矢印</a:t>
            </a:r>
            <a:r>
              <a:rPr lang="en-US" altLang="ja-JP" dirty="0"/>
              <a:t>)</a:t>
            </a:r>
            <a:r>
              <a:rPr lang="ja-JP" altLang="en-US" dirty="0"/>
              <a:t>。</a:t>
            </a:r>
          </a:p>
          <a:p>
            <a:r>
              <a:rPr lang="ja-JP" altLang="en-US" dirty="0"/>
              <a:t>ユーザーが画面上の音符をクリックした時に、その音符のインデックスを取得し、先程の音符との対応表を参照する仕組みを構築しました。</a:t>
            </a:r>
          </a:p>
          <a:p>
            <a:r>
              <a:rPr lang="ja-JP" altLang="en-US" dirty="0"/>
              <a:t>これにより、画面上の操作が楽曲全体の何</a:t>
            </a:r>
            <a:r>
              <a:rPr lang="en-US" altLang="ja-JP" dirty="0"/>
              <a:t>Tick</a:t>
            </a:r>
            <a:r>
              <a:rPr lang="ja-JP" altLang="en-US" dirty="0"/>
              <a:t>目にあるのかを特定し、</a:t>
            </a:r>
            <a:r>
              <a:rPr lang="en-US" altLang="ja-JP" dirty="0"/>
              <a:t>MIDI</a:t>
            </a:r>
            <a:r>
              <a:rPr lang="ja-JP" altLang="en-US" dirty="0"/>
              <a:t>データの加工へと連携させています。</a:t>
            </a:r>
          </a:p>
          <a:p>
            <a:endParaRPr lang="ja-JP" altLang="en-US" dirty="0"/>
          </a:p>
          <a:p>
            <a:r>
              <a:rPr lang="ja-JP" altLang="en-US" dirty="0"/>
              <a:t>この、楽譜表示と内部データの正確な同期処理が、本研究において最も実装に注力した点になります。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システムの有効性を評価するため、同一フレーズに異なる発想標語を適用しました</a:t>
            </a:r>
            <a:r>
              <a:rPr lang="en-US" dirty="0"/>
              <a:t>。</a:t>
            </a:r>
          </a:p>
          <a:p>
            <a:endParaRPr lang="en-US" dirty="0"/>
          </a:p>
          <a:p>
            <a:r>
              <a:rPr lang="en-US" dirty="0" err="1"/>
              <a:t>楽曲は</a:t>
            </a:r>
            <a:r>
              <a:rPr lang="en-US" dirty="0"/>
              <a:t>、「新世界より」第2楽章のフレーズを対象に、表の3つの演奏表現を適用しました。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ltLang="ja-JP" b="0" i="0" dirty="0">
                <a:solidFill>
                  <a:srgbClr val="D4D4D4"/>
                </a:solidFill>
                <a:effectLst/>
                <a:latin typeface="Inter"/>
              </a:rPr>
              <a:t>『Maestoso』</a:t>
            </a:r>
            <a:r>
              <a:rPr lang="ja-JP" altLang="en-US" b="0" i="0" dirty="0">
                <a:solidFill>
                  <a:srgbClr val="D4D4D4"/>
                </a:solidFill>
                <a:effectLst/>
                <a:latin typeface="Inter"/>
              </a:rPr>
              <a:t>では強弱の大きな山と時間の溜めが、</a:t>
            </a:r>
            <a:r>
              <a:rPr lang="en-US" altLang="ja-JP" b="0" i="0" dirty="0">
                <a:solidFill>
                  <a:srgbClr val="D4D4D4"/>
                </a:solidFill>
                <a:effectLst/>
                <a:latin typeface="Inter"/>
              </a:rPr>
              <a:t>Con brio</a:t>
            </a:r>
            <a:r>
              <a:rPr lang="ja-JP" altLang="en-US" b="0" i="0" dirty="0">
                <a:solidFill>
                  <a:srgbClr val="D4D4D4"/>
                </a:solidFill>
                <a:effectLst/>
                <a:latin typeface="Inter"/>
              </a:rPr>
              <a:t>では逆に「走り」が明確に表れています。</a:t>
            </a:r>
            <a:endParaRPr lang="en-US" dirty="0"/>
          </a:p>
          <a:p>
            <a:r>
              <a:rPr lang="en-US" dirty="0" err="1"/>
              <a:t>このように、発想標語の持つニュアンスが</a:t>
            </a:r>
            <a:r>
              <a:rPr lang="en-US" dirty="0"/>
              <a:t>、</a:t>
            </a:r>
            <a:r>
              <a:rPr lang="ja-JP" altLang="en-US" dirty="0"/>
              <a:t>適切に</a:t>
            </a:r>
            <a:r>
              <a:rPr lang="en-US" dirty="0" err="1"/>
              <a:t>パラメータに反映されることを確認できます</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ja-JP" altLang="en-US" dirty="0"/>
              <a:t>また、</a:t>
            </a:r>
            <a:r>
              <a:rPr lang="en-US" dirty="0" err="1"/>
              <a:t>本システム</a:t>
            </a:r>
            <a:r>
              <a:rPr lang="ja-JP" altLang="en-US" dirty="0"/>
              <a:t>は</a:t>
            </a:r>
            <a:r>
              <a:rPr lang="en-US" dirty="0" err="1"/>
              <a:t>表現の重ねがけ</a:t>
            </a:r>
            <a:r>
              <a:rPr lang="ja-JP" altLang="en-US" dirty="0"/>
              <a:t>も</a:t>
            </a:r>
            <a:r>
              <a:rPr lang="en-US" dirty="0" err="1"/>
              <a:t>可能です</a:t>
            </a:r>
            <a:r>
              <a:rPr lang="en-US" dirty="0"/>
              <a:t>。</a:t>
            </a:r>
          </a:p>
          <a:p>
            <a:endParaRPr lang="en-US" dirty="0"/>
          </a:p>
          <a:p>
            <a:r>
              <a:rPr lang="en-US" dirty="0" err="1"/>
              <a:t>G線上のアリア</a:t>
            </a:r>
            <a:r>
              <a:rPr lang="ja-JP" altLang="en-US" dirty="0"/>
              <a:t>において、</a:t>
            </a:r>
            <a:r>
              <a:rPr lang="en-US" dirty="0" err="1"/>
              <a:t>まずフレーズ全体に「Dolce」という穏やかな表現を適用しました</a:t>
            </a:r>
            <a:r>
              <a:rPr lang="en-US" dirty="0"/>
              <a:t>。</a:t>
            </a:r>
          </a:p>
          <a:p>
            <a:r>
              <a:rPr lang="ja-JP" altLang="en-US" dirty="0"/>
              <a:t>その上で、歌うようにを表す</a:t>
            </a:r>
            <a:r>
              <a:rPr lang="en-US" dirty="0"/>
              <a:t>「</a:t>
            </a:r>
            <a:r>
              <a:rPr lang="en-US" dirty="0" err="1"/>
              <a:t>Cantabile」や</a:t>
            </a:r>
            <a:r>
              <a:rPr lang="ja-JP" altLang="en-US" dirty="0"/>
              <a:t>情熱的にを表す</a:t>
            </a:r>
            <a:r>
              <a:rPr lang="en-US" dirty="0"/>
              <a:t>「Appassionato」</a:t>
            </a:r>
            <a:r>
              <a:rPr lang="ja-JP" altLang="en-US" dirty="0"/>
              <a:t>を</a:t>
            </a:r>
            <a:r>
              <a:rPr lang="en-US" dirty="0" err="1"/>
              <a:t>重ね</a:t>
            </a:r>
            <a:r>
              <a:rPr lang="ja-JP" altLang="en-US" dirty="0"/>
              <a:t>て加工しました</a:t>
            </a:r>
            <a:r>
              <a:rPr lang="en-US" dirty="0"/>
              <a:t>。</a:t>
            </a:r>
          </a:p>
          <a:p>
            <a:endParaRPr lang="en-US" dirty="0"/>
          </a:p>
          <a:p>
            <a:r>
              <a:rPr lang="ja-JP" altLang="en-US" dirty="0"/>
              <a:t>結果として、</a:t>
            </a:r>
            <a:r>
              <a:rPr lang="en-US" dirty="0" err="1"/>
              <a:t>ベースの表現の上に、局所的な盛り上がりが形成され</a:t>
            </a:r>
            <a:r>
              <a:rPr lang="ja-JP" altLang="en-US" dirty="0"/>
              <a:t>、単一の指示では作れない、多層的で物語性のある演奏をデザインできました。</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本システムには、ユーザーの解釈を支援するため</a:t>
            </a:r>
            <a:r>
              <a:rPr lang="en-US" dirty="0"/>
              <a:t>、</a:t>
            </a:r>
            <a:r>
              <a:rPr lang="ja-JP" altLang="en-US" dirty="0"/>
              <a:t>頂点の自動推定機能</a:t>
            </a:r>
            <a:r>
              <a:rPr lang="en-US" dirty="0" err="1"/>
              <a:t>も実装しました</a:t>
            </a:r>
            <a:r>
              <a:rPr lang="ja-JP" altLang="en-US" dirty="0"/>
              <a:t>が、課題もありました。</a:t>
            </a:r>
            <a:endParaRPr lang="en-US" altLang="ja-JP" dirty="0"/>
          </a:p>
          <a:p>
            <a:endParaRPr lang="en-US" dirty="0"/>
          </a:p>
          <a:p>
            <a:r>
              <a:rPr lang="en-US" dirty="0" err="1"/>
              <a:t>現在のルールは単旋律の情報</a:t>
            </a:r>
            <a:r>
              <a:rPr lang="ja-JP" altLang="en-US" dirty="0"/>
              <a:t>に基づいているため</a:t>
            </a:r>
            <a:r>
              <a:rPr lang="en-US" dirty="0"/>
              <a:t>、右のように、旋律の動きが重要な部分では妥当な頂点を推定できましたが、和声的な緊張が重要な部分では解釈が異なる場合もありました。</a:t>
            </a:r>
          </a:p>
          <a:p>
            <a:endParaRPr lang="en-US" dirty="0"/>
          </a:p>
          <a:p>
            <a:r>
              <a:rPr lang="en-US" dirty="0" err="1"/>
              <a:t>本システムでは、あくまで候補を提示し、最終的な頂点の決定はユーザーに委ねるUI設計と</a:t>
            </a:r>
            <a:r>
              <a:rPr lang="ja-JP" altLang="en-US" dirty="0"/>
              <a:t>することで、</a:t>
            </a:r>
            <a:r>
              <a:rPr lang="en-US" dirty="0" err="1"/>
              <a:t>演奏者の主体的な解釈を尊重しています</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まとめです</a:t>
            </a:r>
            <a:r>
              <a:rPr lang="en-US" dirty="0"/>
              <a:t>。</a:t>
            </a:r>
          </a:p>
          <a:p>
            <a:endParaRPr lang="en-US" dirty="0"/>
          </a:p>
          <a:p>
            <a:r>
              <a:rPr lang="en-US" dirty="0" err="1"/>
              <a:t>本研究では、五線譜上で直感的に演奏表現をデザインできるシステムを構築しました</a:t>
            </a:r>
            <a:r>
              <a:rPr lang="en-US" dirty="0"/>
              <a:t>。</a:t>
            </a:r>
          </a:p>
          <a:p>
            <a:r>
              <a:rPr lang="en-US" dirty="0" err="1"/>
              <a:t>特に、MuxicXMLとMIDI</a:t>
            </a:r>
            <a:r>
              <a:rPr lang="ja-JP" altLang="en-US" dirty="0"/>
              <a:t>の同期処理を実装し</a:t>
            </a:r>
            <a:r>
              <a:rPr lang="en-US" dirty="0"/>
              <a:t>、Expression</a:t>
            </a:r>
            <a:r>
              <a:rPr lang="ja-JP" altLang="en-US" dirty="0"/>
              <a:t>と発音時刻の制御によって、管楽器奏者向けの豊かな表現生成を実現しました。</a:t>
            </a:r>
            <a:endParaRPr lang="en-US" dirty="0"/>
          </a:p>
          <a:p>
            <a:endParaRPr lang="en-US" dirty="0"/>
          </a:p>
          <a:p>
            <a:r>
              <a:rPr lang="en-US" dirty="0" err="1"/>
              <a:t>今後の課題としては、和声情報を活用した頂点推定機能の高度化や、繰り返し記号といったより複雑な楽譜への対応が挙げられます</a:t>
            </a:r>
            <a:r>
              <a:rPr lang="en-US" dirty="0"/>
              <a:t>。</a:t>
            </a:r>
          </a:p>
          <a:p>
            <a:r>
              <a:rPr lang="ja-JP" altLang="en-US" dirty="0"/>
              <a:t>また、</a:t>
            </a:r>
            <a:r>
              <a:rPr lang="en-US" dirty="0" err="1"/>
              <a:t>アンサンブル演奏のデザインにも応用していきたいと考えています</a:t>
            </a:r>
            <a:r>
              <a:rPr lang="en-US" dirty="0"/>
              <a:t>。</a:t>
            </a:r>
          </a:p>
          <a:p>
            <a:endParaRPr lang="en-US" dirty="0"/>
          </a:p>
          <a:p>
            <a:r>
              <a:rPr lang="en-US" dirty="0" err="1"/>
              <a:t>以上で発表を終わります。ありがとうございました</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jpeg"/><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図 29">
            <a:extLst>
              <a:ext uri="{FF2B5EF4-FFF2-40B4-BE49-F238E27FC236}">
                <a16:creationId xmlns:a16="http://schemas.microsoft.com/office/drawing/2014/main" id="{7E19DC96-0CD9-15A9-4DF0-3119C20838A9}"/>
              </a:ext>
            </a:extLst>
          </p:cNvPr>
          <p:cNvPicPr>
            <a:picLocks noChangeAspect="1"/>
          </p:cNvPicPr>
          <p:nvPr/>
        </p:nvPicPr>
        <p:blipFill rotWithShape="1">
          <a:blip r:embed="rId3"/>
          <a:srcRect l="1656" t="22155" r="1790" b="16683"/>
          <a:stretch/>
        </p:blipFill>
        <p:spPr>
          <a:xfrm>
            <a:off x="-292689" y="-269544"/>
            <a:ext cx="18656889" cy="10840907"/>
          </a:xfrm>
          <a:prstGeom prst="rect">
            <a:avLst/>
          </a:prstGeom>
        </p:spPr>
      </p:pic>
      <p:sp>
        <p:nvSpPr>
          <p:cNvPr id="15" name="TextBox 15"/>
          <p:cNvSpPr txBox="1"/>
          <p:nvPr/>
        </p:nvSpPr>
        <p:spPr>
          <a:xfrm>
            <a:off x="1511970" y="4034656"/>
            <a:ext cx="15290822" cy="1498295"/>
          </a:xfrm>
          <a:prstGeom prst="rect">
            <a:avLst/>
          </a:prstGeom>
        </p:spPr>
        <p:txBody>
          <a:bodyPr lIns="0" tIns="0" rIns="0" bIns="0" rtlCol="0" anchor="t">
            <a:spAutoFit/>
          </a:bodyPr>
          <a:lstStyle/>
          <a:p>
            <a:pPr algn="ctr">
              <a:lnSpc>
                <a:spcPts val="6020"/>
              </a:lnSpc>
              <a:spcBef>
                <a:spcPct val="0"/>
              </a:spcBef>
            </a:pPr>
            <a:r>
              <a:rPr lang="en-US" sz="4300" dirty="0" err="1">
                <a:solidFill>
                  <a:srgbClr val="000000"/>
                </a:solidFill>
                <a:latin typeface="Rounded M+"/>
                <a:ea typeface="Rounded M+"/>
                <a:cs typeface="Rounded M+"/>
                <a:sym typeface="Rounded M+"/>
              </a:rPr>
              <a:t>楽譜上のフレーズに基づく</a:t>
            </a:r>
            <a:endParaRPr lang="en-US" sz="4300" dirty="0">
              <a:solidFill>
                <a:srgbClr val="000000"/>
              </a:solidFill>
              <a:latin typeface="Rounded M+"/>
              <a:ea typeface="Rounded M+"/>
              <a:cs typeface="Rounded M+"/>
              <a:sym typeface="Rounded M+"/>
            </a:endParaRPr>
          </a:p>
          <a:p>
            <a:pPr algn="ctr">
              <a:lnSpc>
                <a:spcPts val="6020"/>
              </a:lnSpc>
              <a:spcBef>
                <a:spcPct val="0"/>
              </a:spcBef>
            </a:pPr>
            <a:r>
              <a:rPr lang="en-US" sz="4300" dirty="0" err="1">
                <a:solidFill>
                  <a:srgbClr val="000000"/>
                </a:solidFill>
                <a:latin typeface="Rounded M+"/>
                <a:ea typeface="Rounded M+"/>
                <a:cs typeface="Rounded M+"/>
                <a:sym typeface="Rounded M+"/>
              </a:rPr>
              <a:t>演奏表情のパラメータ制御システム</a:t>
            </a:r>
            <a:endParaRPr lang="en-US" sz="4300" dirty="0">
              <a:solidFill>
                <a:srgbClr val="000000"/>
              </a:solidFill>
              <a:latin typeface="Rounded M+"/>
              <a:ea typeface="Rounded M+"/>
              <a:cs typeface="Rounded M+"/>
              <a:sym typeface="Rounded M+"/>
            </a:endParaRPr>
          </a:p>
        </p:txBody>
      </p:sp>
      <p:sp>
        <p:nvSpPr>
          <p:cNvPr id="16" name="TextBox 16"/>
          <p:cNvSpPr txBox="1"/>
          <p:nvPr/>
        </p:nvSpPr>
        <p:spPr>
          <a:xfrm>
            <a:off x="12258675" y="7159604"/>
            <a:ext cx="5114925" cy="1244600"/>
          </a:xfrm>
          <a:prstGeom prst="rect">
            <a:avLst/>
          </a:prstGeom>
        </p:spPr>
        <p:txBody>
          <a:bodyPr wrap="square" lIns="0" tIns="0" rIns="0" bIns="0" rtlCol="0" anchor="t">
            <a:spAutoFit/>
          </a:bodyPr>
          <a:lstStyle/>
          <a:p>
            <a:pPr algn="l">
              <a:lnSpc>
                <a:spcPts val="4900"/>
              </a:lnSpc>
            </a:pPr>
            <a:r>
              <a:rPr lang="en-US" sz="3500" dirty="0">
                <a:solidFill>
                  <a:srgbClr val="000000"/>
                </a:solidFill>
                <a:latin typeface="Rounded M+"/>
                <a:ea typeface="Rounded M+"/>
                <a:cs typeface="Rounded M+"/>
                <a:sym typeface="Rounded M+"/>
              </a:rPr>
              <a:t>橋田ゼミ 4年</a:t>
            </a:r>
          </a:p>
          <a:p>
            <a:pPr algn="l">
              <a:lnSpc>
                <a:spcPts val="4900"/>
              </a:lnSpc>
              <a:spcBef>
                <a:spcPct val="0"/>
              </a:spcBef>
            </a:pPr>
            <a:r>
              <a:rPr lang="en-US" sz="3500" dirty="0">
                <a:solidFill>
                  <a:srgbClr val="000000"/>
                </a:solidFill>
                <a:latin typeface="Rounded M+"/>
                <a:ea typeface="Rounded M+"/>
                <a:cs typeface="Rounded M+"/>
                <a:sym typeface="Rounded M+"/>
              </a:rPr>
              <a:t>32245043 白波瀬 桃花</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図 20">
            <a:extLst>
              <a:ext uri="{FF2B5EF4-FFF2-40B4-BE49-F238E27FC236}">
                <a16:creationId xmlns:a16="http://schemas.microsoft.com/office/drawing/2014/main" id="{FD13E1AA-5C72-0751-51E4-C64A764859EA}"/>
              </a:ext>
            </a:extLst>
          </p:cNvPr>
          <p:cNvPicPr>
            <a:picLocks noChangeAspect="1"/>
          </p:cNvPicPr>
          <p:nvPr/>
        </p:nvPicPr>
        <p:blipFill rotWithShape="1">
          <a:blip r:embed="rId3"/>
          <a:srcRect l="1656" t="22155" r="1790" b="16683"/>
          <a:stretch/>
        </p:blipFill>
        <p:spPr>
          <a:xfrm>
            <a:off x="-292689" y="-269544"/>
            <a:ext cx="18656889" cy="10840907"/>
          </a:xfrm>
          <a:prstGeom prst="rect">
            <a:avLst/>
          </a:prstGeom>
        </p:spPr>
      </p:pic>
      <p:sp>
        <p:nvSpPr>
          <p:cNvPr id="15" name="Freeform 15"/>
          <p:cNvSpPr/>
          <p:nvPr/>
        </p:nvSpPr>
        <p:spPr>
          <a:xfrm>
            <a:off x="12496800" y="3036102"/>
            <a:ext cx="5010183" cy="2907549"/>
          </a:xfrm>
          <a:custGeom>
            <a:avLst/>
            <a:gdLst/>
            <a:ahLst/>
            <a:cxnLst/>
            <a:rect l="l" t="t" r="r" b="b"/>
            <a:pathLst>
              <a:path w="5010183" h="2907549">
                <a:moveTo>
                  <a:pt x="0" y="0"/>
                </a:moveTo>
                <a:lnTo>
                  <a:pt x="5010183" y="0"/>
                </a:lnTo>
                <a:lnTo>
                  <a:pt x="5010183" y="2907549"/>
                </a:lnTo>
                <a:lnTo>
                  <a:pt x="0" y="2907549"/>
                </a:lnTo>
                <a:lnTo>
                  <a:pt x="0" y="0"/>
                </a:lnTo>
                <a:close/>
              </a:path>
            </a:pathLst>
          </a:custGeom>
          <a:blipFill>
            <a:blip r:embed="rId4"/>
            <a:stretch>
              <a:fillRect/>
            </a:stretch>
          </a:blipFill>
        </p:spPr>
        <p:txBody>
          <a:bodyPr/>
          <a:lstStyle/>
          <a:p>
            <a:endParaRPr lang="ja-JP" altLang="en-US" dirty="0"/>
          </a:p>
        </p:txBody>
      </p:sp>
      <p:sp>
        <p:nvSpPr>
          <p:cNvPr id="16" name="TextBox 16"/>
          <p:cNvSpPr txBox="1"/>
          <p:nvPr/>
        </p:nvSpPr>
        <p:spPr>
          <a:xfrm>
            <a:off x="1292961" y="2525081"/>
            <a:ext cx="14478000" cy="6410325"/>
          </a:xfrm>
          <a:prstGeom prst="rect">
            <a:avLst/>
          </a:prstGeom>
        </p:spPr>
        <p:txBody>
          <a:bodyPr lIns="0" tIns="0" rIns="0" bIns="0" rtlCol="0" anchor="t">
            <a:spAutoFit/>
          </a:bodyPr>
          <a:lstStyle/>
          <a:p>
            <a:pPr algn="l">
              <a:lnSpc>
                <a:spcPts val="4200"/>
              </a:lnSpc>
            </a:pPr>
            <a:r>
              <a:rPr lang="en-US" sz="3000" dirty="0">
                <a:solidFill>
                  <a:srgbClr val="000000"/>
                </a:solidFill>
                <a:latin typeface="Rounded M+"/>
                <a:ea typeface="Rounded M+"/>
                <a:cs typeface="Rounded M+"/>
                <a:sym typeface="Rounded M+"/>
              </a:rPr>
              <a:t>演奏において、楽譜の正確な再現だけでなく、演奏者自身の解釈を加えることが必要</a:t>
            </a:r>
          </a:p>
          <a:p>
            <a:pPr algn="l">
              <a:lnSpc>
                <a:spcPts val="4200"/>
              </a:lnSpc>
            </a:pPr>
            <a:r>
              <a:rPr lang="ja-JP" altLang="en-US" sz="3000" dirty="0">
                <a:solidFill>
                  <a:srgbClr val="FF5050"/>
                </a:solidFill>
                <a:latin typeface="Rounded M+"/>
                <a:ea typeface="Rounded M+"/>
                <a:cs typeface="Rounded M+"/>
                <a:sym typeface="Rounded M+"/>
              </a:rPr>
              <a:t>⇒</a:t>
            </a:r>
            <a:r>
              <a:rPr lang="en-US" sz="3000" dirty="0">
                <a:solidFill>
                  <a:srgbClr val="FF5050"/>
                </a:solidFill>
                <a:latin typeface="Rounded M+"/>
                <a:ea typeface="Rounded M+"/>
                <a:cs typeface="Rounded M+"/>
                <a:sym typeface="Rounded M+"/>
              </a:rPr>
              <a:t> 既存のツールには課題が存在</a:t>
            </a:r>
          </a:p>
          <a:p>
            <a:pPr algn="l">
              <a:lnSpc>
                <a:spcPts val="4200"/>
              </a:lnSpc>
            </a:pPr>
            <a:endParaRPr lang="en-US" sz="3000" dirty="0">
              <a:solidFill>
                <a:srgbClr val="FF914D"/>
              </a:solidFill>
              <a:latin typeface="Rounded M+"/>
              <a:ea typeface="Rounded M+"/>
              <a:cs typeface="Rounded M+"/>
              <a:sym typeface="Rounded M+"/>
            </a:endParaRPr>
          </a:p>
          <a:p>
            <a:pPr algn="l">
              <a:lnSpc>
                <a:spcPts val="4200"/>
              </a:lnSpc>
            </a:pPr>
            <a:r>
              <a:rPr lang="en-US" sz="3000" dirty="0">
                <a:solidFill>
                  <a:srgbClr val="000000"/>
                </a:solidFill>
                <a:latin typeface="Rounded M+"/>
                <a:ea typeface="Rounded M+"/>
                <a:cs typeface="Rounded M+"/>
                <a:sym typeface="Rounded M+"/>
              </a:rPr>
              <a:t>【DAW：音声編集ソフトウェア】</a:t>
            </a:r>
          </a:p>
          <a:p>
            <a:pPr algn="l">
              <a:lnSpc>
                <a:spcPts val="4200"/>
              </a:lnSpc>
            </a:pPr>
            <a:r>
              <a:rPr lang="en-US" sz="3000" dirty="0">
                <a:solidFill>
                  <a:srgbClr val="000000"/>
                </a:solidFill>
                <a:latin typeface="Rounded M+"/>
                <a:ea typeface="Rounded M+"/>
                <a:cs typeface="Rounded M+"/>
                <a:sym typeface="Rounded M+"/>
              </a:rPr>
              <a:t>・ピアノロールでの操作</a:t>
            </a:r>
          </a:p>
          <a:p>
            <a:pPr algn="l">
              <a:lnSpc>
                <a:spcPts val="4200"/>
              </a:lnSpc>
            </a:pPr>
            <a:r>
              <a:rPr lang="en-US" sz="3000" dirty="0">
                <a:solidFill>
                  <a:srgbClr val="000000"/>
                </a:solidFill>
                <a:latin typeface="Rounded M+"/>
                <a:ea typeface="Rounded M+"/>
                <a:cs typeface="Rounded M+"/>
                <a:sym typeface="Rounded M+"/>
              </a:rPr>
              <a:t>・音響編集は柔軟だが、五線譜に慣れた演奏者には直感的でない</a:t>
            </a:r>
          </a:p>
          <a:p>
            <a:pPr algn="l">
              <a:lnSpc>
                <a:spcPts val="4200"/>
              </a:lnSpc>
            </a:pPr>
            <a:endParaRPr lang="en-US" sz="3000" dirty="0">
              <a:solidFill>
                <a:srgbClr val="000000"/>
              </a:solidFill>
              <a:latin typeface="Rounded M+"/>
              <a:ea typeface="Rounded M+"/>
              <a:cs typeface="Rounded M+"/>
              <a:sym typeface="Rounded M+"/>
            </a:endParaRPr>
          </a:p>
          <a:p>
            <a:pPr algn="l">
              <a:lnSpc>
                <a:spcPts val="4200"/>
              </a:lnSpc>
            </a:pPr>
            <a:r>
              <a:rPr lang="en-US" sz="3000" dirty="0">
                <a:solidFill>
                  <a:srgbClr val="000000"/>
                </a:solidFill>
                <a:latin typeface="Rounded M+"/>
                <a:ea typeface="Rounded M+"/>
                <a:cs typeface="Rounded M+"/>
                <a:sym typeface="Rounded M+"/>
              </a:rPr>
              <a:t>【楽譜ソフトウェア】</a:t>
            </a:r>
          </a:p>
          <a:p>
            <a:pPr algn="l">
              <a:lnSpc>
                <a:spcPts val="4200"/>
              </a:lnSpc>
            </a:pPr>
            <a:r>
              <a:rPr lang="en-US" sz="3000" dirty="0">
                <a:solidFill>
                  <a:srgbClr val="000000"/>
                </a:solidFill>
                <a:latin typeface="Rounded M+"/>
                <a:ea typeface="Rounded M+"/>
                <a:cs typeface="Rounded M+"/>
                <a:sym typeface="Rounded M+"/>
              </a:rPr>
              <a:t>・五線譜上での操作だが、表現の比較・検討に特化していない</a:t>
            </a:r>
          </a:p>
          <a:p>
            <a:pPr algn="l">
              <a:lnSpc>
                <a:spcPts val="4200"/>
              </a:lnSpc>
            </a:pPr>
            <a:endParaRPr lang="en-US" sz="3000" dirty="0">
              <a:solidFill>
                <a:srgbClr val="000000"/>
              </a:solidFill>
              <a:latin typeface="Rounded M+"/>
              <a:ea typeface="Rounded M+"/>
              <a:cs typeface="Rounded M+"/>
              <a:sym typeface="Rounded M+"/>
            </a:endParaRPr>
          </a:p>
          <a:p>
            <a:pPr algn="l">
              <a:lnSpc>
                <a:spcPts val="4200"/>
              </a:lnSpc>
            </a:pPr>
            <a:r>
              <a:rPr lang="ja-JP" altLang="en-US" sz="3000" b="1" dirty="0">
                <a:solidFill>
                  <a:srgbClr val="000000"/>
                </a:solidFill>
                <a:latin typeface="Rounded M+"/>
                <a:ea typeface="Rounded M+"/>
                <a:cs typeface="Rounded M+"/>
                <a:sym typeface="Rounded M+"/>
              </a:rPr>
              <a:t>⇒</a:t>
            </a:r>
            <a:r>
              <a:rPr lang="en-US" sz="3000" b="1" dirty="0" err="1">
                <a:solidFill>
                  <a:srgbClr val="000000"/>
                </a:solidFill>
                <a:latin typeface="Rounded M+ Bold"/>
                <a:ea typeface="Rounded M+ Bold"/>
                <a:cs typeface="Rounded M+ Bold"/>
                <a:sym typeface="Rounded M+ Bold"/>
              </a:rPr>
              <a:t>五線譜の視認性</a:t>
            </a:r>
            <a:r>
              <a:rPr lang="en-US" sz="3000" dirty="0" err="1">
                <a:solidFill>
                  <a:srgbClr val="000000"/>
                </a:solidFill>
                <a:latin typeface="Rounded M+"/>
                <a:ea typeface="Rounded M+"/>
                <a:cs typeface="Rounded M+"/>
                <a:sym typeface="Rounded M+"/>
              </a:rPr>
              <a:t>と</a:t>
            </a:r>
            <a:r>
              <a:rPr lang="en-US" sz="3000" b="1" dirty="0" err="1">
                <a:solidFill>
                  <a:srgbClr val="000000"/>
                </a:solidFill>
                <a:latin typeface="Rounded M+ Bold"/>
                <a:ea typeface="Rounded M+ Bold"/>
                <a:cs typeface="Rounded M+ Bold"/>
                <a:sym typeface="Rounded M+ Bold"/>
              </a:rPr>
              <a:t>DAWの編集能力</a:t>
            </a:r>
            <a:r>
              <a:rPr lang="en-US" sz="3000" dirty="0" err="1">
                <a:solidFill>
                  <a:srgbClr val="000000"/>
                </a:solidFill>
                <a:latin typeface="Rounded M+"/>
                <a:ea typeface="Rounded M+"/>
                <a:cs typeface="Rounded M+"/>
                <a:sym typeface="Rounded M+"/>
              </a:rPr>
              <a:t>を</a:t>
            </a:r>
            <a:r>
              <a:rPr lang="ja-JP" altLang="en-US" sz="3000" dirty="0">
                <a:solidFill>
                  <a:srgbClr val="000000"/>
                </a:solidFill>
                <a:latin typeface="Rounded M+"/>
                <a:ea typeface="Rounded M+"/>
                <a:cs typeface="Rounded M+"/>
                <a:sym typeface="Rounded M+"/>
              </a:rPr>
              <a:t>統合し</a:t>
            </a:r>
            <a:r>
              <a:rPr lang="en-US" sz="3000" dirty="0">
                <a:solidFill>
                  <a:srgbClr val="000000"/>
                </a:solidFill>
                <a:latin typeface="Rounded M+"/>
                <a:ea typeface="Rounded M+"/>
                <a:cs typeface="Rounded M+"/>
                <a:sym typeface="Rounded M+"/>
              </a:rPr>
              <a:t>、</a:t>
            </a:r>
          </a:p>
          <a:p>
            <a:pPr algn="l">
              <a:lnSpc>
                <a:spcPts val="4200"/>
              </a:lnSpc>
              <a:spcBef>
                <a:spcPct val="0"/>
              </a:spcBef>
            </a:pPr>
            <a:r>
              <a:rPr lang="en-US" sz="3000" dirty="0">
                <a:solidFill>
                  <a:srgbClr val="000000"/>
                </a:solidFill>
                <a:latin typeface="Rounded M+"/>
                <a:ea typeface="Rounded M+"/>
                <a:cs typeface="Rounded M+"/>
                <a:sym typeface="Rounded M+"/>
              </a:rPr>
              <a:t>　</a:t>
            </a:r>
            <a:r>
              <a:rPr lang="en-US" sz="3000" dirty="0">
                <a:solidFill>
                  <a:srgbClr val="FF5050"/>
                </a:solidFill>
                <a:latin typeface="Rounded M+"/>
                <a:ea typeface="Rounded M+"/>
                <a:cs typeface="Rounded M+"/>
                <a:sym typeface="Rounded M+"/>
              </a:rPr>
              <a:t>五線譜上で直感的に演奏表現を探求できるシステムを構築</a:t>
            </a:r>
          </a:p>
        </p:txBody>
      </p:sp>
      <p:sp>
        <p:nvSpPr>
          <p:cNvPr id="17" name="Freeform 17"/>
          <p:cNvSpPr/>
          <p:nvPr/>
        </p:nvSpPr>
        <p:spPr>
          <a:xfrm>
            <a:off x="12579772" y="6640479"/>
            <a:ext cx="5010183" cy="2617821"/>
          </a:xfrm>
          <a:custGeom>
            <a:avLst/>
            <a:gdLst/>
            <a:ahLst/>
            <a:cxnLst/>
            <a:rect l="l" t="t" r="r" b="b"/>
            <a:pathLst>
              <a:path w="5010183" h="2617821">
                <a:moveTo>
                  <a:pt x="0" y="0"/>
                </a:moveTo>
                <a:lnTo>
                  <a:pt x="5010183" y="0"/>
                </a:lnTo>
                <a:lnTo>
                  <a:pt x="5010183" y="2617821"/>
                </a:lnTo>
                <a:lnTo>
                  <a:pt x="0" y="2617821"/>
                </a:lnTo>
                <a:lnTo>
                  <a:pt x="0" y="0"/>
                </a:lnTo>
                <a:close/>
              </a:path>
            </a:pathLst>
          </a:custGeom>
          <a:blipFill>
            <a:blip r:embed="rId5"/>
            <a:stretch>
              <a:fillRect/>
            </a:stretch>
          </a:blipFill>
        </p:spPr>
      </p:sp>
      <p:sp>
        <p:nvSpPr>
          <p:cNvPr id="18" name="TextBox 18"/>
          <p:cNvSpPr txBox="1"/>
          <p:nvPr/>
        </p:nvSpPr>
        <p:spPr>
          <a:xfrm>
            <a:off x="1292961" y="1142249"/>
            <a:ext cx="3048000" cy="1028700"/>
          </a:xfrm>
          <a:prstGeom prst="rect">
            <a:avLst/>
          </a:prstGeom>
        </p:spPr>
        <p:txBody>
          <a:bodyPr lIns="0" tIns="0" rIns="0" bIns="0" rtlCol="0" anchor="t">
            <a:spAutoFit/>
          </a:bodyPr>
          <a:lstStyle/>
          <a:p>
            <a:pPr algn="ctr">
              <a:lnSpc>
                <a:spcPts val="8400"/>
              </a:lnSpc>
              <a:spcBef>
                <a:spcPct val="0"/>
              </a:spcBef>
            </a:pPr>
            <a:r>
              <a:rPr lang="en-US" sz="6000">
                <a:solidFill>
                  <a:srgbClr val="000000"/>
                </a:solidFill>
                <a:latin typeface="Noto Sans JP"/>
                <a:ea typeface="Noto Sans JP"/>
                <a:cs typeface="Noto Sans JP"/>
                <a:sym typeface="Noto Sans JP"/>
              </a:rPr>
              <a:t>研究背景</a:t>
            </a:r>
          </a:p>
        </p:txBody>
      </p:sp>
      <p:sp>
        <p:nvSpPr>
          <p:cNvPr id="19" name="TextBox 19"/>
          <p:cNvSpPr txBox="1"/>
          <p:nvPr/>
        </p:nvSpPr>
        <p:spPr>
          <a:xfrm>
            <a:off x="13766560" y="5914018"/>
            <a:ext cx="3120926" cy="35877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Rounded M+"/>
                <a:ea typeface="Rounded M+"/>
                <a:cs typeface="Rounded M+"/>
                <a:sym typeface="Rounded M+"/>
              </a:rPr>
              <a:t>▲DAWの画面(例：Cubase)</a:t>
            </a:r>
          </a:p>
        </p:txBody>
      </p:sp>
      <p:sp>
        <p:nvSpPr>
          <p:cNvPr id="20" name="TextBox 20"/>
          <p:cNvSpPr txBox="1"/>
          <p:nvPr/>
        </p:nvSpPr>
        <p:spPr>
          <a:xfrm>
            <a:off x="12821932" y="9302189"/>
            <a:ext cx="4525863" cy="35877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Rounded M+"/>
                <a:ea typeface="Rounded M+"/>
                <a:cs typeface="Rounded M+"/>
                <a:sym typeface="Rounded M+"/>
              </a:rPr>
              <a:t>▲楽譜ソフトウェアの画面(例：Dorico)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図 18">
            <a:extLst>
              <a:ext uri="{FF2B5EF4-FFF2-40B4-BE49-F238E27FC236}">
                <a16:creationId xmlns:a16="http://schemas.microsoft.com/office/drawing/2014/main" id="{A4CE2479-611B-D2AC-A76E-8D43E097BA2A}"/>
              </a:ext>
            </a:extLst>
          </p:cNvPr>
          <p:cNvPicPr>
            <a:picLocks noChangeAspect="1"/>
          </p:cNvPicPr>
          <p:nvPr/>
        </p:nvPicPr>
        <p:blipFill rotWithShape="1">
          <a:blip r:embed="rId3"/>
          <a:srcRect l="1656" t="22155" r="1790" b="16683"/>
          <a:stretch/>
        </p:blipFill>
        <p:spPr>
          <a:xfrm>
            <a:off x="-292689" y="-269544"/>
            <a:ext cx="18656889" cy="10840907"/>
          </a:xfrm>
          <a:prstGeom prst="rect">
            <a:avLst/>
          </a:prstGeom>
        </p:spPr>
      </p:pic>
      <p:sp>
        <p:nvSpPr>
          <p:cNvPr id="15" name="Freeform 15"/>
          <p:cNvSpPr/>
          <p:nvPr/>
        </p:nvSpPr>
        <p:spPr>
          <a:xfrm>
            <a:off x="10995340" y="3336951"/>
            <a:ext cx="6670499" cy="6512728"/>
          </a:xfrm>
          <a:custGeom>
            <a:avLst/>
            <a:gdLst/>
            <a:ahLst/>
            <a:cxnLst/>
            <a:rect l="l" t="t" r="r" b="b"/>
            <a:pathLst>
              <a:path w="6670499" h="6512728">
                <a:moveTo>
                  <a:pt x="0" y="0"/>
                </a:moveTo>
                <a:lnTo>
                  <a:pt x="6670499" y="0"/>
                </a:lnTo>
                <a:lnTo>
                  <a:pt x="6670499" y="6512728"/>
                </a:lnTo>
                <a:lnTo>
                  <a:pt x="0" y="6512728"/>
                </a:lnTo>
                <a:lnTo>
                  <a:pt x="0" y="0"/>
                </a:lnTo>
                <a:close/>
              </a:path>
            </a:pathLst>
          </a:custGeom>
          <a:blipFill>
            <a:blip r:embed="rId4"/>
            <a:stretch>
              <a:fillRect b="-23773"/>
            </a:stretch>
          </a:blipFill>
        </p:spPr>
      </p:sp>
      <p:sp>
        <p:nvSpPr>
          <p:cNvPr id="16" name="TextBox 16"/>
          <p:cNvSpPr txBox="1"/>
          <p:nvPr/>
        </p:nvSpPr>
        <p:spPr>
          <a:xfrm>
            <a:off x="1292961" y="2525081"/>
            <a:ext cx="11430000" cy="5876925"/>
          </a:xfrm>
          <a:prstGeom prst="rect">
            <a:avLst/>
          </a:prstGeom>
        </p:spPr>
        <p:txBody>
          <a:bodyPr lIns="0" tIns="0" rIns="0" bIns="0" rtlCol="0" anchor="t">
            <a:spAutoFit/>
          </a:bodyPr>
          <a:lstStyle/>
          <a:p>
            <a:pPr algn="l">
              <a:lnSpc>
                <a:spcPts val="4200"/>
              </a:lnSpc>
            </a:pPr>
            <a:r>
              <a:rPr lang="en-US" sz="3000" dirty="0" err="1">
                <a:solidFill>
                  <a:srgbClr val="000000"/>
                </a:solidFill>
                <a:latin typeface="Rounded M+"/>
                <a:ea typeface="Rounded M+"/>
                <a:cs typeface="Rounded M+"/>
                <a:sym typeface="Rounded M+"/>
              </a:rPr>
              <a:t>演奏者は楽譜をただ読むだけでなく、解釈を楽譜に書き込んでいる</a:t>
            </a:r>
            <a:endParaRPr lang="en-US" sz="3000" dirty="0">
              <a:solidFill>
                <a:srgbClr val="000000"/>
              </a:solidFill>
              <a:latin typeface="Rounded M+"/>
              <a:ea typeface="Rounded M+"/>
              <a:cs typeface="Rounded M+"/>
              <a:sym typeface="Rounded M+"/>
            </a:endParaRPr>
          </a:p>
          <a:p>
            <a:pPr algn="l">
              <a:lnSpc>
                <a:spcPts val="4200"/>
              </a:lnSpc>
            </a:pPr>
            <a:endParaRPr lang="en-US" sz="3000" dirty="0">
              <a:solidFill>
                <a:srgbClr val="000000"/>
              </a:solidFill>
              <a:latin typeface="Rounded M+"/>
              <a:ea typeface="Rounded M+"/>
              <a:cs typeface="Rounded M+"/>
              <a:sym typeface="Rounded M+"/>
            </a:endParaRPr>
          </a:p>
          <a:p>
            <a:pPr algn="l">
              <a:lnSpc>
                <a:spcPts val="4200"/>
              </a:lnSpc>
            </a:pPr>
            <a:r>
              <a:rPr lang="en-US" sz="3000" dirty="0">
                <a:solidFill>
                  <a:srgbClr val="000000"/>
                </a:solidFill>
                <a:latin typeface="Rounded M+"/>
                <a:ea typeface="Rounded M+"/>
                <a:cs typeface="Rounded M+"/>
                <a:sym typeface="Rounded M+"/>
              </a:rPr>
              <a:t>【</a:t>
            </a:r>
            <a:r>
              <a:rPr lang="en-US" sz="3000" dirty="0" err="1">
                <a:solidFill>
                  <a:srgbClr val="000000"/>
                </a:solidFill>
                <a:latin typeface="Rounded M+"/>
                <a:ea typeface="Rounded M+"/>
                <a:cs typeface="Rounded M+"/>
                <a:sym typeface="Rounded M+"/>
              </a:rPr>
              <a:t>具体的な書き込み</a:t>
            </a:r>
            <a:r>
              <a:rPr lang="en-US" sz="3000" dirty="0">
                <a:solidFill>
                  <a:srgbClr val="000000"/>
                </a:solidFill>
                <a:latin typeface="Rounded M+"/>
                <a:ea typeface="Rounded M+"/>
                <a:cs typeface="Rounded M+"/>
                <a:sym typeface="Rounded M+"/>
              </a:rPr>
              <a:t>(例)】</a:t>
            </a:r>
          </a:p>
          <a:p>
            <a:pPr algn="l">
              <a:lnSpc>
                <a:spcPts val="4200"/>
              </a:lnSpc>
            </a:pPr>
            <a:r>
              <a:rPr lang="en-US" sz="3000" dirty="0">
                <a:solidFill>
                  <a:srgbClr val="000000"/>
                </a:solidFill>
                <a:latin typeface="Rounded M+"/>
                <a:ea typeface="Rounded M+"/>
                <a:cs typeface="Rounded M+"/>
                <a:sym typeface="Rounded M+"/>
              </a:rPr>
              <a:t>・</a:t>
            </a:r>
            <a:r>
              <a:rPr lang="en-US" sz="3000" b="1" dirty="0" err="1">
                <a:solidFill>
                  <a:srgbClr val="5170FF"/>
                </a:solidFill>
                <a:latin typeface="Rounded M+ Bold"/>
                <a:ea typeface="Rounded M+ Bold"/>
                <a:cs typeface="Rounded M+ Bold"/>
                <a:sym typeface="Rounded M+ Bold"/>
              </a:rPr>
              <a:t>フレーズのまとまり</a:t>
            </a:r>
            <a:r>
              <a:rPr lang="en-US" sz="3000" dirty="0">
                <a:solidFill>
                  <a:srgbClr val="000000"/>
                </a:solidFill>
                <a:latin typeface="Rounded M+"/>
                <a:ea typeface="Rounded M+"/>
                <a:cs typeface="Rounded M+"/>
                <a:sym typeface="Rounded M+"/>
              </a:rPr>
              <a:t>(</a:t>
            </a:r>
            <a:r>
              <a:rPr lang="en-US" sz="3000" dirty="0" err="1">
                <a:solidFill>
                  <a:srgbClr val="000000"/>
                </a:solidFill>
                <a:latin typeface="Rounded M+"/>
                <a:ea typeface="Rounded M+"/>
                <a:cs typeface="Rounded M+"/>
                <a:sym typeface="Rounded M+"/>
              </a:rPr>
              <a:t>スラーのような線、丸など</a:t>
            </a:r>
            <a:r>
              <a:rPr lang="en-US" sz="3000" dirty="0">
                <a:solidFill>
                  <a:srgbClr val="000000"/>
                </a:solidFill>
                <a:latin typeface="Rounded M+"/>
                <a:ea typeface="Rounded M+"/>
                <a:cs typeface="Rounded M+"/>
                <a:sym typeface="Rounded M+"/>
              </a:rPr>
              <a:t>)</a:t>
            </a:r>
          </a:p>
          <a:p>
            <a:pPr algn="l">
              <a:lnSpc>
                <a:spcPts val="4200"/>
              </a:lnSpc>
            </a:pPr>
            <a:r>
              <a:rPr lang="en-US" sz="3000" dirty="0">
                <a:solidFill>
                  <a:srgbClr val="000000"/>
                </a:solidFill>
                <a:latin typeface="Rounded M+"/>
                <a:ea typeface="Rounded M+"/>
                <a:cs typeface="Rounded M+"/>
                <a:sym typeface="Rounded M+"/>
              </a:rPr>
              <a:t>　⇒</a:t>
            </a:r>
            <a:r>
              <a:rPr lang="en-US" sz="3000" dirty="0" err="1">
                <a:solidFill>
                  <a:srgbClr val="000000"/>
                </a:solidFill>
                <a:latin typeface="Rounded M+"/>
                <a:ea typeface="Rounded M+"/>
                <a:cs typeface="Rounded M+"/>
                <a:sym typeface="Rounded M+"/>
              </a:rPr>
              <a:t>どこまでを一息で演奏するか</a:t>
            </a:r>
            <a:endParaRPr lang="en-US" sz="3000" dirty="0">
              <a:solidFill>
                <a:srgbClr val="000000"/>
              </a:solidFill>
              <a:latin typeface="Rounded M+"/>
              <a:ea typeface="Rounded M+"/>
              <a:cs typeface="Rounded M+"/>
              <a:sym typeface="Rounded M+"/>
            </a:endParaRPr>
          </a:p>
          <a:p>
            <a:pPr algn="l">
              <a:lnSpc>
                <a:spcPts val="4200"/>
              </a:lnSpc>
            </a:pPr>
            <a:endParaRPr lang="en-US" sz="3000" dirty="0">
              <a:solidFill>
                <a:srgbClr val="000000"/>
              </a:solidFill>
              <a:latin typeface="Rounded M+"/>
              <a:ea typeface="Rounded M+"/>
              <a:cs typeface="Rounded M+"/>
              <a:sym typeface="Rounded M+"/>
            </a:endParaRPr>
          </a:p>
          <a:p>
            <a:pPr algn="l">
              <a:lnSpc>
                <a:spcPts val="4200"/>
              </a:lnSpc>
            </a:pPr>
            <a:r>
              <a:rPr lang="en-US" sz="3000" dirty="0">
                <a:solidFill>
                  <a:srgbClr val="000000"/>
                </a:solidFill>
                <a:latin typeface="Rounded M+"/>
                <a:ea typeface="Rounded M+"/>
                <a:cs typeface="Rounded M+"/>
                <a:sym typeface="Rounded M+"/>
              </a:rPr>
              <a:t>・</a:t>
            </a:r>
            <a:r>
              <a:rPr lang="en-US" sz="3000" b="1" dirty="0" err="1">
                <a:solidFill>
                  <a:srgbClr val="00BF63"/>
                </a:solidFill>
                <a:latin typeface="Rounded M+ Bold"/>
                <a:ea typeface="Rounded M+ Bold"/>
                <a:cs typeface="Rounded M+ Bold"/>
                <a:sym typeface="Rounded M+ Bold"/>
              </a:rPr>
              <a:t>強弱記号</a:t>
            </a:r>
            <a:r>
              <a:rPr lang="en-US" sz="3000" dirty="0">
                <a:solidFill>
                  <a:srgbClr val="000000"/>
                </a:solidFill>
                <a:latin typeface="Rounded M+"/>
                <a:ea typeface="Rounded M+"/>
                <a:cs typeface="Rounded M+"/>
                <a:sym typeface="Rounded M+"/>
              </a:rPr>
              <a:t>(＜,＞)</a:t>
            </a:r>
          </a:p>
          <a:p>
            <a:pPr algn="l">
              <a:lnSpc>
                <a:spcPts val="4200"/>
              </a:lnSpc>
            </a:pPr>
            <a:r>
              <a:rPr lang="en-US" sz="3000" dirty="0">
                <a:solidFill>
                  <a:srgbClr val="000000"/>
                </a:solidFill>
                <a:latin typeface="Rounded M+"/>
                <a:ea typeface="Rounded M+"/>
                <a:cs typeface="Rounded M+"/>
                <a:sym typeface="Rounded M+"/>
              </a:rPr>
              <a:t>　⇒</a:t>
            </a:r>
            <a:r>
              <a:rPr lang="en-US" sz="3000" dirty="0" err="1">
                <a:solidFill>
                  <a:srgbClr val="000000"/>
                </a:solidFill>
                <a:latin typeface="Rounded M+"/>
                <a:ea typeface="Rounded M+"/>
                <a:cs typeface="Rounded M+"/>
                <a:sym typeface="Rounded M+"/>
              </a:rPr>
              <a:t>音量の増減</a:t>
            </a:r>
            <a:endParaRPr lang="en-US" sz="3000" dirty="0">
              <a:solidFill>
                <a:srgbClr val="000000"/>
              </a:solidFill>
              <a:latin typeface="Rounded M+"/>
              <a:ea typeface="Rounded M+"/>
              <a:cs typeface="Rounded M+"/>
              <a:sym typeface="Rounded M+"/>
            </a:endParaRPr>
          </a:p>
          <a:p>
            <a:pPr algn="l">
              <a:lnSpc>
                <a:spcPts val="4200"/>
              </a:lnSpc>
            </a:pPr>
            <a:endParaRPr lang="en-US" sz="3000" dirty="0">
              <a:solidFill>
                <a:srgbClr val="000000"/>
              </a:solidFill>
              <a:latin typeface="Rounded M+"/>
              <a:ea typeface="Rounded M+"/>
              <a:cs typeface="Rounded M+"/>
              <a:sym typeface="Rounded M+"/>
            </a:endParaRPr>
          </a:p>
          <a:p>
            <a:pPr algn="l">
              <a:lnSpc>
                <a:spcPts val="4200"/>
              </a:lnSpc>
            </a:pPr>
            <a:r>
              <a:rPr lang="en-US" sz="3000" dirty="0">
                <a:solidFill>
                  <a:srgbClr val="000000"/>
                </a:solidFill>
                <a:latin typeface="Rounded M+"/>
                <a:ea typeface="Rounded M+"/>
                <a:cs typeface="Rounded M+"/>
                <a:sym typeface="Rounded M+"/>
              </a:rPr>
              <a:t>・</a:t>
            </a:r>
            <a:r>
              <a:rPr lang="en-US" sz="3000" b="1" dirty="0" err="1">
                <a:solidFill>
                  <a:srgbClr val="FF5050"/>
                </a:solidFill>
                <a:latin typeface="Rounded M+ Bold"/>
                <a:ea typeface="Rounded M+ Bold"/>
                <a:cs typeface="Rounded M+ Bold"/>
                <a:sym typeface="Rounded M+ Bold"/>
              </a:rPr>
              <a:t>発想標語,演奏指示</a:t>
            </a:r>
            <a:r>
              <a:rPr lang="en-US" sz="3000" dirty="0">
                <a:solidFill>
                  <a:srgbClr val="000000"/>
                </a:solidFill>
                <a:latin typeface="Rounded M+"/>
                <a:ea typeface="Rounded M+"/>
                <a:cs typeface="Rounded M+"/>
                <a:sym typeface="Rounded M+"/>
              </a:rPr>
              <a:t>(</a:t>
            </a:r>
            <a:r>
              <a:rPr lang="en-US" sz="3000" dirty="0" err="1">
                <a:solidFill>
                  <a:srgbClr val="000000"/>
                </a:solidFill>
                <a:latin typeface="Rounded M+"/>
                <a:ea typeface="Rounded M+"/>
                <a:cs typeface="Rounded M+"/>
                <a:sym typeface="Rounded M+"/>
              </a:rPr>
              <a:t>Cantabile,Dolceなど</a:t>
            </a:r>
            <a:r>
              <a:rPr lang="en-US" sz="3000" dirty="0">
                <a:solidFill>
                  <a:srgbClr val="000000"/>
                </a:solidFill>
                <a:latin typeface="Rounded M+"/>
                <a:ea typeface="Rounded M+"/>
                <a:cs typeface="Rounded M+"/>
                <a:sym typeface="Rounded M+"/>
              </a:rPr>
              <a:t>)</a:t>
            </a:r>
          </a:p>
          <a:p>
            <a:pPr algn="l">
              <a:lnSpc>
                <a:spcPts val="4200"/>
              </a:lnSpc>
              <a:spcBef>
                <a:spcPct val="0"/>
              </a:spcBef>
            </a:pPr>
            <a:r>
              <a:rPr lang="en-US" sz="3000" dirty="0">
                <a:solidFill>
                  <a:srgbClr val="000000"/>
                </a:solidFill>
                <a:latin typeface="Rounded M+"/>
                <a:ea typeface="Rounded M+"/>
                <a:cs typeface="Rounded M+"/>
                <a:sym typeface="Rounded M+"/>
              </a:rPr>
              <a:t>　⇒</a:t>
            </a:r>
            <a:r>
              <a:rPr lang="en-US" sz="3000" dirty="0" err="1">
                <a:solidFill>
                  <a:srgbClr val="000000"/>
                </a:solidFill>
                <a:latin typeface="Rounded M+"/>
                <a:ea typeface="Rounded M+"/>
                <a:cs typeface="Rounded M+"/>
                <a:sym typeface="Rounded M+"/>
              </a:rPr>
              <a:t>曲の雰囲気、テンポなど</a:t>
            </a:r>
            <a:endParaRPr lang="en-US" sz="3000" dirty="0">
              <a:solidFill>
                <a:srgbClr val="000000"/>
              </a:solidFill>
              <a:latin typeface="Rounded M+"/>
              <a:ea typeface="Rounded M+"/>
              <a:cs typeface="Rounded M+"/>
              <a:sym typeface="Rounded M+"/>
            </a:endParaRPr>
          </a:p>
        </p:txBody>
      </p:sp>
      <p:sp>
        <p:nvSpPr>
          <p:cNvPr id="17" name="TextBox 17"/>
          <p:cNvSpPr txBox="1"/>
          <p:nvPr/>
        </p:nvSpPr>
        <p:spPr>
          <a:xfrm>
            <a:off x="1028700" y="914400"/>
            <a:ext cx="9330303" cy="1028700"/>
          </a:xfrm>
          <a:prstGeom prst="rect">
            <a:avLst/>
          </a:prstGeom>
        </p:spPr>
        <p:txBody>
          <a:bodyPr lIns="0" tIns="0" rIns="0" bIns="0" rtlCol="0" anchor="t">
            <a:spAutoFit/>
          </a:bodyPr>
          <a:lstStyle/>
          <a:p>
            <a:pPr algn="ctr">
              <a:lnSpc>
                <a:spcPts val="8400"/>
              </a:lnSpc>
              <a:spcBef>
                <a:spcPct val="0"/>
              </a:spcBef>
            </a:pPr>
            <a:r>
              <a:rPr lang="en-US" sz="6000">
                <a:solidFill>
                  <a:srgbClr val="000000"/>
                </a:solidFill>
                <a:latin typeface="Noto Sans JP"/>
                <a:ea typeface="Noto Sans JP"/>
                <a:cs typeface="Noto Sans JP"/>
                <a:sym typeface="Noto Sans JP"/>
              </a:rPr>
              <a:t>紙の楽譜における演奏表現</a:t>
            </a:r>
          </a:p>
        </p:txBody>
      </p:sp>
      <p:sp>
        <p:nvSpPr>
          <p:cNvPr id="18" name="TextBox 18"/>
          <p:cNvSpPr txBox="1"/>
          <p:nvPr/>
        </p:nvSpPr>
        <p:spPr>
          <a:xfrm>
            <a:off x="13568590" y="2772146"/>
            <a:ext cx="1524000" cy="35877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Rounded M+"/>
                <a:ea typeface="Rounded M+"/>
                <a:cs typeface="Rounded M+"/>
                <a:sym typeface="Rounded M+"/>
              </a:rPr>
              <a:t>▼実際の楽譜</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図 40">
            <a:extLst>
              <a:ext uri="{FF2B5EF4-FFF2-40B4-BE49-F238E27FC236}">
                <a16:creationId xmlns:a16="http://schemas.microsoft.com/office/drawing/2014/main" id="{4D3C9FCE-1DA2-564D-0BD2-0F524E1700A7}"/>
              </a:ext>
            </a:extLst>
          </p:cNvPr>
          <p:cNvPicPr>
            <a:picLocks noChangeAspect="1"/>
          </p:cNvPicPr>
          <p:nvPr/>
        </p:nvPicPr>
        <p:blipFill rotWithShape="1">
          <a:blip r:embed="rId3"/>
          <a:srcRect l="1656" t="22155" r="1790" b="16683"/>
          <a:stretch/>
        </p:blipFill>
        <p:spPr>
          <a:xfrm>
            <a:off x="-292689" y="-269544"/>
            <a:ext cx="18656889" cy="10840907"/>
          </a:xfrm>
          <a:prstGeom prst="rect">
            <a:avLst/>
          </a:prstGeom>
        </p:spPr>
      </p:pic>
      <p:sp>
        <p:nvSpPr>
          <p:cNvPr id="15" name="TextBox 15"/>
          <p:cNvSpPr txBox="1"/>
          <p:nvPr/>
        </p:nvSpPr>
        <p:spPr>
          <a:xfrm>
            <a:off x="1292961" y="2608206"/>
            <a:ext cx="12584127" cy="6434582"/>
          </a:xfrm>
          <a:prstGeom prst="rect">
            <a:avLst/>
          </a:prstGeom>
        </p:spPr>
        <p:txBody>
          <a:bodyPr lIns="0" tIns="0" rIns="0" bIns="0" rtlCol="0" anchor="t">
            <a:spAutoFit/>
          </a:bodyPr>
          <a:lstStyle/>
          <a:p>
            <a:pPr algn="l">
              <a:lnSpc>
                <a:spcPts val="4200"/>
              </a:lnSpc>
            </a:pPr>
            <a:r>
              <a:rPr lang="en-US" sz="3000" dirty="0">
                <a:solidFill>
                  <a:srgbClr val="000000"/>
                </a:solidFill>
                <a:latin typeface="Rounded M+"/>
                <a:ea typeface="Rounded M+"/>
                <a:cs typeface="Rounded M+"/>
                <a:sym typeface="Rounded M+"/>
              </a:rPr>
              <a:t>【保科理論 [保科,1988] 】</a:t>
            </a:r>
          </a:p>
          <a:p>
            <a:pPr algn="l">
              <a:lnSpc>
                <a:spcPts val="4200"/>
              </a:lnSpc>
            </a:pPr>
            <a:r>
              <a:rPr lang="en-US" sz="3000" dirty="0">
                <a:solidFill>
                  <a:srgbClr val="000000"/>
                </a:solidFill>
                <a:latin typeface="Rounded M+"/>
                <a:ea typeface="Rounded M+"/>
                <a:cs typeface="Rounded M+"/>
                <a:sym typeface="Rounded M+"/>
              </a:rPr>
              <a:t>・フレーズはエネルギーが最大になる「</a:t>
            </a:r>
            <a:r>
              <a:rPr lang="en-US" sz="3000" b="1" dirty="0">
                <a:solidFill>
                  <a:srgbClr val="FF5050"/>
                </a:solidFill>
                <a:latin typeface="Rounded M+ Bold"/>
                <a:ea typeface="Rounded M+ Bold"/>
                <a:cs typeface="Rounded M+ Bold"/>
                <a:sym typeface="Rounded M+ Bold"/>
              </a:rPr>
              <a:t>頂点</a:t>
            </a:r>
            <a:r>
              <a:rPr lang="en-US" sz="3000" dirty="0">
                <a:solidFill>
                  <a:srgbClr val="000000"/>
                </a:solidFill>
                <a:latin typeface="Rounded M+"/>
                <a:ea typeface="Rounded M+"/>
                <a:cs typeface="Rounded M+"/>
                <a:sym typeface="Rounded M+"/>
              </a:rPr>
              <a:t>」を持つ山形の構造を持つ</a:t>
            </a:r>
          </a:p>
          <a:p>
            <a:pPr algn="l">
              <a:lnSpc>
                <a:spcPts val="4200"/>
              </a:lnSpc>
            </a:pPr>
            <a:endParaRPr lang="en-US" sz="3000" dirty="0">
              <a:solidFill>
                <a:srgbClr val="000000"/>
              </a:solidFill>
              <a:latin typeface="Rounded M+"/>
              <a:ea typeface="Rounded M+"/>
              <a:cs typeface="Rounded M+"/>
              <a:sym typeface="Rounded M+"/>
            </a:endParaRPr>
          </a:p>
          <a:p>
            <a:pPr algn="l">
              <a:lnSpc>
                <a:spcPts val="4200"/>
              </a:lnSpc>
            </a:pPr>
            <a:r>
              <a:rPr lang="en-US" sz="3000" dirty="0">
                <a:solidFill>
                  <a:srgbClr val="000000"/>
                </a:solidFill>
                <a:latin typeface="Rounded M+"/>
                <a:ea typeface="Rounded M+"/>
                <a:cs typeface="Rounded M+"/>
                <a:sym typeface="Rounded M+"/>
              </a:rPr>
              <a:t>【システムでの実装】</a:t>
            </a:r>
          </a:p>
          <a:p>
            <a:pPr algn="l">
              <a:lnSpc>
                <a:spcPts val="4200"/>
              </a:lnSpc>
            </a:pPr>
            <a:r>
              <a:rPr lang="en-US" sz="3000" dirty="0">
                <a:solidFill>
                  <a:srgbClr val="000000"/>
                </a:solidFill>
                <a:latin typeface="Rounded M+"/>
                <a:ea typeface="Rounded M+"/>
                <a:cs typeface="Rounded M+"/>
                <a:sym typeface="Rounded M+"/>
              </a:rPr>
              <a:t>① </a:t>
            </a:r>
            <a:r>
              <a:rPr lang="en-US" sz="3000" b="1" dirty="0" err="1">
                <a:solidFill>
                  <a:srgbClr val="000000"/>
                </a:solidFill>
                <a:latin typeface="Rounded M+ Bold"/>
                <a:ea typeface="Rounded M+ Bold"/>
                <a:cs typeface="Rounded M+ Bold"/>
                <a:sym typeface="Rounded M+ Bold"/>
              </a:rPr>
              <a:t>強弱制御</a:t>
            </a:r>
            <a:r>
              <a:rPr lang="en-US" sz="3000" dirty="0" err="1">
                <a:solidFill>
                  <a:srgbClr val="000000"/>
                </a:solidFill>
                <a:latin typeface="Rounded M+"/>
                <a:ea typeface="Rounded M+"/>
                <a:cs typeface="Rounded M+"/>
                <a:sym typeface="Rounded M+"/>
              </a:rPr>
              <a:t>：Expression</a:t>
            </a:r>
            <a:endParaRPr lang="en-US" sz="3000" dirty="0">
              <a:solidFill>
                <a:srgbClr val="000000"/>
              </a:solidFill>
              <a:latin typeface="Rounded M+"/>
              <a:ea typeface="Rounded M+"/>
              <a:cs typeface="Rounded M+"/>
              <a:sym typeface="Rounded M+"/>
            </a:endParaRPr>
          </a:p>
          <a:p>
            <a:pPr algn="l">
              <a:lnSpc>
                <a:spcPts val="4200"/>
              </a:lnSpc>
            </a:pPr>
            <a:r>
              <a:rPr lang="en-US" sz="3000" dirty="0">
                <a:solidFill>
                  <a:srgbClr val="000000"/>
                </a:solidFill>
                <a:latin typeface="Rounded M+"/>
                <a:ea typeface="Rounded M+"/>
                <a:cs typeface="Rounded M+"/>
                <a:sym typeface="Rounded M+"/>
              </a:rPr>
              <a:t> 　・フレーズの開始点～終了点の音量</a:t>
            </a:r>
          </a:p>
          <a:p>
            <a:pPr algn="l">
              <a:lnSpc>
                <a:spcPts val="4200"/>
              </a:lnSpc>
            </a:pPr>
            <a:r>
              <a:rPr lang="en-US" sz="3000" dirty="0">
                <a:solidFill>
                  <a:srgbClr val="000000"/>
                </a:solidFill>
                <a:latin typeface="Rounded M+"/>
                <a:ea typeface="Rounded M+"/>
                <a:cs typeface="Rounded M+"/>
                <a:sym typeface="Rounded M+"/>
              </a:rPr>
              <a:t>　 ・頂点での音量</a:t>
            </a:r>
          </a:p>
          <a:p>
            <a:pPr algn="l">
              <a:lnSpc>
                <a:spcPts val="4200"/>
              </a:lnSpc>
            </a:pPr>
            <a:r>
              <a:rPr lang="en-US" sz="3000" dirty="0">
                <a:solidFill>
                  <a:srgbClr val="000000"/>
                </a:solidFill>
                <a:latin typeface="Rounded M+"/>
                <a:ea typeface="Rounded M+"/>
                <a:cs typeface="Rounded M+"/>
                <a:sym typeface="Rounded M+"/>
              </a:rPr>
              <a:t>　  </a:t>
            </a:r>
            <a:r>
              <a:rPr lang="ja-JP" altLang="en-US" sz="3000" dirty="0">
                <a:solidFill>
                  <a:srgbClr val="5170FF"/>
                </a:solidFill>
                <a:latin typeface="Rounded M+"/>
                <a:ea typeface="Rounded M+"/>
                <a:cs typeface="Rounded M+"/>
                <a:sym typeface="Rounded M+"/>
              </a:rPr>
              <a:t>⇒</a:t>
            </a:r>
            <a:r>
              <a:rPr lang="en-US" sz="3000" dirty="0">
                <a:solidFill>
                  <a:srgbClr val="5170FF"/>
                </a:solidFill>
                <a:latin typeface="Rounded M+"/>
                <a:ea typeface="Rounded M+"/>
                <a:cs typeface="Rounded M+"/>
                <a:sym typeface="Rounded M+"/>
              </a:rPr>
              <a:t> 頂点に向かって盛り上がり、頂点を過ぎて収束する</a:t>
            </a:r>
          </a:p>
          <a:p>
            <a:pPr algn="l">
              <a:lnSpc>
                <a:spcPts val="4200"/>
              </a:lnSpc>
            </a:pPr>
            <a:endParaRPr lang="en-US" sz="3000" dirty="0">
              <a:solidFill>
                <a:srgbClr val="5170FF"/>
              </a:solidFill>
              <a:latin typeface="Rounded M+"/>
              <a:ea typeface="Rounded M+"/>
              <a:cs typeface="Rounded M+"/>
              <a:sym typeface="Rounded M+"/>
            </a:endParaRPr>
          </a:p>
          <a:p>
            <a:pPr algn="l">
              <a:lnSpc>
                <a:spcPts val="4200"/>
              </a:lnSpc>
            </a:pPr>
            <a:r>
              <a:rPr lang="en-US" sz="3000" dirty="0">
                <a:solidFill>
                  <a:srgbClr val="000000"/>
                </a:solidFill>
                <a:latin typeface="Rounded M+"/>
                <a:ea typeface="Rounded M+"/>
                <a:cs typeface="Rounded M+"/>
                <a:sym typeface="Rounded M+"/>
              </a:rPr>
              <a:t>② </a:t>
            </a:r>
            <a:r>
              <a:rPr lang="en-US" sz="3000" b="1" dirty="0" err="1">
                <a:solidFill>
                  <a:srgbClr val="000000"/>
                </a:solidFill>
                <a:latin typeface="Rounded M+ Bold"/>
                <a:ea typeface="Rounded M+ Bold"/>
                <a:cs typeface="Rounded M+ Bold"/>
                <a:sym typeface="Rounded M+ Bold"/>
              </a:rPr>
              <a:t>時間制御</a:t>
            </a:r>
            <a:r>
              <a:rPr lang="en-US" sz="3000" dirty="0" err="1">
                <a:solidFill>
                  <a:srgbClr val="000000"/>
                </a:solidFill>
                <a:latin typeface="Rounded M+"/>
                <a:ea typeface="Rounded M+"/>
                <a:cs typeface="Rounded M+"/>
                <a:sym typeface="Rounded M+"/>
              </a:rPr>
              <a:t>：Onset（発音時刻</a:t>
            </a:r>
            <a:r>
              <a:rPr lang="en-US" sz="3000" dirty="0">
                <a:solidFill>
                  <a:srgbClr val="000000"/>
                </a:solidFill>
                <a:latin typeface="Rounded M+"/>
                <a:ea typeface="Rounded M+"/>
                <a:cs typeface="Rounded M+"/>
                <a:sym typeface="Rounded M+"/>
              </a:rPr>
              <a:t>）</a:t>
            </a:r>
          </a:p>
          <a:p>
            <a:pPr algn="l">
              <a:lnSpc>
                <a:spcPts val="4200"/>
              </a:lnSpc>
            </a:pPr>
            <a:r>
              <a:rPr lang="en-US" sz="3000" dirty="0">
                <a:solidFill>
                  <a:srgbClr val="000000"/>
                </a:solidFill>
                <a:latin typeface="Rounded M+"/>
                <a:ea typeface="Rounded M+"/>
                <a:cs typeface="Rounded M+"/>
                <a:sym typeface="Rounded M+"/>
              </a:rPr>
              <a:t>　・各音符の発音時刻をミリ秒単位で調整</a:t>
            </a:r>
          </a:p>
          <a:p>
            <a:pPr algn="l">
              <a:lnSpc>
                <a:spcPts val="4200"/>
              </a:lnSpc>
              <a:spcBef>
                <a:spcPct val="0"/>
              </a:spcBef>
            </a:pPr>
            <a:r>
              <a:rPr lang="en-US" sz="3000" dirty="0">
                <a:solidFill>
                  <a:srgbClr val="000000"/>
                </a:solidFill>
                <a:latin typeface="Rounded M+"/>
                <a:ea typeface="Rounded M+"/>
                <a:cs typeface="Rounded M+"/>
                <a:sym typeface="Rounded M+"/>
              </a:rPr>
              <a:t>　 </a:t>
            </a:r>
            <a:r>
              <a:rPr lang="ja-JP" altLang="en-US" sz="3000" dirty="0">
                <a:solidFill>
                  <a:srgbClr val="5170FF"/>
                </a:solidFill>
                <a:latin typeface="Rounded M+"/>
                <a:ea typeface="Rounded M+"/>
                <a:cs typeface="Rounded M+"/>
                <a:sym typeface="Rounded M+"/>
              </a:rPr>
              <a:t>⇒</a:t>
            </a:r>
            <a:r>
              <a:rPr lang="en-US" sz="3000" dirty="0">
                <a:solidFill>
                  <a:srgbClr val="5170FF"/>
                </a:solidFill>
                <a:latin typeface="Rounded M+"/>
                <a:ea typeface="Rounded M+"/>
                <a:cs typeface="Rounded M+"/>
                <a:sym typeface="Rounded M+"/>
              </a:rPr>
              <a:t> 局所的なテンポの揺らぎを表現</a:t>
            </a:r>
          </a:p>
        </p:txBody>
      </p:sp>
      <p:grpSp>
        <p:nvGrpSpPr>
          <p:cNvPr id="16" name="Group 16"/>
          <p:cNvGrpSpPr/>
          <p:nvPr/>
        </p:nvGrpSpPr>
        <p:grpSpPr>
          <a:xfrm>
            <a:off x="10668000" y="3230021"/>
            <a:ext cx="6881617" cy="3057081"/>
            <a:chOff x="0" y="-143456"/>
            <a:chExt cx="9378690" cy="4191640"/>
          </a:xfrm>
        </p:grpSpPr>
        <p:sp>
          <p:nvSpPr>
            <p:cNvPr id="17" name="Freeform 17"/>
            <p:cNvSpPr/>
            <p:nvPr/>
          </p:nvSpPr>
          <p:spPr>
            <a:xfrm>
              <a:off x="0" y="988386"/>
              <a:ext cx="9378690" cy="3059798"/>
            </a:xfrm>
            <a:custGeom>
              <a:avLst/>
              <a:gdLst/>
              <a:ahLst/>
              <a:cxnLst/>
              <a:rect l="l" t="t" r="r" b="b"/>
              <a:pathLst>
                <a:path w="9378690" h="3059798">
                  <a:moveTo>
                    <a:pt x="0" y="0"/>
                  </a:moveTo>
                  <a:lnTo>
                    <a:pt x="9378690" y="0"/>
                  </a:lnTo>
                  <a:lnTo>
                    <a:pt x="9378690" y="3059797"/>
                  </a:lnTo>
                  <a:lnTo>
                    <a:pt x="0" y="3059797"/>
                  </a:lnTo>
                  <a:lnTo>
                    <a:pt x="0" y="0"/>
                  </a:lnTo>
                  <a:close/>
                </a:path>
              </a:pathLst>
            </a:custGeom>
            <a:blipFill>
              <a:blip r:embed="rId4"/>
              <a:stretch>
                <a:fillRect/>
              </a:stretch>
            </a:blipFill>
          </p:spPr>
        </p:sp>
        <p:sp>
          <p:nvSpPr>
            <p:cNvPr id="19" name="TextBox 19"/>
            <p:cNvSpPr txBox="1"/>
            <p:nvPr/>
          </p:nvSpPr>
          <p:spPr>
            <a:xfrm>
              <a:off x="4042410" y="-143456"/>
              <a:ext cx="763201" cy="420885"/>
            </a:xfrm>
            <a:prstGeom prst="rect">
              <a:avLst/>
            </a:prstGeom>
          </p:spPr>
          <p:txBody>
            <a:bodyPr wrap="square" lIns="0" tIns="0" rIns="0" bIns="0" rtlCol="0" anchor="t">
              <a:spAutoFit/>
            </a:bodyPr>
            <a:lstStyle/>
            <a:p>
              <a:pPr algn="ctr">
                <a:lnSpc>
                  <a:spcPts val="2601"/>
                </a:lnSpc>
                <a:spcBef>
                  <a:spcPct val="0"/>
                </a:spcBef>
              </a:pPr>
              <a:r>
                <a:rPr lang="en-US" sz="1858" b="1" dirty="0">
                  <a:solidFill>
                    <a:srgbClr val="FF914D"/>
                  </a:solidFill>
                  <a:latin typeface="Rounded M+"/>
                  <a:ea typeface="Rounded M+"/>
                  <a:cs typeface="Rounded M+"/>
                  <a:sym typeface="Rounded M+"/>
                </a:rPr>
                <a:t>頂点</a:t>
              </a:r>
            </a:p>
          </p:txBody>
        </p:sp>
        <p:sp>
          <p:nvSpPr>
            <p:cNvPr id="20" name="AutoShape 20"/>
            <p:cNvSpPr/>
            <p:nvPr/>
          </p:nvSpPr>
          <p:spPr>
            <a:xfrm flipV="1">
              <a:off x="1811779" y="942301"/>
              <a:ext cx="2124747" cy="1509065"/>
            </a:xfrm>
            <a:prstGeom prst="line">
              <a:avLst/>
            </a:prstGeom>
            <a:ln w="50800" cap="flat">
              <a:solidFill>
                <a:srgbClr val="E2324A"/>
              </a:solidFill>
              <a:prstDash val="solid"/>
              <a:headEnd type="none" w="sm" len="sm"/>
              <a:tailEnd type="arrow" w="med" len="sm"/>
            </a:ln>
          </p:spPr>
        </p:sp>
        <p:sp>
          <p:nvSpPr>
            <p:cNvPr id="21" name="AutoShape 21"/>
            <p:cNvSpPr/>
            <p:nvPr/>
          </p:nvSpPr>
          <p:spPr>
            <a:xfrm>
              <a:off x="4984447" y="902613"/>
              <a:ext cx="3844780" cy="1593740"/>
            </a:xfrm>
            <a:prstGeom prst="line">
              <a:avLst/>
            </a:prstGeom>
            <a:ln w="50800" cap="flat">
              <a:solidFill>
                <a:srgbClr val="5170FF"/>
              </a:solidFill>
              <a:prstDash val="solid"/>
              <a:headEnd type="none" w="sm" len="sm"/>
              <a:tailEnd type="arrow" w="med" len="sm"/>
            </a:ln>
          </p:spPr>
        </p:sp>
        <p:sp>
          <p:nvSpPr>
            <p:cNvPr id="22" name="Freeform 22"/>
            <p:cNvSpPr/>
            <p:nvPr/>
          </p:nvSpPr>
          <p:spPr>
            <a:xfrm>
              <a:off x="5726423" y="1146689"/>
              <a:ext cx="2161296" cy="530337"/>
            </a:xfrm>
            <a:custGeom>
              <a:avLst/>
              <a:gdLst/>
              <a:ahLst/>
              <a:cxnLst/>
              <a:rect l="l" t="t" r="r" b="b"/>
              <a:pathLst>
                <a:path w="2161296" h="530337">
                  <a:moveTo>
                    <a:pt x="0" y="0"/>
                  </a:moveTo>
                  <a:lnTo>
                    <a:pt x="2161295" y="0"/>
                  </a:lnTo>
                  <a:lnTo>
                    <a:pt x="2161295" y="530337"/>
                  </a:lnTo>
                  <a:lnTo>
                    <a:pt x="0" y="530337"/>
                  </a:lnTo>
                  <a:lnTo>
                    <a:pt x="0" y="0"/>
                  </a:lnTo>
                  <a:close/>
                </a:path>
              </a:pathLst>
            </a:custGeom>
            <a:blipFill>
              <a:blip r:embed="rId4"/>
              <a:stretch>
                <a:fillRect l="-262157" t="-25437" r="-71781" b="-451515"/>
              </a:stretch>
            </a:blipFill>
          </p:spPr>
        </p:sp>
      </p:grpSp>
      <p:grpSp>
        <p:nvGrpSpPr>
          <p:cNvPr id="23" name="Group 23"/>
          <p:cNvGrpSpPr/>
          <p:nvPr/>
        </p:nvGrpSpPr>
        <p:grpSpPr>
          <a:xfrm>
            <a:off x="11482046" y="7779460"/>
            <a:ext cx="5777254" cy="1604793"/>
            <a:chOff x="0" y="0"/>
            <a:chExt cx="7703005" cy="2139724"/>
          </a:xfrm>
        </p:grpSpPr>
        <p:sp>
          <p:nvSpPr>
            <p:cNvPr id="24" name="Freeform 24"/>
            <p:cNvSpPr/>
            <p:nvPr/>
          </p:nvSpPr>
          <p:spPr>
            <a:xfrm>
              <a:off x="0" y="0"/>
              <a:ext cx="7703005" cy="2139724"/>
            </a:xfrm>
            <a:custGeom>
              <a:avLst/>
              <a:gdLst/>
              <a:ahLst/>
              <a:cxnLst/>
              <a:rect l="l" t="t" r="r" b="b"/>
              <a:pathLst>
                <a:path w="7703005" h="2139724">
                  <a:moveTo>
                    <a:pt x="0" y="0"/>
                  </a:moveTo>
                  <a:lnTo>
                    <a:pt x="7703005" y="0"/>
                  </a:lnTo>
                  <a:lnTo>
                    <a:pt x="7703005" y="2139724"/>
                  </a:lnTo>
                  <a:lnTo>
                    <a:pt x="0" y="2139724"/>
                  </a:lnTo>
                  <a:lnTo>
                    <a:pt x="0" y="0"/>
                  </a:lnTo>
                  <a:close/>
                </a:path>
              </a:pathLst>
            </a:custGeom>
            <a:blipFill>
              <a:blip r:embed="rId5"/>
              <a:stretch>
                <a:fillRect/>
              </a:stretch>
            </a:blipFill>
          </p:spPr>
        </p:sp>
        <p:grpSp>
          <p:nvGrpSpPr>
            <p:cNvPr id="25" name="Group 25"/>
            <p:cNvGrpSpPr/>
            <p:nvPr/>
          </p:nvGrpSpPr>
          <p:grpSpPr>
            <a:xfrm>
              <a:off x="0" y="0"/>
              <a:ext cx="916571" cy="220855"/>
              <a:chOff x="0" y="0"/>
              <a:chExt cx="181051" cy="43626"/>
            </a:xfrm>
          </p:grpSpPr>
          <p:sp>
            <p:nvSpPr>
              <p:cNvPr id="26" name="Freeform 26"/>
              <p:cNvSpPr/>
              <p:nvPr/>
            </p:nvSpPr>
            <p:spPr>
              <a:xfrm>
                <a:off x="0" y="0"/>
                <a:ext cx="181051" cy="43626"/>
              </a:xfrm>
              <a:custGeom>
                <a:avLst/>
                <a:gdLst/>
                <a:ahLst/>
                <a:cxnLst/>
                <a:rect l="l" t="t" r="r" b="b"/>
                <a:pathLst>
                  <a:path w="181051" h="43626">
                    <a:moveTo>
                      <a:pt x="0" y="0"/>
                    </a:moveTo>
                    <a:lnTo>
                      <a:pt x="181051" y="0"/>
                    </a:lnTo>
                    <a:lnTo>
                      <a:pt x="181051" y="43626"/>
                    </a:lnTo>
                    <a:lnTo>
                      <a:pt x="0" y="43626"/>
                    </a:lnTo>
                    <a:close/>
                  </a:path>
                </a:pathLst>
              </a:custGeom>
              <a:solidFill>
                <a:srgbClr val="FFFFFF"/>
              </a:solidFill>
            </p:spPr>
          </p:sp>
          <p:sp>
            <p:nvSpPr>
              <p:cNvPr id="27" name="TextBox 27"/>
              <p:cNvSpPr txBox="1"/>
              <p:nvPr/>
            </p:nvSpPr>
            <p:spPr>
              <a:xfrm>
                <a:off x="0" y="-57150"/>
                <a:ext cx="181051" cy="100776"/>
              </a:xfrm>
              <a:prstGeom prst="rect">
                <a:avLst/>
              </a:prstGeom>
            </p:spPr>
            <p:txBody>
              <a:bodyPr lIns="50800" tIns="50800" rIns="50800" bIns="50800" rtlCol="0" anchor="ctr"/>
              <a:lstStyle/>
              <a:p>
                <a:pPr algn="ctr">
                  <a:lnSpc>
                    <a:spcPts val="2800"/>
                  </a:lnSpc>
                </a:pPr>
                <a:endParaRPr/>
              </a:p>
            </p:txBody>
          </p:sp>
        </p:grpSp>
        <p:grpSp>
          <p:nvGrpSpPr>
            <p:cNvPr id="28" name="Group 28"/>
            <p:cNvGrpSpPr/>
            <p:nvPr/>
          </p:nvGrpSpPr>
          <p:grpSpPr>
            <a:xfrm>
              <a:off x="6786434" y="0"/>
              <a:ext cx="916571" cy="311097"/>
              <a:chOff x="0" y="0"/>
              <a:chExt cx="181051" cy="61451"/>
            </a:xfrm>
          </p:grpSpPr>
          <p:sp>
            <p:nvSpPr>
              <p:cNvPr id="29" name="Freeform 29"/>
              <p:cNvSpPr/>
              <p:nvPr/>
            </p:nvSpPr>
            <p:spPr>
              <a:xfrm>
                <a:off x="0" y="0"/>
                <a:ext cx="181051" cy="61451"/>
              </a:xfrm>
              <a:custGeom>
                <a:avLst/>
                <a:gdLst/>
                <a:ahLst/>
                <a:cxnLst/>
                <a:rect l="l" t="t" r="r" b="b"/>
                <a:pathLst>
                  <a:path w="181051" h="61451">
                    <a:moveTo>
                      <a:pt x="0" y="0"/>
                    </a:moveTo>
                    <a:lnTo>
                      <a:pt x="181051" y="0"/>
                    </a:lnTo>
                    <a:lnTo>
                      <a:pt x="181051" y="61451"/>
                    </a:lnTo>
                    <a:lnTo>
                      <a:pt x="0" y="61451"/>
                    </a:lnTo>
                    <a:close/>
                  </a:path>
                </a:pathLst>
              </a:custGeom>
              <a:solidFill>
                <a:srgbClr val="FFFFFF"/>
              </a:solidFill>
            </p:spPr>
          </p:sp>
          <p:sp>
            <p:nvSpPr>
              <p:cNvPr id="30" name="TextBox 30"/>
              <p:cNvSpPr txBox="1"/>
              <p:nvPr/>
            </p:nvSpPr>
            <p:spPr>
              <a:xfrm>
                <a:off x="0" y="-57150"/>
                <a:ext cx="181051" cy="118601"/>
              </a:xfrm>
              <a:prstGeom prst="rect">
                <a:avLst/>
              </a:prstGeom>
            </p:spPr>
            <p:txBody>
              <a:bodyPr lIns="50800" tIns="50800" rIns="50800" bIns="50800" rtlCol="0" anchor="ctr"/>
              <a:lstStyle/>
              <a:p>
                <a:pPr algn="ctr">
                  <a:lnSpc>
                    <a:spcPts val="2800"/>
                  </a:lnSpc>
                </a:pPr>
                <a:endParaRPr/>
              </a:p>
            </p:txBody>
          </p:sp>
        </p:grpSp>
        <p:sp>
          <p:nvSpPr>
            <p:cNvPr id="31" name="Freeform 31"/>
            <p:cNvSpPr/>
            <p:nvPr/>
          </p:nvSpPr>
          <p:spPr>
            <a:xfrm>
              <a:off x="1454646" y="442860"/>
              <a:ext cx="2330620" cy="1696864"/>
            </a:xfrm>
            <a:custGeom>
              <a:avLst/>
              <a:gdLst/>
              <a:ahLst/>
              <a:cxnLst/>
              <a:rect l="l" t="t" r="r" b="b"/>
              <a:pathLst>
                <a:path w="2330620" h="1696864">
                  <a:moveTo>
                    <a:pt x="0" y="0"/>
                  </a:moveTo>
                  <a:lnTo>
                    <a:pt x="2330619" y="0"/>
                  </a:lnTo>
                  <a:lnTo>
                    <a:pt x="2330619" y="1696864"/>
                  </a:lnTo>
                  <a:lnTo>
                    <a:pt x="0" y="1696864"/>
                  </a:lnTo>
                  <a:lnTo>
                    <a:pt x="0" y="0"/>
                  </a:lnTo>
                  <a:close/>
                </a:path>
              </a:pathLst>
            </a:custGeom>
            <a:blipFill>
              <a:blip r:embed="rId6"/>
              <a:stretch>
                <a:fillRect l="-50355" t="-27213" r="-177504"/>
              </a:stretch>
            </a:blipFill>
          </p:spPr>
        </p:sp>
        <p:sp>
          <p:nvSpPr>
            <p:cNvPr id="32" name="Freeform 32"/>
            <p:cNvSpPr/>
            <p:nvPr/>
          </p:nvSpPr>
          <p:spPr>
            <a:xfrm>
              <a:off x="5363395" y="898163"/>
              <a:ext cx="811636" cy="1241561"/>
            </a:xfrm>
            <a:custGeom>
              <a:avLst/>
              <a:gdLst/>
              <a:ahLst/>
              <a:cxnLst/>
              <a:rect l="l" t="t" r="r" b="b"/>
              <a:pathLst>
                <a:path w="811636" h="1241561">
                  <a:moveTo>
                    <a:pt x="0" y="0"/>
                  </a:moveTo>
                  <a:lnTo>
                    <a:pt x="811636" y="0"/>
                  </a:lnTo>
                  <a:lnTo>
                    <a:pt x="811636" y="1241561"/>
                  </a:lnTo>
                  <a:lnTo>
                    <a:pt x="0" y="1241561"/>
                  </a:lnTo>
                  <a:lnTo>
                    <a:pt x="0" y="0"/>
                  </a:lnTo>
                  <a:close/>
                </a:path>
              </a:pathLst>
            </a:custGeom>
            <a:blipFill>
              <a:blip r:embed="rId6"/>
              <a:stretch>
                <a:fillRect l="-598367" t="-73864" r="-243086"/>
              </a:stretch>
            </a:blipFill>
          </p:spPr>
        </p:sp>
        <p:sp>
          <p:nvSpPr>
            <p:cNvPr id="33" name="Freeform 33"/>
            <p:cNvSpPr/>
            <p:nvPr/>
          </p:nvSpPr>
          <p:spPr>
            <a:xfrm>
              <a:off x="4057351" y="442860"/>
              <a:ext cx="629932" cy="1696864"/>
            </a:xfrm>
            <a:custGeom>
              <a:avLst/>
              <a:gdLst/>
              <a:ahLst/>
              <a:cxnLst/>
              <a:rect l="l" t="t" r="r" b="b"/>
              <a:pathLst>
                <a:path w="629932" h="1696864">
                  <a:moveTo>
                    <a:pt x="0" y="0"/>
                  </a:moveTo>
                  <a:lnTo>
                    <a:pt x="629932" y="0"/>
                  </a:lnTo>
                  <a:lnTo>
                    <a:pt x="629932" y="1696864"/>
                  </a:lnTo>
                  <a:lnTo>
                    <a:pt x="0" y="1696864"/>
                  </a:lnTo>
                  <a:lnTo>
                    <a:pt x="0" y="0"/>
                  </a:lnTo>
                  <a:close/>
                </a:path>
              </a:pathLst>
            </a:custGeom>
            <a:blipFill>
              <a:blip r:embed="rId6"/>
              <a:stretch>
                <a:fillRect l="-556207" t="-27213" r="-556809"/>
              </a:stretch>
            </a:blipFill>
          </p:spPr>
        </p:sp>
        <p:sp>
          <p:nvSpPr>
            <p:cNvPr id="34" name="Freeform 34"/>
            <p:cNvSpPr/>
            <p:nvPr/>
          </p:nvSpPr>
          <p:spPr>
            <a:xfrm>
              <a:off x="793937" y="442860"/>
              <a:ext cx="641488" cy="1696864"/>
            </a:xfrm>
            <a:custGeom>
              <a:avLst/>
              <a:gdLst/>
              <a:ahLst/>
              <a:cxnLst/>
              <a:rect l="l" t="t" r="r" b="b"/>
              <a:pathLst>
                <a:path w="641488" h="1696864">
                  <a:moveTo>
                    <a:pt x="0" y="0"/>
                  </a:moveTo>
                  <a:lnTo>
                    <a:pt x="641489" y="0"/>
                  </a:lnTo>
                  <a:lnTo>
                    <a:pt x="641489" y="1696864"/>
                  </a:lnTo>
                  <a:lnTo>
                    <a:pt x="0" y="1696864"/>
                  </a:lnTo>
                  <a:lnTo>
                    <a:pt x="0" y="0"/>
                  </a:lnTo>
                  <a:close/>
                </a:path>
              </a:pathLst>
            </a:custGeom>
            <a:blipFill>
              <a:blip r:embed="rId6"/>
              <a:stretch>
                <a:fillRect l="-42059" t="-27213" r="-1049104"/>
              </a:stretch>
            </a:blipFill>
          </p:spPr>
        </p:sp>
        <p:sp>
          <p:nvSpPr>
            <p:cNvPr id="35" name="AutoShape 35"/>
            <p:cNvSpPr/>
            <p:nvPr/>
          </p:nvSpPr>
          <p:spPr>
            <a:xfrm>
              <a:off x="773922" y="468260"/>
              <a:ext cx="468116" cy="0"/>
            </a:xfrm>
            <a:prstGeom prst="line">
              <a:avLst/>
            </a:prstGeom>
            <a:ln w="50800" cap="flat">
              <a:solidFill>
                <a:srgbClr val="5170FF"/>
              </a:solidFill>
              <a:prstDash val="solid"/>
              <a:headEnd type="none" w="sm" len="sm"/>
              <a:tailEnd type="arrow" w="med" len="sm"/>
            </a:ln>
          </p:spPr>
        </p:sp>
        <p:sp>
          <p:nvSpPr>
            <p:cNvPr id="36" name="AutoShape 36"/>
            <p:cNvSpPr/>
            <p:nvPr/>
          </p:nvSpPr>
          <p:spPr>
            <a:xfrm>
              <a:off x="3904201" y="728391"/>
              <a:ext cx="468116" cy="0"/>
            </a:xfrm>
            <a:prstGeom prst="line">
              <a:avLst/>
            </a:prstGeom>
            <a:ln w="50800" cap="flat">
              <a:solidFill>
                <a:srgbClr val="5170FF"/>
              </a:solidFill>
              <a:prstDash val="solid"/>
              <a:headEnd type="none" w="sm" len="sm"/>
              <a:tailEnd type="arrow" w="med" len="sm"/>
            </a:ln>
          </p:spPr>
        </p:sp>
        <p:sp>
          <p:nvSpPr>
            <p:cNvPr id="37" name="AutoShape 37"/>
            <p:cNvSpPr/>
            <p:nvPr/>
          </p:nvSpPr>
          <p:spPr>
            <a:xfrm>
              <a:off x="5137610" y="753791"/>
              <a:ext cx="468116" cy="0"/>
            </a:xfrm>
            <a:prstGeom prst="line">
              <a:avLst/>
            </a:prstGeom>
            <a:ln w="50800" cap="flat">
              <a:solidFill>
                <a:srgbClr val="5170FF"/>
              </a:solidFill>
              <a:prstDash val="solid"/>
              <a:headEnd type="none" w="sm" len="sm"/>
              <a:tailEnd type="arrow" w="med" len="sm"/>
            </a:ln>
          </p:spPr>
        </p:sp>
      </p:grpSp>
      <p:sp>
        <p:nvSpPr>
          <p:cNvPr id="38" name="TextBox 38"/>
          <p:cNvSpPr txBox="1"/>
          <p:nvPr/>
        </p:nvSpPr>
        <p:spPr>
          <a:xfrm>
            <a:off x="1292961" y="1142249"/>
            <a:ext cx="6858000" cy="1028700"/>
          </a:xfrm>
          <a:prstGeom prst="rect">
            <a:avLst/>
          </a:prstGeom>
        </p:spPr>
        <p:txBody>
          <a:bodyPr lIns="0" tIns="0" rIns="0" bIns="0" rtlCol="0" anchor="t">
            <a:spAutoFit/>
          </a:bodyPr>
          <a:lstStyle/>
          <a:p>
            <a:pPr algn="l">
              <a:lnSpc>
                <a:spcPts val="8400"/>
              </a:lnSpc>
              <a:spcBef>
                <a:spcPct val="0"/>
              </a:spcBef>
            </a:pPr>
            <a:r>
              <a:rPr lang="en-US" sz="6000">
                <a:solidFill>
                  <a:srgbClr val="000000"/>
                </a:solidFill>
                <a:latin typeface="Noto Sans JP"/>
                <a:ea typeface="Noto Sans JP"/>
                <a:cs typeface="Noto Sans JP"/>
                <a:sym typeface="Noto Sans JP"/>
              </a:rPr>
              <a:t>演奏表現のモデル化</a:t>
            </a:r>
          </a:p>
        </p:txBody>
      </p:sp>
      <p:sp>
        <p:nvSpPr>
          <p:cNvPr id="39" name="TextBox 39"/>
          <p:cNvSpPr txBox="1"/>
          <p:nvPr/>
        </p:nvSpPr>
        <p:spPr>
          <a:xfrm>
            <a:off x="12558615" y="6453606"/>
            <a:ext cx="3810000" cy="35877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Rounded M+"/>
                <a:ea typeface="Rounded M+"/>
                <a:cs typeface="Rounded M+"/>
                <a:sym typeface="Rounded M+"/>
              </a:rPr>
              <a:t>▲保科理論におけるフレーズ構造</a:t>
            </a:r>
          </a:p>
        </p:txBody>
      </p:sp>
      <p:sp>
        <p:nvSpPr>
          <p:cNvPr id="40" name="TextBox 40"/>
          <p:cNvSpPr txBox="1"/>
          <p:nvPr/>
        </p:nvSpPr>
        <p:spPr>
          <a:xfrm>
            <a:off x="12573030" y="9441403"/>
            <a:ext cx="3276570" cy="339901"/>
          </a:xfrm>
          <a:prstGeom prst="rect">
            <a:avLst/>
          </a:prstGeom>
        </p:spPr>
        <p:txBody>
          <a:bodyPr wrap="square" lIns="0" tIns="0" rIns="0" bIns="0" rtlCol="0" anchor="t">
            <a:spAutoFit/>
          </a:bodyPr>
          <a:lstStyle/>
          <a:p>
            <a:pPr algn="ctr">
              <a:lnSpc>
                <a:spcPts val="2800"/>
              </a:lnSpc>
              <a:spcBef>
                <a:spcPct val="0"/>
              </a:spcBef>
            </a:pPr>
            <a:r>
              <a:rPr lang="en-US" sz="2000" dirty="0">
                <a:solidFill>
                  <a:srgbClr val="000000"/>
                </a:solidFill>
                <a:latin typeface="Rounded M+"/>
                <a:ea typeface="Rounded M+"/>
                <a:cs typeface="Rounded M+"/>
                <a:sym typeface="Rounded M+"/>
              </a:rPr>
              <a:t>▲テンポの揺らぎ(イメージ)</a:t>
            </a:r>
          </a:p>
        </p:txBody>
      </p:sp>
      <p:cxnSp>
        <p:nvCxnSpPr>
          <p:cNvPr id="43" name="直線コネクタ 42">
            <a:extLst>
              <a:ext uri="{FF2B5EF4-FFF2-40B4-BE49-F238E27FC236}">
                <a16:creationId xmlns:a16="http://schemas.microsoft.com/office/drawing/2014/main" id="{6615DAB3-B850-75AD-402E-217618A4A5D8}"/>
              </a:ext>
            </a:extLst>
          </p:cNvPr>
          <p:cNvCxnSpPr>
            <a:cxnSpLocks/>
          </p:cNvCxnSpPr>
          <p:nvPr/>
        </p:nvCxnSpPr>
        <p:spPr>
          <a:xfrm>
            <a:off x="13918351" y="3661410"/>
            <a:ext cx="0" cy="411549"/>
          </a:xfrm>
          <a:prstGeom prst="line">
            <a:avLst/>
          </a:prstGeom>
          <a:ln w="57150"/>
        </p:spPr>
        <p:style>
          <a:lnRef idx="1">
            <a:schemeClr val="accent6"/>
          </a:lnRef>
          <a:fillRef idx="0">
            <a:schemeClr val="accent6"/>
          </a:fillRef>
          <a:effectRef idx="0">
            <a:schemeClr val="accent6"/>
          </a:effectRef>
          <a:fontRef idx="minor">
            <a:schemeClr val="tx1"/>
          </a:fontRef>
        </p:style>
      </p:cxnSp>
      <p:sp>
        <p:nvSpPr>
          <p:cNvPr id="45" name="フローチャート: 結合子 44">
            <a:extLst>
              <a:ext uri="{FF2B5EF4-FFF2-40B4-BE49-F238E27FC236}">
                <a16:creationId xmlns:a16="http://schemas.microsoft.com/office/drawing/2014/main" id="{84C4538C-F2FB-3DF4-9215-354535C77EF3}"/>
              </a:ext>
            </a:extLst>
          </p:cNvPr>
          <p:cNvSpPr/>
          <p:nvPr/>
        </p:nvSpPr>
        <p:spPr>
          <a:xfrm>
            <a:off x="13839868" y="4047291"/>
            <a:ext cx="164608" cy="166504"/>
          </a:xfrm>
          <a:prstGeom prst="flowChartConnector">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図 19">
            <a:extLst>
              <a:ext uri="{FF2B5EF4-FFF2-40B4-BE49-F238E27FC236}">
                <a16:creationId xmlns:a16="http://schemas.microsoft.com/office/drawing/2014/main" id="{81D2D98C-B7E0-6281-7CDB-C179A8EC9E4E}"/>
              </a:ext>
            </a:extLst>
          </p:cNvPr>
          <p:cNvPicPr>
            <a:picLocks noChangeAspect="1"/>
          </p:cNvPicPr>
          <p:nvPr/>
        </p:nvPicPr>
        <p:blipFill rotWithShape="1">
          <a:blip r:embed="rId3"/>
          <a:srcRect l="1656" t="22155" r="1790" b="16683"/>
          <a:stretch/>
        </p:blipFill>
        <p:spPr>
          <a:xfrm>
            <a:off x="-292689" y="-269544"/>
            <a:ext cx="18656889" cy="10840907"/>
          </a:xfrm>
          <a:prstGeom prst="rect">
            <a:avLst/>
          </a:prstGeom>
        </p:spPr>
      </p:pic>
      <p:sp>
        <p:nvSpPr>
          <p:cNvPr id="15" name="Freeform 15"/>
          <p:cNvSpPr/>
          <p:nvPr/>
        </p:nvSpPr>
        <p:spPr>
          <a:xfrm>
            <a:off x="10497980" y="1713748"/>
            <a:ext cx="6761320" cy="3870856"/>
          </a:xfrm>
          <a:custGeom>
            <a:avLst/>
            <a:gdLst/>
            <a:ahLst/>
            <a:cxnLst/>
            <a:rect l="l" t="t" r="r" b="b"/>
            <a:pathLst>
              <a:path w="6761320" h="3870856">
                <a:moveTo>
                  <a:pt x="0" y="0"/>
                </a:moveTo>
                <a:lnTo>
                  <a:pt x="6761320" y="0"/>
                </a:lnTo>
                <a:lnTo>
                  <a:pt x="6761320" y="3870856"/>
                </a:lnTo>
                <a:lnTo>
                  <a:pt x="0" y="3870856"/>
                </a:lnTo>
                <a:lnTo>
                  <a:pt x="0" y="0"/>
                </a:lnTo>
                <a:close/>
              </a:path>
            </a:pathLst>
          </a:custGeom>
          <a:blipFill>
            <a:blip r:embed="rId4"/>
            <a:stretch>
              <a:fillRect/>
            </a:stretch>
          </a:blipFill>
        </p:spPr>
      </p:sp>
      <p:sp>
        <p:nvSpPr>
          <p:cNvPr id="16" name="TextBox 16"/>
          <p:cNvSpPr txBox="1"/>
          <p:nvPr/>
        </p:nvSpPr>
        <p:spPr>
          <a:xfrm>
            <a:off x="1292961" y="2525081"/>
            <a:ext cx="14632839" cy="6255046"/>
          </a:xfrm>
          <a:prstGeom prst="rect">
            <a:avLst/>
          </a:prstGeom>
        </p:spPr>
        <p:txBody>
          <a:bodyPr wrap="square" lIns="0" tIns="0" rIns="0" bIns="0" rtlCol="0" anchor="t">
            <a:spAutoFit/>
          </a:bodyPr>
          <a:lstStyle/>
          <a:p>
            <a:pPr algn="l">
              <a:lnSpc>
                <a:spcPts val="4200"/>
              </a:lnSpc>
            </a:pPr>
            <a:r>
              <a:rPr lang="en-US" sz="3000" b="1" dirty="0">
                <a:solidFill>
                  <a:srgbClr val="000000"/>
                </a:solidFill>
                <a:latin typeface="Rounded M+ Bold"/>
                <a:ea typeface="Rounded M+ Bold"/>
                <a:cs typeface="Rounded M+ Bold"/>
                <a:sym typeface="Rounded M+ Bold"/>
              </a:rPr>
              <a:t>演奏表現デザイン環境：Mixtract</a:t>
            </a:r>
            <a:r>
              <a:rPr lang="en-US" sz="3000" dirty="0">
                <a:solidFill>
                  <a:srgbClr val="000000"/>
                </a:solidFill>
                <a:latin typeface="Rounded M+"/>
                <a:ea typeface="Rounded M+"/>
                <a:cs typeface="Rounded M+"/>
                <a:sym typeface="Rounded M+"/>
              </a:rPr>
              <a:t> [橋田 et al, 2004]</a:t>
            </a:r>
          </a:p>
          <a:p>
            <a:pPr algn="l">
              <a:lnSpc>
                <a:spcPts val="2800"/>
              </a:lnSpc>
            </a:pPr>
            <a:endParaRPr lang="en-US" sz="3000" dirty="0">
              <a:solidFill>
                <a:srgbClr val="000000"/>
              </a:solidFill>
              <a:latin typeface="Rounded M+"/>
              <a:ea typeface="Rounded M+"/>
              <a:cs typeface="Rounded M+"/>
              <a:sym typeface="Rounded M+"/>
            </a:endParaRPr>
          </a:p>
          <a:p>
            <a:pPr algn="l">
              <a:lnSpc>
                <a:spcPts val="4200"/>
              </a:lnSpc>
            </a:pPr>
            <a:r>
              <a:rPr lang="en-US" sz="3000" dirty="0">
                <a:solidFill>
                  <a:srgbClr val="000000"/>
                </a:solidFill>
                <a:latin typeface="Rounded M+"/>
                <a:ea typeface="Rounded M+"/>
                <a:cs typeface="Rounded M+"/>
                <a:sym typeface="Rounded M+"/>
              </a:rPr>
              <a:t>・</a:t>
            </a:r>
            <a:r>
              <a:rPr lang="en-US" sz="3000" dirty="0" err="1">
                <a:solidFill>
                  <a:srgbClr val="000000"/>
                </a:solidFill>
                <a:latin typeface="Rounded M+"/>
                <a:ea typeface="Rounded M+"/>
                <a:cs typeface="Rounded M+"/>
                <a:sym typeface="Rounded M+"/>
              </a:rPr>
              <a:t>ユーザが主体的にフレーズ構造や頂点を決定する</a:t>
            </a:r>
            <a:endParaRPr lang="en-US" sz="3000" dirty="0">
              <a:solidFill>
                <a:srgbClr val="000000"/>
              </a:solidFill>
              <a:latin typeface="Rounded M+"/>
              <a:ea typeface="Rounded M+"/>
              <a:cs typeface="Rounded M+"/>
              <a:sym typeface="Rounded M+"/>
            </a:endParaRPr>
          </a:p>
          <a:p>
            <a:pPr>
              <a:lnSpc>
                <a:spcPts val="4200"/>
              </a:lnSpc>
            </a:pPr>
            <a:r>
              <a:rPr lang="ja-JP" altLang="en-US" sz="3000" dirty="0">
                <a:solidFill>
                  <a:srgbClr val="000000"/>
                </a:solidFill>
                <a:latin typeface="Rounded M+"/>
                <a:ea typeface="Rounded M+"/>
                <a:cs typeface="Rounded M+"/>
                <a:sym typeface="Rounded M+"/>
              </a:rPr>
              <a:t>・</a:t>
            </a:r>
            <a:r>
              <a:rPr lang="en-US" altLang="ja-JP" sz="3000" dirty="0">
                <a:solidFill>
                  <a:srgbClr val="000000"/>
                </a:solidFill>
                <a:latin typeface="Rounded M+"/>
                <a:ea typeface="Rounded M+"/>
                <a:cs typeface="Rounded M+"/>
                <a:sym typeface="Rounded M+"/>
              </a:rPr>
              <a:t>「</a:t>
            </a:r>
            <a:r>
              <a:rPr lang="en-US" altLang="ja-JP" sz="3000" dirty="0" err="1">
                <a:solidFill>
                  <a:srgbClr val="000000"/>
                </a:solidFill>
                <a:latin typeface="Rounded M+"/>
                <a:ea typeface="Rounded M+"/>
                <a:cs typeface="Rounded M+"/>
                <a:sym typeface="Rounded M+"/>
              </a:rPr>
              <a:t>構造の決定→聴取→修正」を繰り返す</a:t>
            </a:r>
            <a:endParaRPr lang="en-US" sz="3000" dirty="0">
              <a:solidFill>
                <a:srgbClr val="000000"/>
              </a:solidFill>
              <a:latin typeface="Rounded M+"/>
              <a:ea typeface="Rounded M+"/>
              <a:cs typeface="Rounded M+"/>
              <a:sym typeface="Rounded M+"/>
            </a:endParaRPr>
          </a:p>
          <a:p>
            <a:pPr algn="l">
              <a:lnSpc>
                <a:spcPts val="4200"/>
              </a:lnSpc>
            </a:pPr>
            <a:r>
              <a:rPr lang="en-US" sz="3000" dirty="0">
                <a:solidFill>
                  <a:srgbClr val="000000"/>
                </a:solidFill>
                <a:latin typeface="Rounded M+"/>
                <a:ea typeface="Rounded M+"/>
                <a:cs typeface="Rounded M+"/>
                <a:sym typeface="Rounded M+"/>
              </a:rPr>
              <a:t>・</a:t>
            </a:r>
            <a:r>
              <a:rPr lang="en-US" sz="3000" dirty="0">
                <a:solidFill>
                  <a:srgbClr val="5170FF"/>
                </a:solidFill>
                <a:latin typeface="Rounded M+"/>
                <a:ea typeface="Rounded M+"/>
                <a:cs typeface="Rounded M+"/>
                <a:sym typeface="Rounded M+"/>
              </a:rPr>
              <a:t>ピアノを想定した</a:t>
            </a:r>
            <a:r>
              <a:rPr lang="en-US" sz="3000" b="1" dirty="0">
                <a:solidFill>
                  <a:srgbClr val="5170FF"/>
                </a:solidFill>
                <a:latin typeface="Rounded M+ Bold"/>
                <a:ea typeface="Rounded M+ Bold"/>
                <a:cs typeface="Rounded M+ Bold"/>
                <a:sym typeface="Rounded M+ Bold"/>
              </a:rPr>
              <a:t>Velocity制御</a:t>
            </a:r>
            <a:r>
              <a:rPr lang="en-US" sz="3000" dirty="0">
                <a:solidFill>
                  <a:srgbClr val="5170FF"/>
                </a:solidFill>
                <a:latin typeface="Rounded M+"/>
                <a:ea typeface="Rounded M+"/>
                <a:cs typeface="Rounded M+"/>
                <a:sym typeface="Rounded M+"/>
              </a:rPr>
              <a:t>(打鍵の強さ)が中心</a:t>
            </a:r>
          </a:p>
          <a:p>
            <a:pPr algn="l">
              <a:lnSpc>
                <a:spcPts val="4200"/>
              </a:lnSpc>
            </a:pPr>
            <a:endParaRPr lang="en-US" sz="3000" dirty="0">
              <a:solidFill>
                <a:srgbClr val="5170FF"/>
              </a:solidFill>
              <a:latin typeface="Rounded M+"/>
              <a:ea typeface="Rounded M+"/>
              <a:cs typeface="Rounded M+"/>
              <a:sym typeface="Rounded M+"/>
            </a:endParaRPr>
          </a:p>
          <a:p>
            <a:pPr algn="l">
              <a:lnSpc>
                <a:spcPts val="4200"/>
              </a:lnSpc>
            </a:pPr>
            <a:endParaRPr lang="en-US" sz="3000" dirty="0">
              <a:solidFill>
                <a:srgbClr val="5170FF"/>
              </a:solidFill>
              <a:latin typeface="Rounded M+"/>
              <a:ea typeface="Rounded M+"/>
              <a:cs typeface="Rounded M+"/>
              <a:sym typeface="Rounded M+"/>
            </a:endParaRPr>
          </a:p>
          <a:p>
            <a:pPr algn="l">
              <a:lnSpc>
                <a:spcPts val="4200"/>
              </a:lnSpc>
            </a:pPr>
            <a:r>
              <a:rPr lang="en-US" sz="3000" dirty="0">
                <a:solidFill>
                  <a:srgbClr val="000000"/>
                </a:solidFill>
                <a:latin typeface="Rounded M+"/>
                <a:ea typeface="Rounded M+"/>
                <a:cs typeface="Rounded M+"/>
                <a:sym typeface="Rounded M+"/>
              </a:rPr>
              <a:t>【本研究のアプローチ】</a:t>
            </a:r>
          </a:p>
          <a:p>
            <a:pPr algn="l">
              <a:lnSpc>
                <a:spcPts val="4200"/>
              </a:lnSpc>
            </a:pPr>
            <a:r>
              <a:rPr lang="en-US" sz="3000" dirty="0">
                <a:solidFill>
                  <a:srgbClr val="000000"/>
                </a:solidFill>
                <a:latin typeface="Rounded M+"/>
                <a:ea typeface="Rounded M+"/>
                <a:cs typeface="Rounded M+"/>
                <a:sym typeface="Rounded M+"/>
              </a:rPr>
              <a:t>・Mixtractの思想を継承しつつ、制御対象をExpressionに変更する</a:t>
            </a:r>
          </a:p>
          <a:p>
            <a:pPr algn="l">
              <a:lnSpc>
                <a:spcPts val="4200"/>
              </a:lnSpc>
            </a:pPr>
            <a:r>
              <a:rPr lang="en-US" sz="3000" dirty="0">
                <a:solidFill>
                  <a:srgbClr val="000000"/>
                </a:solidFill>
                <a:latin typeface="Rounded M+"/>
                <a:ea typeface="Rounded M+"/>
                <a:cs typeface="Rounded M+"/>
                <a:sym typeface="Rounded M+"/>
              </a:rPr>
              <a:t>　↪ </a:t>
            </a:r>
            <a:r>
              <a:rPr lang="en-US" sz="3000" b="1" dirty="0" err="1">
                <a:solidFill>
                  <a:srgbClr val="000000"/>
                </a:solidFill>
                <a:latin typeface="Rounded M+ Bold"/>
                <a:ea typeface="Rounded M+ Bold"/>
                <a:cs typeface="Rounded M+ Bold"/>
                <a:sym typeface="Rounded M+ Bold"/>
              </a:rPr>
              <a:t>Expresson</a:t>
            </a:r>
            <a:r>
              <a:rPr lang="en-US" altLang="ja-JP" sz="3000" dirty="0">
                <a:solidFill>
                  <a:srgbClr val="000000"/>
                </a:solidFill>
                <a:latin typeface="Rounded M+ Bold"/>
                <a:ea typeface="Rounded M+ Bold"/>
                <a:cs typeface="Rounded M+ Bold"/>
                <a:sym typeface="Rounded M+ Bold"/>
              </a:rPr>
              <a:t>…</a:t>
            </a:r>
            <a:r>
              <a:rPr lang="ja-JP" altLang="en-US" sz="3000" dirty="0">
                <a:solidFill>
                  <a:srgbClr val="000000"/>
                </a:solidFill>
                <a:latin typeface="Rounded M+"/>
                <a:ea typeface="Rounded M+"/>
                <a:cs typeface="Rounded M+"/>
                <a:sym typeface="Rounded M+"/>
              </a:rPr>
              <a:t>拍より細かい単位で連続的な強弱変化ができる</a:t>
            </a:r>
            <a:r>
              <a:rPr lang="en-US" altLang="ja-JP" sz="3000" dirty="0">
                <a:solidFill>
                  <a:srgbClr val="000000"/>
                </a:solidFill>
                <a:latin typeface="Rounded M+"/>
                <a:ea typeface="Rounded M+"/>
                <a:cs typeface="Rounded M+"/>
                <a:sym typeface="Rounded M+"/>
              </a:rPr>
              <a:t>MIDI</a:t>
            </a:r>
            <a:r>
              <a:rPr lang="ja-JP" altLang="en-US" sz="3000" dirty="0">
                <a:solidFill>
                  <a:srgbClr val="000000"/>
                </a:solidFill>
                <a:latin typeface="Rounded M+"/>
                <a:ea typeface="Rounded M+"/>
                <a:cs typeface="Rounded M+"/>
                <a:sym typeface="Rounded M+"/>
              </a:rPr>
              <a:t>のパラメータ</a:t>
            </a:r>
            <a:endParaRPr lang="en-US" sz="3000" dirty="0">
              <a:solidFill>
                <a:srgbClr val="000000"/>
              </a:solidFill>
              <a:latin typeface="Rounded M+"/>
              <a:ea typeface="Rounded M+"/>
              <a:cs typeface="Rounded M+"/>
              <a:sym typeface="Rounded M+"/>
            </a:endParaRPr>
          </a:p>
          <a:p>
            <a:pPr algn="l">
              <a:lnSpc>
                <a:spcPts val="4200"/>
              </a:lnSpc>
            </a:pPr>
            <a:endParaRPr lang="en-US" sz="3000" dirty="0">
              <a:solidFill>
                <a:srgbClr val="000000"/>
              </a:solidFill>
              <a:latin typeface="Rounded M+"/>
              <a:ea typeface="Rounded M+"/>
              <a:cs typeface="Rounded M+"/>
              <a:sym typeface="Rounded M+"/>
            </a:endParaRPr>
          </a:p>
          <a:p>
            <a:pPr algn="l">
              <a:lnSpc>
                <a:spcPts val="4200"/>
              </a:lnSpc>
              <a:spcBef>
                <a:spcPct val="0"/>
              </a:spcBef>
            </a:pPr>
            <a:r>
              <a:rPr lang="ja-JP" altLang="en-US" sz="3000" dirty="0">
                <a:solidFill>
                  <a:srgbClr val="FF5050"/>
                </a:solidFill>
                <a:latin typeface="Rounded M+"/>
                <a:ea typeface="Rounded M+"/>
                <a:cs typeface="Rounded M+"/>
                <a:sym typeface="Rounded M+"/>
              </a:rPr>
              <a:t>⇒</a:t>
            </a:r>
            <a:r>
              <a:rPr lang="en-US" sz="3000" dirty="0">
                <a:solidFill>
                  <a:srgbClr val="FF5050"/>
                </a:solidFill>
                <a:latin typeface="Rounded M+"/>
                <a:ea typeface="Rounded M+"/>
                <a:cs typeface="Rounded M+"/>
                <a:sym typeface="Rounded M+"/>
              </a:rPr>
              <a:t> </a:t>
            </a:r>
            <a:r>
              <a:rPr lang="en-US" sz="3000" b="1" dirty="0">
                <a:solidFill>
                  <a:srgbClr val="FF5050"/>
                </a:solidFill>
                <a:latin typeface="Rounded M+ Bold"/>
                <a:ea typeface="Rounded M+ Bold"/>
                <a:cs typeface="Rounded M+ Bold"/>
                <a:sym typeface="Rounded M+ Bold"/>
              </a:rPr>
              <a:t>管楽器など、音の持続中に音量を変化させられる楽器の表現に対応</a:t>
            </a:r>
          </a:p>
        </p:txBody>
      </p:sp>
      <p:sp>
        <p:nvSpPr>
          <p:cNvPr id="17" name="TextBox 17"/>
          <p:cNvSpPr txBox="1"/>
          <p:nvPr/>
        </p:nvSpPr>
        <p:spPr>
          <a:xfrm>
            <a:off x="1292961" y="1142249"/>
            <a:ext cx="3048000" cy="1028700"/>
          </a:xfrm>
          <a:prstGeom prst="rect">
            <a:avLst/>
          </a:prstGeom>
        </p:spPr>
        <p:txBody>
          <a:bodyPr lIns="0" tIns="0" rIns="0" bIns="0" rtlCol="0" anchor="t">
            <a:spAutoFit/>
          </a:bodyPr>
          <a:lstStyle/>
          <a:p>
            <a:pPr algn="ctr">
              <a:lnSpc>
                <a:spcPts val="8400"/>
              </a:lnSpc>
              <a:spcBef>
                <a:spcPct val="0"/>
              </a:spcBef>
            </a:pPr>
            <a:r>
              <a:rPr lang="en-US" sz="6000">
                <a:solidFill>
                  <a:srgbClr val="000000"/>
                </a:solidFill>
                <a:latin typeface="Noto Sans JP"/>
                <a:ea typeface="Noto Sans JP"/>
                <a:cs typeface="Noto Sans JP"/>
                <a:sym typeface="Noto Sans JP"/>
              </a:rPr>
              <a:t>先行研究</a:t>
            </a:r>
          </a:p>
        </p:txBody>
      </p:sp>
      <p:sp>
        <p:nvSpPr>
          <p:cNvPr id="18" name="TextBox 18"/>
          <p:cNvSpPr txBox="1"/>
          <p:nvPr/>
        </p:nvSpPr>
        <p:spPr>
          <a:xfrm>
            <a:off x="12329430" y="5634994"/>
            <a:ext cx="3048000" cy="358775"/>
          </a:xfrm>
          <a:prstGeom prst="rect">
            <a:avLst/>
          </a:prstGeom>
        </p:spPr>
        <p:txBody>
          <a:bodyPr lIns="0" tIns="0" rIns="0" bIns="0" rtlCol="0" anchor="t">
            <a:spAutoFit/>
          </a:bodyPr>
          <a:lstStyle/>
          <a:p>
            <a:pPr algn="ctr">
              <a:lnSpc>
                <a:spcPts val="2800"/>
              </a:lnSpc>
              <a:spcBef>
                <a:spcPct val="0"/>
              </a:spcBef>
            </a:pPr>
            <a:r>
              <a:rPr lang="en-US" sz="2000">
                <a:solidFill>
                  <a:srgbClr val="000000"/>
                </a:solidFill>
                <a:latin typeface="Rounded M+"/>
                <a:ea typeface="Rounded M+"/>
                <a:cs typeface="Rounded M+"/>
                <a:sym typeface="Rounded M+"/>
              </a:rPr>
              <a:t>▲演奏表現のデザイン環境</a:t>
            </a:r>
          </a:p>
        </p:txBody>
      </p:sp>
      <p:sp>
        <p:nvSpPr>
          <p:cNvPr id="19" name="AutoShape 19"/>
          <p:cNvSpPr/>
          <p:nvPr/>
        </p:nvSpPr>
        <p:spPr>
          <a:xfrm>
            <a:off x="6248400" y="5143500"/>
            <a:ext cx="0" cy="779818"/>
          </a:xfrm>
          <a:prstGeom prst="line">
            <a:avLst/>
          </a:prstGeom>
          <a:ln w="114300" cap="flat">
            <a:solidFill>
              <a:srgbClr val="E2A9F1"/>
            </a:solidFill>
            <a:prstDash val="solid"/>
            <a:headEnd type="none" w="sm" len="sm"/>
            <a:tailEnd type="arrow" w="med" len="sm"/>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ECED22DE-39AA-9B21-6F92-DB44234C8AA3}"/>
              </a:ext>
            </a:extLst>
          </p:cNvPr>
          <p:cNvPicPr>
            <a:picLocks noChangeAspect="1"/>
          </p:cNvPicPr>
          <p:nvPr/>
        </p:nvPicPr>
        <p:blipFill rotWithShape="1">
          <a:blip r:embed="rId5"/>
          <a:srcRect l="1656" t="22155" r="1790" b="16683"/>
          <a:stretch/>
        </p:blipFill>
        <p:spPr>
          <a:xfrm>
            <a:off x="-292689" y="-269544"/>
            <a:ext cx="18656889" cy="10840907"/>
          </a:xfrm>
          <a:prstGeom prst="rect">
            <a:avLst/>
          </a:prstGeom>
        </p:spPr>
      </p:pic>
      <p:pic>
        <p:nvPicPr>
          <p:cNvPr id="15" name="Picture 1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rcRect/>
          <a:stretch>
            <a:fillRect/>
          </a:stretch>
        </p:blipFill>
        <p:spPr>
          <a:xfrm>
            <a:off x="2589125" y="2170970"/>
            <a:ext cx="13559434" cy="7627182"/>
          </a:xfrm>
          <a:prstGeom prst="rect">
            <a:avLst/>
          </a:prstGeom>
        </p:spPr>
      </p:pic>
      <p:sp>
        <p:nvSpPr>
          <p:cNvPr id="16" name="TextBox 16"/>
          <p:cNvSpPr txBox="1"/>
          <p:nvPr/>
        </p:nvSpPr>
        <p:spPr>
          <a:xfrm>
            <a:off x="1028700" y="914400"/>
            <a:ext cx="3314700" cy="1028700"/>
          </a:xfrm>
          <a:prstGeom prst="rect">
            <a:avLst/>
          </a:prstGeom>
        </p:spPr>
        <p:txBody>
          <a:bodyPr wrap="square" lIns="0" tIns="0" rIns="0" bIns="0" rtlCol="0" anchor="t">
            <a:spAutoFit/>
          </a:bodyPr>
          <a:lstStyle/>
          <a:p>
            <a:pPr algn="l">
              <a:lnSpc>
                <a:spcPts val="8400"/>
              </a:lnSpc>
              <a:spcBef>
                <a:spcPct val="0"/>
              </a:spcBef>
            </a:pPr>
            <a:r>
              <a:rPr lang="en-US" sz="6000" dirty="0">
                <a:solidFill>
                  <a:srgbClr val="000000"/>
                </a:solidFill>
                <a:latin typeface="Noto Sans JP"/>
                <a:ea typeface="Noto Sans JP"/>
                <a:cs typeface="Noto Sans JP"/>
                <a:sym typeface="Noto Sans JP"/>
              </a:rPr>
              <a:t>システム</a:t>
            </a:r>
          </a:p>
        </p:txBody>
      </p:sp>
    </p:spTree>
  </p:cSld>
  <p:clrMapOvr>
    <a:masterClrMapping/>
  </p:clrMapOvr>
  <p:timing>
    <p:tnLst>
      <p:par>
        <p:cTn id="1" dur="indefinite" restart="never" nodeType="tmRoot">
          <p:childTnLst>
            <p:video>
              <p:cMediaNode vol="100000">
                <p:cTn id="2" fill="hold" display="0">
                  <p:stCondLst>
                    <p:cond delay="indefinite"/>
                  </p:stCondLst>
                </p:cTn>
                <p:tgtEl>
                  <p:spTgt spid="15"/>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図 25">
            <a:extLst>
              <a:ext uri="{FF2B5EF4-FFF2-40B4-BE49-F238E27FC236}">
                <a16:creationId xmlns:a16="http://schemas.microsoft.com/office/drawing/2014/main" id="{DA9D5237-146F-4081-D405-543A0F061086}"/>
              </a:ext>
            </a:extLst>
          </p:cNvPr>
          <p:cNvPicPr>
            <a:picLocks noChangeAspect="1"/>
          </p:cNvPicPr>
          <p:nvPr/>
        </p:nvPicPr>
        <p:blipFill rotWithShape="1">
          <a:blip r:embed="rId3"/>
          <a:srcRect l="1656" t="22155" r="1790" b="16683"/>
          <a:stretch/>
        </p:blipFill>
        <p:spPr>
          <a:xfrm>
            <a:off x="-292689" y="-269544"/>
            <a:ext cx="18656889" cy="10840907"/>
          </a:xfrm>
          <a:prstGeom prst="rect">
            <a:avLst/>
          </a:prstGeom>
        </p:spPr>
      </p:pic>
      <p:sp>
        <p:nvSpPr>
          <p:cNvPr id="16" name="TextBox 16"/>
          <p:cNvSpPr txBox="1"/>
          <p:nvPr/>
        </p:nvSpPr>
        <p:spPr>
          <a:xfrm>
            <a:off x="1292960" y="1142249"/>
            <a:ext cx="4738883" cy="1028700"/>
          </a:xfrm>
          <a:prstGeom prst="rect">
            <a:avLst/>
          </a:prstGeom>
        </p:spPr>
        <p:txBody>
          <a:bodyPr wrap="square" lIns="0" tIns="0" rIns="0" bIns="0" rtlCol="0" anchor="t">
            <a:spAutoFit/>
          </a:bodyPr>
          <a:lstStyle/>
          <a:p>
            <a:pPr algn="l">
              <a:lnSpc>
                <a:spcPts val="8400"/>
              </a:lnSpc>
              <a:spcBef>
                <a:spcPct val="0"/>
              </a:spcBef>
            </a:pPr>
            <a:r>
              <a:rPr lang="en-US" sz="6000" dirty="0">
                <a:solidFill>
                  <a:srgbClr val="000000"/>
                </a:solidFill>
                <a:latin typeface="Noto Sans JP"/>
                <a:ea typeface="Noto Sans JP"/>
                <a:cs typeface="Noto Sans JP"/>
                <a:sym typeface="Noto Sans JP"/>
              </a:rPr>
              <a:t>システム構成</a:t>
            </a:r>
          </a:p>
        </p:txBody>
      </p:sp>
      <p:grpSp>
        <p:nvGrpSpPr>
          <p:cNvPr id="18" name="Group 18"/>
          <p:cNvGrpSpPr/>
          <p:nvPr/>
        </p:nvGrpSpPr>
        <p:grpSpPr>
          <a:xfrm>
            <a:off x="1028700" y="2255390"/>
            <a:ext cx="16469264" cy="4894965"/>
            <a:chOff x="0" y="-57150"/>
            <a:chExt cx="4388729" cy="1236334"/>
          </a:xfrm>
        </p:grpSpPr>
        <p:sp>
          <p:nvSpPr>
            <p:cNvPr id="19" name="Freeform 19"/>
            <p:cNvSpPr/>
            <p:nvPr/>
          </p:nvSpPr>
          <p:spPr>
            <a:xfrm>
              <a:off x="0" y="0"/>
              <a:ext cx="4388729" cy="1179184"/>
            </a:xfrm>
            <a:custGeom>
              <a:avLst/>
              <a:gdLst/>
              <a:ahLst/>
              <a:cxnLst/>
              <a:rect l="l" t="t" r="r" b="b"/>
              <a:pathLst>
                <a:path w="4388729" h="1179184">
                  <a:moveTo>
                    <a:pt x="0" y="0"/>
                  </a:moveTo>
                  <a:lnTo>
                    <a:pt x="4388729" y="0"/>
                  </a:lnTo>
                  <a:lnTo>
                    <a:pt x="4388729" y="1179184"/>
                  </a:lnTo>
                  <a:lnTo>
                    <a:pt x="0" y="1179184"/>
                  </a:lnTo>
                  <a:close/>
                </a:path>
              </a:pathLst>
            </a:custGeom>
            <a:solidFill>
              <a:srgbClr val="000000">
                <a:alpha val="0"/>
              </a:srgbClr>
            </a:solidFill>
            <a:ln w="19050" cap="sq">
              <a:solidFill>
                <a:srgbClr val="000000"/>
              </a:solidFill>
              <a:prstDash val="solid"/>
              <a:miter/>
            </a:ln>
          </p:spPr>
          <p:txBody>
            <a:bodyPr/>
            <a:lstStyle/>
            <a:p>
              <a:endParaRPr lang="ja-JP" altLang="en-US" dirty="0"/>
            </a:p>
          </p:txBody>
        </p:sp>
        <p:sp>
          <p:nvSpPr>
            <p:cNvPr id="20" name="TextBox 20"/>
            <p:cNvSpPr txBox="1"/>
            <p:nvPr/>
          </p:nvSpPr>
          <p:spPr>
            <a:xfrm>
              <a:off x="0" y="-57150"/>
              <a:ext cx="4388729" cy="1236334"/>
            </a:xfrm>
            <a:prstGeom prst="rect">
              <a:avLst/>
            </a:prstGeom>
          </p:spPr>
          <p:txBody>
            <a:bodyPr lIns="50800" tIns="50800" rIns="50800" bIns="50800" rtlCol="0" anchor="ctr"/>
            <a:lstStyle/>
            <a:p>
              <a:pPr algn="ctr">
                <a:lnSpc>
                  <a:spcPts val="2800"/>
                </a:lnSpc>
              </a:pPr>
              <a:endParaRPr/>
            </a:p>
          </p:txBody>
        </p:sp>
      </p:grpSp>
      <p:grpSp>
        <p:nvGrpSpPr>
          <p:cNvPr id="21" name="Group 21"/>
          <p:cNvGrpSpPr/>
          <p:nvPr/>
        </p:nvGrpSpPr>
        <p:grpSpPr>
          <a:xfrm>
            <a:off x="1456619" y="2170950"/>
            <a:ext cx="4257422" cy="621425"/>
            <a:chOff x="0" y="0"/>
            <a:chExt cx="1132590" cy="156955"/>
          </a:xfrm>
        </p:grpSpPr>
        <p:sp>
          <p:nvSpPr>
            <p:cNvPr id="22" name="Freeform 22"/>
            <p:cNvSpPr/>
            <p:nvPr/>
          </p:nvSpPr>
          <p:spPr>
            <a:xfrm>
              <a:off x="0" y="0"/>
              <a:ext cx="1132590" cy="156955"/>
            </a:xfrm>
            <a:custGeom>
              <a:avLst/>
              <a:gdLst/>
              <a:ahLst/>
              <a:cxnLst/>
              <a:rect l="l" t="t" r="r" b="b"/>
              <a:pathLst>
                <a:path w="1132590" h="156955">
                  <a:moveTo>
                    <a:pt x="0" y="0"/>
                  </a:moveTo>
                  <a:lnTo>
                    <a:pt x="1132590" y="0"/>
                  </a:lnTo>
                  <a:lnTo>
                    <a:pt x="1132590" y="156955"/>
                  </a:lnTo>
                  <a:lnTo>
                    <a:pt x="0" y="156955"/>
                  </a:lnTo>
                  <a:close/>
                </a:path>
              </a:pathLst>
            </a:custGeom>
            <a:solidFill>
              <a:srgbClr val="FFFFFF"/>
            </a:solidFill>
          </p:spPr>
        </p:sp>
        <p:sp>
          <p:nvSpPr>
            <p:cNvPr id="23" name="TextBox 23"/>
            <p:cNvSpPr txBox="1"/>
            <p:nvPr/>
          </p:nvSpPr>
          <p:spPr>
            <a:xfrm>
              <a:off x="0" y="-57150"/>
              <a:ext cx="1132590" cy="214105"/>
            </a:xfrm>
            <a:prstGeom prst="rect">
              <a:avLst/>
            </a:prstGeom>
          </p:spPr>
          <p:txBody>
            <a:bodyPr lIns="50800" tIns="50800" rIns="50800" bIns="50800" rtlCol="0" anchor="ctr"/>
            <a:lstStyle/>
            <a:p>
              <a:pPr algn="ctr">
                <a:lnSpc>
                  <a:spcPts val="2800"/>
                </a:lnSpc>
              </a:pPr>
              <a:endParaRPr/>
            </a:p>
          </p:txBody>
        </p:sp>
      </p:grpSp>
      <p:sp>
        <p:nvSpPr>
          <p:cNvPr id="25" name="TextBox 25"/>
          <p:cNvSpPr txBox="1"/>
          <p:nvPr/>
        </p:nvSpPr>
        <p:spPr>
          <a:xfrm>
            <a:off x="1028700" y="7264654"/>
            <a:ext cx="13759909" cy="2409627"/>
          </a:xfrm>
          <a:prstGeom prst="rect">
            <a:avLst/>
          </a:prstGeom>
        </p:spPr>
        <p:txBody>
          <a:bodyPr lIns="0" tIns="0" rIns="0" bIns="0" rtlCol="0" anchor="t">
            <a:spAutoFit/>
          </a:bodyPr>
          <a:lstStyle/>
          <a:p>
            <a:pPr algn="l">
              <a:lnSpc>
                <a:spcPts val="4200"/>
              </a:lnSpc>
            </a:pPr>
            <a:r>
              <a:rPr lang="en-US" sz="3000" b="1" dirty="0">
                <a:solidFill>
                  <a:srgbClr val="000000"/>
                </a:solidFill>
                <a:latin typeface="Rounded M+"/>
                <a:ea typeface="Rounded M+"/>
                <a:cs typeface="Rounded M+"/>
                <a:sym typeface="Rounded M+"/>
              </a:rPr>
              <a:t>1.</a:t>
            </a:r>
            <a:r>
              <a:rPr lang="en-US" sz="3000" b="1" dirty="0">
                <a:solidFill>
                  <a:srgbClr val="000000"/>
                </a:solidFill>
                <a:latin typeface="Rounded M+ Bold"/>
                <a:ea typeface="Rounded M+ Bold"/>
                <a:cs typeface="Rounded M+ Bold"/>
                <a:sym typeface="Rounded M+ Bold"/>
              </a:rPr>
              <a:t>楽譜(</a:t>
            </a:r>
            <a:r>
              <a:rPr lang="en-US" sz="3000" b="1" dirty="0" err="1">
                <a:solidFill>
                  <a:srgbClr val="000000"/>
                </a:solidFill>
                <a:latin typeface="Rounded M+ Bold"/>
                <a:ea typeface="Rounded M+ Bold"/>
                <a:cs typeface="Rounded M+ Bold"/>
                <a:sym typeface="Rounded M+ Bold"/>
              </a:rPr>
              <a:t>MusicXML</a:t>
            </a:r>
            <a:r>
              <a:rPr lang="en-US" sz="3000" b="1" dirty="0">
                <a:solidFill>
                  <a:srgbClr val="000000"/>
                </a:solidFill>
                <a:latin typeface="Rounded M+ Bold"/>
                <a:ea typeface="Rounded M+ Bold"/>
                <a:cs typeface="Rounded M+ Bold"/>
                <a:sym typeface="Rounded M+ Bold"/>
              </a:rPr>
              <a:t>)</a:t>
            </a:r>
            <a:r>
              <a:rPr lang="en-US" sz="3000" b="1" dirty="0" err="1">
                <a:solidFill>
                  <a:srgbClr val="000000"/>
                </a:solidFill>
                <a:latin typeface="Rounded M+ Bold"/>
                <a:ea typeface="Rounded M+ Bold"/>
                <a:cs typeface="Rounded M+ Bold"/>
                <a:sym typeface="Rounded M+ Bold"/>
              </a:rPr>
              <a:t>と演奏データ</a:t>
            </a:r>
            <a:r>
              <a:rPr lang="en-US" sz="3000" b="1" dirty="0">
                <a:solidFill>
                  <a:srgbClr val="000000"/>
                </a:solidFill>
                <a:latin typeface="Rounded M+ Bold"/>
                <a:ea typeface="Rounded M+ Bold"/>
                <a:cs typeface="Rounded M+ Bold"/>
                <a:sym typeface="Rounded M+ Bold"/>
              </a:rPr>
              <a:t>(MIDI)</a:t>
            </a:r>
            <a:r>
              <a:rPr lang="en-US" sz="3000" b="1" dirty="0" err="1">
                <a:solidFill>
                  <a:srgbClr val="000000"/>
                </a:solidFill>
                <a:latin typeface="Rounded M+ Bold"/>
                <a:ea typeface="Rounded M+ Bold"/>
                <a:cs typeface="Rounded M+ Bold"/>
                <a:sym typeface="Rounded M+ Bold"/>
              </a:rPr>
              <a:t>の異なる時間軸を対応付ける</a:t>
            </a:r>
            <a:endParaRPr lang="en-US" sz="3000" b="1" dirty="0">
              <a:solidFill>
                <a:srgbClr val="000000"/>
              </a:solidFill>
              <a:latin typeface="Rounded M+ Bold"/>
              <a:ea typeface="Rounded M+ Bold"/>
              <a:cs typeface="Rounded M+ Bold"/>
              <a:sym typeface="Rounded M+ Bold"/>
            </a:endParaRPr>
          </a:p>
          <a:p>
            <a:pPr algn="l">
              <a:lnSpc>
                <a:spcPts val="4200"/>
              </a:lnSpc>
            </a:pPr>
            <a:r>
              <a:rPr lang="en-US" sz="3000" dirty="0">
                <a:solidFill>
                  <a:srgbClr val="000000"/>
                </a:solidFill>
                <a:latin typeface="Rounded M+"/>
                <a:ea typeface="Rounded M+"/>
                <a:cs typeface="Rounded M+"/>
                <a:sym typeface="Rounded M+"/>
              </a:rPr>
              <a:t>　→ </a:t>
            </a:r>
            <a:r>
              <a:rPr lang="en-US" sz="3000" dirty="0" err="1">
                <a:solidFill>
                  <a:srgbClr val="000000"/>
                </a:solidFill>
                <a:latin typeface="Rounded M+"/>
                <a:ea typeface="Rounded M+"/>
                <a:cs typeface="Rounded M+"/>
                <a:sym typeface="Rounded M+"/>
              </a:rPr>
              <a:t>サーバー側で音符のTick情報を計算し、音符と対応させたJSONを生成</a:t>
            </a:r>
            <a:endParaRPr lang="en-US" sz="3000" dirty="0">
              <a:solidFill>
                <a:srgbClr val="000000"/>
              </a:solidFill>
              <a:latin typeface="Rounded M+"/>
              <a:ea typeface="Rounded M+"/>
              <a:cs typeface="Rounded M+"/>
              <a:sym typeface="Rounded M+"/>
            </a:endParaRPr>
          </a:p>
          <a:p>
            <a:pPr algn="l">
              <a:lnSpc>
                <a:spcPts val="2100"/>
              </a:lnSpc>
            </a:pPr>
            <a:endParaRPr lang="en-US" sz="3000" dirty="0">
              <a:solidFill>
                <a:srgbClr val="000000"/>
              </a:solidFill>
              <a:latin typeface="Rounded M+"/>
              <a:ea typeface="Rounded M+"/>
              <a:cs typeface="Rounded M+"/>
              <a:sym typeface="Rounded M+"/>
            </a:endParaRPr>
          </a:p>
          <a:p>
            <a:pPr algn="l">
              <a:lnSpc>
                <a:spcPts val="4200"/>
              </a:lnSpc>
            </a:pPr>
            <a:r>
              <a:rPr lang="en-US" sz="3000" b="1" dirty="0">
                <a:solidFill>
                  <a:srgbClr val="000000"/>
                </a:solidFill>
                <a:latin typeface="Rounded M+"/>
                <a:ea typeface="Rounded M+"/>
                <a:cs typeface="Rounded M+"/>
                <a:sym typeface="Rounded M+"/>
              </a:rPr>
              <a:t>2.</a:t>
            </a:r>
            <a:r>
              <a:rPr lang="en-US" sz="3000" b="1" dirty="0">
                <a:solidFill>
                  <a:srgbClr val="000000"/>
                </a:solidFill>
                <a:latin typeface="Rounded M+ Bold"/>
                <a:ea typeface="Rounded M+ Bold"/>
                <a:cs typeface="Rounded M+ Bold"/>
                <a:sym typeface="Rounded M+ Bold"/>
              </a:rPr>
              <a:t>クリックされた音符の特定</a:t>
            </a:r>
          </a:p>
          <a:p>
            <a:pPr algn="l">
              <a:lnSpc>
                <a:spcPts val="4200"/>
              </a:lnSpc>
              <a:spcBef>
                <a:spcPct val="0"/>
              </a:spcBef>
            </a:pPr>
            <a:r>
              <a:rPr lang="en-US" sz="3000" dirty="0">
                <a:solidFill>
                  <a:srgbClr val="000000"/>
                </a:solidFill>
                <a:latin typeface="Rounded M+"/>
                <a:ea typeface="Rounded M+"/>
                <a:cs typeface="Rounded M+"/>
                <a:sym typeface="Rounded M+"/>
              </a:rPr>
              <a:t>　→ </a:t>
            </a:r>
            <a:r>
              <a:rPr lang="en-US" sz="3000" dirty="0" err="1">
                <a:solidFill>
                  <a:srgbClr val="000000"/>
                </a:solidFill>
                <a:latin typeface="Rounded M+"/>
                <a:ea typeface="Rounded M+"/>
                <a:cs typeface="Rounded M+"/>
                <a:sym typeface="Rounded M+"/>
              </a:rPr>
              <a:t>音符のIndexを取得し、JSONを参照してMIDIを加工する</a:t>
            </a:r>
            <a:endParaRPr lang="en-US" sz="3000" dirty="0">
              <a:solidFill>
                <a:srgbClr val="000000"/>
              </a:solidFill>
              <a:latin typeface="Rounded M+"/>
              <a:ea typeface="Rounded M+"/>
              <a:cs typeface="Rounded M+"/>
              <a:sym typeface="Rounded M+"/>
            </a:endParaRPr>
          </a:p>
        </p:txBody>
      </p:sp>
      <p:pic>
        <p:nvPicPr>
          <p:cNvPr id="3" name="図 2">
            <a:extLst>
              <a:ext uri="{FF2B5EF4-FFF2-40B4-BE49-F238E27FC236}">
                <a16:creationId xmlns:a16="http://schemas.microsoft.com/office/drawing/2014/main" id="{FE4874A7-E4E2-7803-BCF7-7B5BF722286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77625" y="2799141"/>
            <a:ext cx="16173338" cy="4233874"/>
          </a:xfrm>
          <a:prstGeom prst="rect">
            <a:avLst/>
          </a:prstGeom>
        </p:spPr>
      </p:pic>
      <p:sp>
        <p:nvSpPr>
          <p:cNvPr id="24" name="TextBox 24"/>
          <p:cNvSpPr txBox="1"/>
          <p:nvPr/>
        </p:nvSpPr>
        <p:spPr>
          <a:xfrm>
            <a:off x="1290325" y="2176242"/>
            <a:ext cx="4691632" cy="543751"/>
          </a:xfrm>
          <a:prstGeom prst="rect">
            <a:avLst/>
          </a:prstGeom>
        </p:spPr>
        <p:txBody>
          <a:bodyPr lIns="0" tIns="0" rIns="0" bIns="0" rtlCol="0" anchor="t">
            <a:spAutoFit/>
          </a:bodyPr>
          <a:lstStyle/>
          <a:p>
            <a:pPr algn="l">
              <a:lnSpc>
                <a:spcPts val="4200"/>
              </a:lnSpc>
            </a:pPr>
            <a:r>
              <a:rPr lang="en-US" sz="3000" dirty="0">
                <a:solidFill>
                  <a:srgbClr val="000000"/>
                </a:solidFill>
                <a:latin typeface="Rounded M+"/>
                <a:ea typeface="Rounded M+"/>
                <a:cs typeface="Rounded M+"/>
                <a:sym typeface="Rounded M+"/>
              </a:rPr>
              <a:t>【</a:t>
            </a:r>
            <a:r>
              <a:rPr lang="en-US" sz="3000" dirty="0" err="1">
                <a:solidFill>
                  <a:srgbClr val="000000"/>
                </a:solidFill>
                <a:latin typeface="Rounded M+"/>
                <a:ea typeface="Rounded M+"/>
                <a:cs typeface="Rounded M+"/>
                <a:sym typeface="Rounded M+"/>
              </a:rPr>
              <a:t>システムの処理の流れ</a:t>
            </a:r>
            <a:r>
              <a:rPr lang="en-US" sz="3000" dirty="0">
                <a:solidFill>
                  <a:srgbClr val="000000"/>
                </a:solidFill>
                <a:latin typeface="Rounded M+"/>
                <a:ea typeface="Rounded M+"/>
                <a:cs typeface="Rounded M+"/>
                <a:sym typeface="Rounded M+"/>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図 27">
            <a:extLst>
              <a:ext uri="{FF2B5EF4-FFF2-40B4-BE49-F238E27FC236}">
                <a16:creationId xmlns:a16="http://schemas.microsoft.com/office/drawing/2014/main" id="{D2A078A6-04DD-A0AD-3383-A6403F1E1186}"/>
              </a:ext>
            </a:extLst>
          </p:cNvPr>
          <p:cNvPicPr>
            <a:picLocks noChangeAspect="1"/>
          </p:cNvPicPr>
          <p:nvPr/>
        </p:nvPicPr>
        <p:blipFill rotWithShape="1">
          <a:blip r:embed="rId3"/>
          <a:srcRect l="1656" t="22155" r="1790" b="16683"/>
          <a:stretch/>
        </p:blipFill>
        <p:spPr>
          <a:xfrm>
            <a:off x="-292689" y="-269544"/>
            <a:ext cx="18656889" cy="10840907"/>
          </a:xfrm>
          <a:prstGeom prst="rect">
            <a:avLst/>
          </a:prstGeom>
        </p:spPr>
      </p:pic>
      <p:sp>
        <p:nvSpPr>
          <p:cNvPr id="15" name="TextBox 15"/>
          <p:cNvSpPr txBox="1"/>
          <p:nvPr/>
        </p:nvSpPr>
        <p:spPr>
          <a:xfrm>
            <a:off x="1292960" y="2537537"/>
            <a:ext cx="10441837" cy="4276923"/>
          </a:xfrm>
          <a:prstGeom prst="rect">
            <a:avLst/>
          </a:prstGeom>
        </p:spPr>
        <p:txBody>
          <a:bodyPr wrap="square" lIns="0" tIns="0" rIns="0" bIns="0" rtlCol="0" anchor="t">
            <a:spAutoFit/>
          </a:bodyPr>
          <a:lstStyle/>
          <a:p>
            <a:pPr algn="l">
              <a:lnSpc>
                <a:spcPts val="4200"/>
              </a:lnSpc>
            </a:pPr>
            <a:r>
              <a:rPr lang="en-US" sz="3000" b="1" dirty="0">
                <a:solidFill>
                  <a:srgbClr val="000000"/>
                </a:solidFill>
                <a:latin typeface="Rounded M+ Bold"/>
                <a:ea typeface="Rounded M+ Bold"/>
                <a:cs typeface="Rounded M+ Bold"/>
                <a:sym typeface="Rounded M+ Bold"/>
              </a:rPr>
              <a:t>同一フレーズに異なる発想標語（演奏表現）を適用する</a:t>
            </a:r>
          </a:p>
          <a:p>
            <a:pPr algn="l">
              <a:lnSpc>
                <a:spcPts val="4200"/>
              </a:lnSpc>
            </a:pPr>
            <a:endParaRPr lang="en-US" sz="3000" b="1" dirty="0">
              <a:solidFill>
                <a:srgbClr val="000000"/>
              </a:solidFill>
              <a:latin typeface="Rounded M+ Bold"/>
              <a:ea typeface="Rounded M+ Bold"/>
              <a:cs typeface="Rounded M+ Bold"/>
              <a:sym typeface="Rounded M+ Bold"/>
            </a:endParaRPr>
          </a:p>
          <a:p>
            <a:pPr algn="l">
              <a:lnSpc>
                <a:spcPts val="4200"/>
              </a:lnSpc>
            </a:pPr>
            <a:r>
              <a:rPr lang="en-US" sz="3000" dirty="0">
                <a:solidFill>
                  <a:srgbClr val="000000"/>
                </a:solidFill>
                <a:latin typeface="Rounded M+"/>
                <a:ea typeface="Rounded M+"/>
                <a:cs typeface="Rounded M+"/>
                <a:sym typeface="Rounded M+"/>
              </a:rPr>
              <a:t>・楽曲：交響曲第9番「新世界より」第2楽章 (A.Dvorak)</a:t>
            </a:r>
          </a:p>
          <a:p>
            <a:pPr algn="l">
              <a:lnSpc>
                <a:spcPts val="4200"/>
              </a:lnSpc>
            </a:pPr>
            <a:r>
              <a:rPr lang="en-US" sz="3000" dirty="0">
                <a:solidFill>
                  <a:srgbClr val="000000"/>
                </a:solidFill>
                <a:latin typeface="Rounded M+"/>
                <a:ea typeface="Rounded M+"/>
                <a:cs typeface="Rounded M+"/>
                <a:sym typeface="Rounded M+"/>
              </a:rPr>
              <a:t>・パート：オーボエ</a:t>
            </a:r>
          </a:p>
          <a:p>
            <a:pPr algn="l">
              <a:lnSpc>
                <a:spcPts val="4200"/>
              </a:lnSpc>
            </a:pPr>
            <a:r>
              <a:rPr lang="en-US" sz="3000" dirty="0">
                <a:solidFill>
                  <a:srgbClr val="000000"/>
                </a:solidFill>
                <a:latin typeface="Rounded M+"/>
                <a:ea typeface="Rounded M+"/>
                <a:cs typeface="Rounded M+"/>
                <a:sym typeface="Rounded M+"/>
              </a:rPr>
              <a:t>・フレーズ範囲：15小節～18小節</a:t>
            </a:r>
          </a:p>
          <a:p>
            <a:pPr algn="l">
              <a:lnSpc>
                <a:spcPts val="4200"/>
              </a:lnSpc>
            </a:pPr>
            <a:r>
              <a:rPr lang="en-US" sz="3000" dirty="0">
                <a:solidFill>
                  <a:srgbClr val="000000"/>
                </a:solidFill>
                <a:latin typeface="Rounded M+"/>
                <a:ea typeface="Rounded M+"/>
                <a:cs typeface="Rounded M+"/>
                <a:sym typeface="Rounded M+"/>
              </a:rPr>
              <a:t>・頂点：17小節目4拍目</a:t>
            </a:r>
          </a:p>
          <a:p>
            <a:pPr algn="l">
              <a:lnSpc>
                <a:spcPts val="4200"/>
              </a:lnSpc>
            </a:pPr>
            <a:endParaRPr lang="en-US" sz="3000" dirty="0">
              <a:solidFill>
                <a:srgbClr val="000000"/>
              </a:solidFill>
              <a:latin typeface="Rounded M+"/>
              <a:ea typeface="Rounded M+"/>
              <a:cs typeface="Rounded M+"/>
              <a:sym typeface="Rounded M+"/>
            </a:endParaRPr>
          </a:p>
          <a:p>
            <a:pPr algn="l">
              <a:lnSpc>
                <a:spcPts val="4200"/>
              </a:lnSpc>
            </a:pPr>
            <a:r>
              <a:rPr lang="en-US" sz="3000" dirty="0">
                <a:solidFill>
                  <a:srgbClr val="000000"/>
                </a:solidFill>
                <a:latin typeface="Rounded M+"/>
                <a:ea typeface="Rounded M+"/>
                <a:cs typeface="Rounded M+"/>
                <a:sym typeface="Rounded M+"/>
              </a:rPr>
              <a:t>・適用したパラメータ</a:t>
            </a:r>
          </a:p>
        </p:txBody>
      </p:sp>
      <p:grpSp>
        <p:nvGrpSpPr>
          <p:cNvPr id="16" name="Group 16"/>
          <p:cNvGrpSpPr/>
          <p:nvPr/>
        </p:nvGrpSpPr>
        <p:grpSpPr>
          <a:xfrm>
            <a:off x="1976962" y="6984166"/>
            <a:ext cx="7167038" cy="2134252"/>
            <a:chOff x="0" y="0"/>
            <a:chExt cx="9556051" cy="2845669"/>
          </a:xfrm>
        </p:grpSpPr>
        <p:sp>
          <p:nvSpPr>
            <p:cNvPr id="17" name="Freeform 17"/>
            <p:cNvSpPr/>
            <p:nvPr/>
          </p:nvSpPr>
          <p:spPr>
            <a:xfrm>
              <a:off x="8734" y="0"/>
              <a:ext cx="9547317" cy="1674207"/>
            </a:xfrm>
            <a:custGeom>
              <a:avLst/>
              <a:gdLst/>
              <a:ahLst/>
              <a:cxnLst/>
              <a:rect l="l" t="t" r="r" b="b"/>
              <a:pathLst>
                <a:path w="9547317" h="1674207">
                  <a:moveTo>
                    <a:pt x="0" y="0"/>
                  </a:moveTo>
                  <a:lnTo>
                    <a:pt x="9547317" y="0"/>
                  </a:lnTo>
                  <a:lnTo>
                    <a:pt x="9547317" y="1674207"/>
                  </a:lnTo>
                  <a:lnTo>
                    <a:pt x="0" y="1674207"/>
                  </a:lnTo>
                  <a:lnTo>
                    <a:pt x="0" y="0"/>
                  </a:lnTo>
                  <a:close/>
                </a:path>
              </a:pathLst>
            </a:custGeom>
            <a:blipFill>
              <a:blip r:embed="rId4"/>
              <a:stretch>
                <a:fillRect b="-289201"/>
              </a:stretch>
            </a:blipFill>
          </p:spPr>
        </p:sp>
        <p:sp>
          <p:nvSpPr>
            <p:cNvPr id="18" name="Freeform 18"/>
            <p:cNvSpPr/>
            <p:nvPr/>
          </p:nvSpPr>
          <p:spPr>
            <a:xfrm>
              <a:off x="8734" y="1674207"/>
              <a:ext cx="9547317" cy="513155"/>
            </a:xfrm>
            <a:custGeom>
              <a:avLst/>
              <a:gdLst/>
              <a:ahLst/>
              <a:cxnLst/>
              <a:rect l="l" t="t" r="r" b="b"/>
              <a:pathLst>
                <a:path w="9547317" h="513155">
                  <a:moveTo>
                    <a:pt x="0" y="0"/>
                  </a:moveTo>
                  <a:lnTo>
                    <a:pt x="9547317" y="0"/>
                  </a:lnTo>
                  <a:lnTo>
                    <a:pt x="9547317" y="513155"/>
                  </a:lnTo>
                  <a:lnTo>
                    <a:pt x="0" y="513155"/>
                  </a:lnTo>
                  <a:lnTo>
                    <a:pt x="0" y="0"/>
                  </a:lnTo>
                  <a:close/>
                </a:path>
              </a:pathLst>
            </a:custGeom>
            <a:blipFill>
              <a:blip r:embed="rId4"/>
              <a:stretch>
                <a:fillRect t="-428445" b="-741355"/>
              </a:stretch>
            </a:blipFill>
          </p:spPr>
        </p:sp>
        <p:sp>
          <p:nvSpPr>
            <p:cNvPr id="19" name="Freeform 19"/>
            <p:cNvSpPr/>
            <p:nvPr/>
          </p:nvSpPr>
          <p:spPr>
            <a:xfrm>
              <a:off x="0" y="2187362"/>
              <a:ext cx="9547317" cy="543183"/>
            </a:xfrm>
            <a:custGeom>
              <a:avLst/>
              <a:gdLst/>
              <a:ahLst/>
              <a:cxnLst/>
              <a:rect l="l" t="t" r="r" b="b"/>
              <a:pathLst>
                <a:path w="9547317" h="543183">
                  <a:moveTo>
                    <a:pt x="0" y="0"/>
                  </a:moveTo>
                  <a:lnTo>
                    <a:pt x="9547317" y="0"/>
                  </a:lnTo>
                  <a:lnTo>
                    <a:pt x="9547317" y="543184"/>
                  </a:lnTo>
                  <a:lnTo>
                    <a:pt x="0" y="543184"/>
                  </a:lnTo>
                  <a:lnTo>
                    <a:pt x="0" y="0"/>
                  </a:lnTo>
                  <a:close/>
                </a:path>
              </a:pathLst>
            </a:custGeom>
            <a:blipFill>
              <a:blip r:embed="rId4"/>
              <a:stretch>
                <a:fillRect t="-603030" b="-496572"/>
              </a:stretch>
            </a:blipFill>
          </p:spPr>
        </p:sp>
        <p:sp>
          <p:nvSpPr>
            <p:cNvPr id="20" name="Freeform 20"/>
            <p:cNvSpPr/>
            <p:nvPr/>
          </p:nvSpPr>
          <p:spPr>
            <a:xfrm>
              <a:off x="8734" y="2730546"/>
              <a:ext cx="9547317" cy="115124"/>
            </a:xfrm>
            <a:custGeom>
              <a:avLst/>
              <a:gdLst/>
              <a:ahLst/>
              <a:cxnLst/>
              <a:rect l="l" t="t" r="r" b="b"/>
              <a:pathLst>
                <a:path w="9547317" h="115124">
                  <a:moveTo>
                    <a:pt x="0" y="0"/>
                  </a:moveTo>
                  <a:lnTo>
                    <a:pt x="9547317" y="0"/>
                  </a:lnTo>
                  <a:lnTo>
                    <a:pt x="9547317" y="115123"/>
                  </a:lnTo>
                  <a:lnTo>
                    <a:pt x="0" y="115123"/>
                  </a:lnTo>
                  <a:lnTo>
                    <a:pt x="0" y="0"/>
                  </a:lnTo>
                  <a:close/>
                </a:path>
              </a:pathLst>
            </a:custGeom>
            <a:blipFill>
              <a:blip r:embed="rId4"/>
              <a:stretch>
                <a:fillRect t="-5542526" b="-17498"/>
              </a:stretch>
            </a:blipFill>
          </p:spPr>
        </p:sp>
      </p:grpSp>
      <p:sp>
        <p:nvSpPr>
          <p:cNvPr id="21" name="TextBox 21"/>
          <p:cNvSpPr txBox="1"/>
          <p:nvPr/>
        </p:nvSpPr>
        <p:spPr>
          <a:xfrm>
            <a:off x="1292960" y="1142249"/>
            <a:ext cx="13870839" cy="1028722"/>
          </a:xfrm>
          <a:prstGeom prst="rect">
            <a:avLst/>
          </a:prstGeom>
        </p:spPr>
        <p:txBody>
          <a:bodyPr wrap="square" lIns="0" tIns="0" rIns="0" bIns="0" rtlCol="0" anchor="t">
            <a:spAutoFit/>
          </a:bodyPr>
          <a:lstStyle/>
          <a:p>
            <a:pPr algn="l">
              <a:lnSpc>
                <a:spcPts val="8400"/>
              </a:lnSpc>
              <a:spcBef>
                <a:spcPct val="0"/>
              </a:spcBef>
            </a:pPr>
            <a:r>
              <a:rPr lang="en-US" sz="6000" dirty="0">
                <a:solidFill>
                  <a:srgbClr val="000000"/>
                </a:solidFill>
                <a:latin typeface="Noto Sans JP"/>
                <a:ea typeface="Noto Sans JP"/>
                <a:cs typeface="Noto Sans JP"/>
                <a:sym typeface="Noto Sans JP"/>
              </a:rPr>
              <a:t>評価：発想標語によるパラメータの変化</a:t>
            </a:r>
          </a:p>
        </p:txBody>
      </p:sp>
      <p:sp>
        <p:nvSpPr>
          <p:cNvPr id="22" name="TextBox 22"/>
          <p:cNvSpPr txBox="1"/>
          <p:nvPr/>
        </p:nvSpPr>
        <p:spPr>
          <a:xfrm>
            <a:off x="12037754" y="6238283"/>
            <a:ext cx="2240280" cy="315012"/>
          </a:xfrm>
          <a:prstGeom prst="rect">
            <a:avLst/>
          </a:prstGeom>
        </p:spPr>
        <p:txBody>
          <a:bodyPr lIns="0" tIns="0" rIns="0" bIns="0" rtlCol="0" anchor="t">
            <a:spAutoFit/>
          </a:bodyPr>
          <a:lstStyle/>
          <a:p>
            <a:pPr algn="ctr">
              <a:lnSpc>
                <a:spcPts val="2481"/>
              </a:lnSpc>
              <a:spcBef>
                <a:spcPct val="0"/>
              </a:spcBef>
            </a:pPr>
            <a:r>
              <a:rPr lang="en-US" sz="1772">
                <a:solidFill>
                  <a:srgbClr val="000000"/>
                </a:solidFill>
                <a:latin typeface="Rounded M+"/>
                <a:ea typeface="Rounded M+"/>
                <a:cs typeface="Rounded M+"/>
                <a:sym typeface="Rounded M+"/>
              </a:rPr>
              <a:t>▲対象フレーズの楽譜</a:t>
            </a:r>
          </a:p>
        </p:txBody>
      </p:sp>
      <p:grpSp>
        <p:nvGrpSpPr>
          <p:cNvPr id="23" name="Group 23"/>
          <p:cNvGrpSpPr/>
          <p:nvPr/>
        </p:nvGrpSpPr>
        <p:grpSpPr>
          <a:xfrm>
            <a:off x="9320904" y="4392999"/>
            <a:ext cx="7673981" cy="1892910"/>
            <a:chOff x="0" y="-57150"/>
            <a:chExt cx="10231974" cy="2523879"/>
          </a:xfrm>
        </p:grpSpPr>
        <p:sp>
          <p:nvSpPr>
            <p:cNvPr id="24" name="Freeform 24"/>
            <p:cNvSpPr/>
            <p:nvPr/>
          </p:nvSpPr>
          <p:spPr>
            <a:xfrm>
              <a:off x="0" y="761711"/>
              <a:ext cx="10231974" cy="1705018"/>
            </a:xfrm>
            <a:custGeom>
              <a:avLst/>
              <a:gdLst/>
              <a:ahLst/>
              <a:cxnLst/>
              <a:rect l="l" t="t" r="r" b="b"/>
              <a:pathLst>
                <a:path w="10231974" h="1705018">
                  <a:moveTo>
                    <a:pt x="0" y="0"/>
                  </a:moveTo>
                  <a:lnTo>
                    <a:pt x="10231974" y="0"/>
                  </a:lnTo>
                  <a:lnTo>
                    <a:pt x="10231974" y="1705018"/>
                  </a:lnTo>
                  <a:lnTo>
                    <a:pt x="0" y="1705018"/>
                  </a:lnTo>
                  <a:lnTo>
                    <a:pt x="0" y="0"/>
                  </a:lnTo>
                  <a:close/>
                </a:path>
              </a:pathLst>
            </a:custGeom>
            <a:blipFill>
              <a:blip r:embed="rId5"/>
              <a:stretch>
                <a:fillRect l="-991"/>
              </a:stretch>
            </a:blipFill>
          </p:spPr>
        </p:sp>
        <p:sp>
          <p:nvSpPr>
            <p:cNvPr id="26" name="TextBox 26"/>
            <p:cNvSpPr txBox="1"/>
            <p:nvPr/>
          </p:nvSpPr>
          <p:spPr>
            <a:xfrm>
              <a:off x="6677008" y="-57150"/>
              <a:ext cx="866166" cy="514090"/>
            </a:xfrm>
            <a:prstGeom prst="rect">
              <a:avLst/>
            </a:prstGeom>
          </p:spPr>
          <p:txBody>
            <a:bodyPr lIns="0" tIns="0" rIns="0" bIns="0" rtlCol="0" anchor="t">
              <a:spAutoFit/>
            </a:bodyPr>
            <a:lstStyle/>
            <a:p>
              <a:pPr algn="ctr">
                <a:lnSpc>
                  <a:spcPts val="3161"/>
                </a:lnSpc>
                <a:spcBef>
                  <a:spcPct val="0"/>
                </a:spcBef>
              </a:pPr>
              <a:r>
                <a:rPr lang="en-US" sz="2258" dirty="0">
                  <a:solidFill>
                    <a:srgbClr val="FF5050"/>
                  </a:solidFill>
                  <a:latin typeface="Rounded M+"/>
                  <a:ea typeface="Rounded M+"/>
                  <a:cs typeface="Rounded M+"/>
                  <a:sym typeface="Rounded M+"/>
                </a:rPr>
                <a:t>頂点</a:t>
              </a:r>
            </a:p>
          </p:txBody>
        </p:sp>
      </p:grpSp>
      <p:sp>
        <p:nvSpPr>
          <p:cNvPr id="27" name="TextBox 27"/>
          <p:cNvSpPr txBox="1"/>
          <p:nvPr/>
        </p:nvSpPr>
        <p:spPr>
          <a:xfrm>
            <a:off x="9677400" y="8926635"/>
            <a:ext cx="7673981" cy="711299"/>
          </a:xfrm>
          <a:prstGeom prst="rect">
            <a:avLst/>
          </a:prstGeom>
        </p:spPr>
        <p:txBody>
          <a:bodyPr wrap="square" lIns="0" tIns="0" rIns="0" bIns="0" rtlCol="0" anchor="t">
            <a:spAutoFit/>
          </a:bodyPr>
          <a:lstStyle/>
          <a:p>
            <a:pPr algn="l">
              <a:lnSpc>
                <a:spcPts val="2800"/>
              </a:lnSpc>
              <a:spcBef>
                <a:spcPct val="0"/>
              </a:spcBef>
            </a:pPr>
            <a:r>
              <a:rPr lang="en-US" sz="2000" dirty="0">
                <a:solidFill>
                  <a:srgbClr val="000000"/>
                </a:solidFill>
                <a:latin typeface="Rounded M+"/>
                <a:ea typeface="Rounded M+"/>
                <a:cs typeface="Rounded M+"/>
                <a:sym typeface="Rounded M+"/>
              </a:rPr>
              <a:t>楽譜：Symphony No. 9 in E Minor, by A. Dvoˇrak´ (1841–1904), </a:t>
            </a:r>
          </a:p>
          <a:p>
            <a:pPr algn="l">
              <a:lnSpc>
                <a:spcPts val="2800"/>
              </a:lnSpc>
              <a:spcBef>
                <a:spcPct val="0"/>
              </a:spcBef>
            </a:pPr>
            <a:r>
              <a:rPr lang="en-US" sz="2000" dirty="0">
                <a:solidFill>
                  <a:srgbClr val="000000"/>
                </a:solidFill>
                <a:latin typeface="Rounded M+"/>
                <a:ea typeface="Rounded M+"/>
                <a:cs typeface="Rounded M+"/>
                <a:sym typeface="Rounded M+"/>
              </a:rPr>
              <a:t>https://www.mutopiaproject.org/cgibin/pieceinfo.cgi?id=1793.</a:t>
            </a:r>
          </a:p>
        </p:txBody>
      </p:sp>
      <p:cxnSp>
        <p:nvCxnSpPr>
          <p:cNvPr id="30" name="直線コネクタ 29">
            <a:extLst>
              <a:ext uri="{FF2B5EF4-FFF2-40B4-BE49-F238E27FC236}">
                <a16:creationId xmlns:a16="http://schemas.microsoft.com/office/drawing/2014/main" id="{F1E4FEB8-2A82-4B8B-9878-178770DAC766}"/>
              </a:ext>
            </a:extLst>
          </p:cNvPr>
          <p:cNvCxnSpPr>
            <a:cxnSpLocks/>
          </p:cNvCxnSpPr>
          <p:nvPr/>
        </p:nvCxnSpPr>
        <p:spPr>
          <a:xfrm>
            <a:off x="14648601" y="4861560"/>
            <a:ext cx="0" cy="411549"/>
          </a:xfrm>
          <a:prstGeom prst="line">
            <a:avLst/>
          </a:prstGeom>
          <a:ln w="57150">
            <a:solidFill>
              <a:srgbClr val="FF5050"/>
            </a:solidFill>
          </a:ln>
        </p:spPr>
        <p:style>
          <a:lnRef idx="1">
            <a:schemeClr val="accent6"/>
          </a:lnRef>
          <a:fillRef idx="0">
            <a:schemeClr val="accent6"/>
          </a:fillRef>
          <a:effectRef idx="0">
            <a:schemeClr val="accent6"/>
          </a:effectRef>
          <a:fontRef idx="minor">
            <a:schemeClr val="tx1"/>
          </a:fontRef>
        </p:style>
      </p:cxnSp>
      <p:sp>
        <p:nvSpPr>
          <p:cNvPr id="31" name="フローチャート: 結合子 30">
            <a:extLst>
              <a:ext uri="{FF2B5EF4-FFF2-40B4-BE49-F238E27FC236}">
                <a16:creationId xmlns:a16="http://schemas.microsoft.com/office/drawing/2014/main" id="{E767847D-3BB6-2F1B-F899-37A16A62A496}"/>
              </a:ext>
            </a:extLst>
          </p:cNvPr>
          <p:cNvSpPr/>
          <p:nvPr/>
        </p:nvSpPr>
        <p:spPr>
          <a:xfrm>
            <a:off x="14570118" y="5247441"/>
            <a:ext cx="164608" cy="166504"/>
          </a:xfrm>
          <a:prstGeom prst="flowChartConnector">
            <a:avLst/>
          </a:prstGeom>
          <a:solidFill>
            <a:srgbClr val="FF5050"/>
          </a:solidFill>
          <a:ln>
            <a:solidFill>
              <a:srgbClr val="FF505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図 25">
            <a:extLst>
              <a:ext uri="{FF2B5EF4-FFF2-40B4-BE49-F238E27FC236}">
                <a16:creationId xmlns:a16="http://schemas.microsoft.com/office/drawing/2014/main" id="{87BF63B3-B544-D972-F898-ADB5A570445F}"/>
              </a:ext>
            </a:extLst>
          </p:cNvPr>
          <p:cNvPicPr>
            <a:picLocks noChangeAspect="1"/>
          </p:cNvPicPr>
          <p:nvPr/>
        </p:nvPicPr>
        <p:blipFill rotWithShape="1">
          <a:blip r:embed="rId3"/>
          <a:srcRect l="1656" t="22155" r="1790" b="16683"/>
          <a:stretch/>
        </p:blipFill>
        <p:spPr>
          <a:xfrm>
            <a:off x="-292689" y="-269544"/>
            <a:ext cx="18656889" cy="10840907"/>
          </a:xfrm>
          <a:prstGeom prst="rect">
            <a:avLst/>
          </a:prstGeom>
        </p:spPr>
      </p:pic>
      <p:grpSp>
        <p:nvGrpSpPr>
          <p:cNvPr id="15" name="Group 15"/>
          <p:cNvGrpSpPr/>
          <p:nvPr/>
        </p:nvGrpSpPr>
        <p:grpSpPr>
          <a:xfrm>
            <a:off x="11094743" y="2623262"/>
            <a:ext cx="6492192" cy="1933292"/>
            <a:chOff x="0" y="0"/>
            <a:chExt cx="8656256" cy="2577722"/>
          </a:xfrm>
        </p:grpSpPr>
        <p:sp>
          <p:nvSpPr>
            <p:cNvPr id="16" name="Freeform 16"/>
            <p:cNvSpPr/>
            <p:nvPr/>
          </p:nvSpPr>
          <p:spPr>
            <a:xfrm>
              <a:off x="7912" y="0"/>
              <a:ext cx="8648344" cy="1516564"/>
            </a:xfrm>
            <a:custGeom>
              <a:avLst/>
              <a:gdLst/>
              <a:ahLst/>
              <a:cxnLst/>
              <a:rect l="l" t="t" r="r" b="b"/>
              <a:pathLst>
                <a:path w="8648344" h="1516564">
                  <a:moveTo>
                    <a:pt x="0" y="0"/>
                  </a:moveTo>
                  <a:lnTo>
                    <a:pt x="8648344" y="0"/>
                  </a:lnTo>
                  <a:lnTo>
                    <a:pt x="8648344" y="1516564"/>
                  </a:lnTo>
                  <a:lnTo>
                    <a:pt x="0" y="1516564"/>
                  </a:lnTo>
                  <a:lnTo>
                    <a:pt x="0" y="0"/>
                  </a:lnTo>
                  <a:close/>
                </a:path>
              </a:pathLst>
            </a:custGeom>
            <a:blipFill>
              <a:blip r:embed="rId4"/>
              <a:stretch>
                <a:fillRect b="-289201"/>
              </a:stretch>
            </a:blipFill>
          </p:spPr>
        </p:sp>
        <p:sp>
          <p:nvSpPr>
            <p:cNvPr id="17" name="Freeform 17"/>
            <p:cNvSpPr/>
            <p:nvPr/>
          </p:nvSpPr>
          <p:spPr>
            <a:xfrm>
              <a:off x="7912" y="1516564"/>
              <a:ext cx="8648344" cy="464836"/>
            </a:xfrm>
            <a:custGeom>
              <a:avLst/>
              <a:gdLst/>
              <a:ahLst/>
              <a:cxnLst/>
              <a:rect l="l" t="t" r="r" b="b"/>
              <a:pathLst>
                <a:path w="8648344" h="464836">
                  <a:moveTo>
                    <a:pt x="0" y="0"/>
                  </a:moveTo>
                  <a:lnTo>
                    <a:pt x="8648344" y="0"/>
                  </a:lnTo>
                  <a:lnTo>
                    <a:pt x="8648344" y="464837"/>
                  </a:lnTo>
                  <a:lnTo>
                    <a:pt x="0" y="464837"/>
                  </a:lnTo>
                  <a:lnTo>
                    <a:pt x="0" y="0"/>
                  </a:lnTo>
                  <a:close/>
                </a:path>
              </a:pathLst>
            </a:custGeom>
            <a:blipFill>
              <a:blip r:embed="rId4"/>
              <a:stretch>
                <a:fillRect t="-428445" b="-741355"/>
              </a:stretch>
            </a:blipFill>
          </p:spPr>
        </p:sp>
        <p:sp>
          <p:nvSpPr>
            <p:cNvPr id="18" name="Freeform 18"/>
            <p:cNvSpPr/>
            <p:nvPr/>
          </p:nvSpPr>
          <p:spPr>
            <a:xfrm>
              <a:off x="0" y="1981401"/>
              <a:ext cx="8648344" cy="492037"/>
            </a:xfrm>
            <a:custGeom>
              <a:avLst/>
              <a:gdLst/>
              <a:ahLst/>
              <a:cxnLst/>
              <a:rect l="l" t="t" r="r" b="b"/>
              <a:pathLst>
                <a:path w="8648344" h="492037">
                  <a:moveTo>
                    <a:pt x="0" y="0"/>
                  </a:moveTo>
                  <a:lnTo>
                    <a:pt x="8648344" y="0"/>
                  </a:lnTo>
                  <a:lnTo>
                    <a:pt x="8648344" y="492037"/>
                  </a:lnTo>
                  <a:lnTo>
                    <a:pt x="0" y="492037"/>
                  </a:lnTo>
                  <a:lnTo>
                    <a:pt x="0" y="0"/>
                  </a:lnTo>
                  <a:close/>
                </a:path>
              </a:pathLst>
            </a:custGeom>
            <a:blipFill>
              <a:blip r:embed="rId4"/>
              <a:stretch>
                <a:fillRect t="-603030" b="-496572"/>
              </a:stretch>
            </a:blipFill>
          </p:spPr>
        </p:sp>
        <p:sp>
          <p:nvSpPr>
            <p:cNvPr id="19" name="Freeform 19"/>
            <p:cNvSpPr/>
            <p:nvPr/>
          </p:nvSpPr>
          <p:spPr>
            <a:xfrm>
              <a:off x="7912" y="2473438"/>
              <a:ext cx="8648344" cy="104284"/>
            </a:xfrm>
            <a:custGeom>
              <a:avLst/>
              <a:gdLst/>
              <a:ahLst/>
              <a:cxnLst/>
              <a:rect l="l" t="t" r="r" b="b"/>
              <a:pathLst>
                <a:path w="8648344" h="104284">
                  <a:moveTo>
                    <a:pt x="0" y="0"/>
                  </a:moveTo>
                  <a:lnTo>
                    <a:pt x="8648344" y="0"/>
                  </a:lnTo>
                  <a:lnTo>
                    <a:pt x="8648344" y="104284"/>
                  </a:lnTo>
                  <a:lnTo>
                    <a:pt x="0" y="104284"/>
                  </a:lnTo>
                  <a:lnTo>
                    <a:pt x="0" y="0"/>
                  </a:lnTo>
                  <a:close/>
                </a:path>
              </a:pathLst>
            </a:custGeom>
            <a:blipFill>
              <a:blip r:embed="rId4"/>
              <a:stretch>
                <a:fillRect t="-5542526" b="-17498"/>
              </a:stretch>
            </a:blipFill>
          </p:spPr>
        </p:sp>
      </p:grpSp>
      <p:sp>
        <p:nvSpPr>
          <p:cNvPr id="20" name="Freeform 20"/>
          <p:cNvSpPr/>
          <p:nvPr/>
        </p:nvSpPr>
        <p:spPr>
          <a:xfrm>
            <a:off x="540937" y="5347409"/>
            <a:ext cx="7902143" cy="4385689"/>
          </a:xfrm>
          <a:custGeom>
            <a:avLst/>
            <a:gdLst/>
            <a:ahLst/>
            <a:cxnLst/>
            <a:rect l="l" t="t" r="r" b="b"/>
            <a:pathLst>
              <a:path w="7902143" h="4385689">
                <a:moveTo>
                  <a:pt x="0" y="0"/>
                </a:moveTo>
                <a:lnTo>
                  <a:pt x="7902143" y="0"/>
                </a:lnTo>
                <a:lnTo>
                  <a:pt x="7902143" y="4385689"/>
                </a:lnTo>
                <a:lnTo>
                  <a:pt x="0" y="4385689"/>
                </a:lnTo>
                <a:lnTo>
                  <a:pt x="0" y="0"/>
                </a:lnTo>
                <a:close/>
              </a:path>
            </a:pathLst>
          </a:custGeom>
          <a:blipFill>
            <a:blip r:embed="rId5"/>
            <a:stretch>
              <a:fillRect/>
            </a:stretch>
          </a:blipFill>
        </p:spPr>
      </p:sp>
      <p:sp>
        <p:nvSpPr>
          <p:cNvPr id="21" name="Freeform 21"/>
          <p:cNvSpPr/>
          <p:nvPr/>
        </p:nvSpPr>
        <p:spPr>
          <a:xfrm>
            <a:off x="8584399" y="5347409"/>
            <a:ext cx="9002536" cy="4028635"/>
          </a:xfrm>
          <a:custGeom>
            <a:avLst/>
            <a:gdLst/>
            <a:ahLst/>
            <a:cxnLst/>
            <a:rect l="l" t="t" r="r" b="b"/>
            <a:pathLst>
              <a:path w="9002536" h="4028635">
                <a:moveTo>
                  <a:pt x="0" y="0"/>
                </a:moveTo>
                <a:lnTo>
                  <a:pt x="9002536" y="0"/>
                </a:lnTo>
                <a:lnTo>
                  <a:pt x="9002536" y="4028635"/>
                </a:lnTo>
                <a:lnTo>
                  <a:pt x="0" y="4028635"/>
                </a:lnTo>
                <a:lnTo>
                  <a:pt x="0" y="0"/>
                </a:lnTo>
                <a:close/>
              </a:path>
            </a:pathLst>
          </a:custGeom>
          <a:blipFill>
            <a:blip r:embed="rId6"/>
            <a:stretch>
              <a:fillRect/>
            </a:stretch>
          </a:blipFill>
        </p:spPr>
      </p:sp>
      <p:sp>
        <p:nvSpPr>
          <p:cNvPr id="22" name="TextBox 22"/>
          <p:cNvSpPr txBox="1"/>
          <p:nvPr/>
        </p:nvSpPr>
        <p:spPr>
          <a:xfrm>
            <a:off x="1292961" y="2537537"/>
            <a:ext cx="9795848" cy="2143125"/>
          </a:xfrm>
          <a:prstGeom prst="rect">
            <a:avLst/>
          </a:prstGeom>
        </p:spPr>
        <p:txBody>
          <a:bodyPr wrap="square" lIns="0" tIns="0" rIns="0" bIns="0" rtlCol="0" anchor="t">
            <a:spAutoFit/>
          </a:bodyPr>
          <a:lstStyle/>
          <a:p>
            <a:pPr algn="l">
              <a:lnSpc>
                <a:spcPts val="4200"/>
              </a:lnSpc>
            </a:pPr>
            <a:r>
              <a:rPr lang="en-US" sz="3000" b="1" dirty="0" err="1">
                <a:solidFill>
                  <a:srgbClr val="000000"/>
                </a:solidFill>
                <a:latin typeface="Rounded M+ Bold"/>
                <a:ea typeface="Rounded M+ Bold"/>
                <a:cs typeface="Rounded M+ Bold"/>
                <a:sym typeface="Rounded M+ Bold"/>
              </a:rPr>
              <a:t>同一フレーズに異なる発想標語（演奏</a:t>
            </a:r>
            <a:r>
              <a:rPr lang="ja-JP" altLang="en-US" sz="3000" b="1" dirty="0">
                <a:solidFill>
                  <a:srgbClr val="000000"/>
                </a:solidFill>
                <a:latin typeface="Rounded M+ Bold"/>
                <a:ea typeface="Rounded M+ Bold"/>
                <a:cs typeface="Rounded M+ Bold"/>
                <a:sym typeface="Rounded M+ Bold"/>
              </a:rPr>
              <a:t>指示</a:t>
            </a:r>
            <a:r>
              <a:rPr lang="en-US" sz="3000" b="1" dirty="0">
                <a:solidFill>
                  <a:srgbClr val="000000"/>
                </a:solidFill>
                <a:latin typeface="Rounded M+ Bold"/>
                <a:ea typeface="Rounded M+ Bold"/>
                <a:cs typeface="Rounded M+ Bold"/>
                <a:sym typeface="Rounded M+ Bold"/>
              </a:rPr>
              <a:t>）を適用</a:t>
            </a:r>
          </a:p>
          <a:p>
            <a:pPr algn="l">
              <a:lnSpc>
                <a:spcPts val="4200"/>
              </a:lnSpc>
            </a:pPr>
            <a:r>
              <a:rPr lang="en-US" sz="3000" dirty="0">
                <a:solidFill>
                  <a:srgbClr val="000000"/>
                </a:solidFill>
                <a:latin typeface="Rounded M+"/>
                <a:ea typeface="Rounded M+"/>
                <a:cs typeface="Rounded M+"/>
                <a:sym typeface="Rounded M+"/>
              </a:rPr>
              <a:t>・Maestoso(堂々と)：強弱の山が大きく、遅延も大きい</a:t>
            </a:r>
          </a:p>
          <a:p>
            <a:pPr algn="l">
              <a:lnSpc>
                <a:spcPts val="4200"/>
              </a:lnSpc>
            </a:pPr>
            <a:r>
              <a:rPr lang="en-US" sz="3000" dirty="0">
                <a:solidFill>
                  <a:srgbClr val="000000"/>
                </a:solidFill>
                <a:latin typeface="Rounded M+"/>
                <a:ea typeface="Rounded M+"/>
                <a:cs typeface="Rounded M+"/>
                <a:sym typeface="Rounded M+"/>
              </a:rPr>
              <a:t>・Con brio(生き生きと)：発音時刻が前倒し（走り）</a:t>
            </a:r>
          </a:p>
          <a:p>
            <a:pPr algn="l">
              <a:lnSpc>
                <a:spcPts val="4200"/>
              </a:lnSpc>
            </a:pPr>
            <a:r>
              <a:rPr lang="ja-JP" altLang="en-US" sz="3000" b="1" dirty="0">
                <a:solidFill>
                  <a:srgbClr val="FF5050"/>
                </a:solidFill>
                <a:latin typeface="Rounded M+ Bold"/>
                <a:ea typeface="Rounded M+ Bold"/>
                <a:cs typeface="Rounded M+ Bold"/>
                <a:sym typeface="Rounded M+ Bold"/>
              </a:rPr>
              <a:t>⇒</a:t>
            </a:r>
            <a:r>
              <a:rPr lang="en-US" sz="3000" b="1" dirty="0">
                <a:solidFill>
                  <a:srgbClr val="FF5050"/>
                </a:solidFill>
                <a:latin typeface="Rounded M+ Bold"/>
                <a:ea typeface="Rounded M+ Bold"/>
                <a:cs typeface="Rounded M+ Bold"/>
                <a:sym typeface="Rounded M+ Bold"/>
              </a:rPr>
              <a:t> 意図した表現がパラメータとして反映されている</a:t>
            </a:r>
          </a:p>
        </p:txBody>
      </p:sp>
      <p:sp>
        <p:nvSpPr>
          <p:cNvPr id="23" name="TextBox 23"/>
          <p:cNvSpPr txBox="1"/>
          <p:nvPr/>
        </p:nvSpPr>
        <p:spPr>
          <a:xfrm>
            <a:off x="1292960" y="1142249"/>
            <a:ext cx="13870839" cy="1028722"/>
          </a:xfrm>
          <a:prstGeom prst="rect">
            <a:avLst/>
          </a:prstGeom>
        </p:spPr>
        <p:txBody>
          <a:bodyPr wrap="square" lIns="0" tIns="0" rIns="0" bIns="0" rtlCol="0" anchor="t">
            <a:spAutoFit/>
          </a:bodyPr>
          <a:lstStyle/>
          <a:p>
            <a:pPr algn="l">
              <a:lnSpc>
                <a:spcPts val="8400"/>
              </a:lnSpc>
              <a:spcBef>
                <a:spcPct val="0"/>
              </a:spcBef>
            </a:pPr>
            <a:r>
              <a:rPr lang="en-US" sz="6000" dirty="0">
                <a:solidFill>
                  <a:srgbClr val="000000"/>
                </a:solidFill>
                <a:latin typeface="Noto Sans JP"/>
                <a:ea typeface="Noto Sans JP"/>
                <a:cs typeface="Noto Sans JP"/>
                <a:sym typeface="Noto Sans JP"/>
              </a:rPr>
              <a:t>評価：発想標語によるパラメータの変化</a:t>
            </a:r>
          </a:p>
        </p:txBody>
      </p:sp>
      <p:sp>
        <p:nvSpPr>
          <p:cNvPr id="24" name="TextBox 24"/>
          <p:cNvSpPr txBox="1"/>
          <p:nvPr/>
        </p:nvSpPr>
        <p:spPr>
          <a:xfrm>
            <a:off x="3118998" y="4962169"/>
            <a:ext cx="2977001" cy="315037"/>
          </a:xfrm>
          <a:prstGeom prst="rect">
            <a:avLst/>
          </a:prstGeom>
        </p:spPr>
        <p:txBody>
          <a:bodyPr wrap="square" lIns="0" tIns="0" rIns="0" bIns="0" rtlCol="0" anchor="t">
            <a:spAutoFit/>
          </a:bodyPr>
          <a:lstStyle/>
          <a:p>
            <a:pPr algn="ctr">
              <a:lnSpc>
                <a:spcPts val="2481"/>
              </a:lnSpc>
              <a:spcBef>
                <a:spcPct val="0"/>
              </a:spcBef>
            </a:pPr>
            <a:r>
              <a:rPr lang="en-US" sz="1772" dirty="0">
                <a:solidFill>
                  <a:srgbClr val="000000"/>
                </a:solidFill>
                <a:latin typeface="Rounded M+"/>
                <a:ea typeface="Rounded M+"/>
                <a:cs typeface="Rounded M+"/>
                <a:sym typeface="Rounded M+"/>
              </a:rPr>
              <a:t>▼パラメータごとの強弱変化</a:t>
            </a:r>
          </a:p>
        </p:txBody>
      </p:sp>
      <p:sp>
        <p:nvSpPr>
          <p:cNvPr id="25" name="TextBox 25"/>
          <p:cNvSpPr txBox="1"/>
          <p:nvPr/>
        </p:nvSpPr>
        <p:spPr>
          <a:xfrm>
            <a:off x="11284452" y="4962169"/>
            <a:ext cx="3650748" cy="315037"/>
          </a:xfrm>
          <a:prstGeom prst="rect">
            <a:avLst/>
          </a:prstGeom>
        </p:spPr>
        <p:txBody>
          <a:bodyPr wrap="square" lIns="0" tIns="0" rIns="0" bIns="0" rtlCol="0" anchor="t">
            <a:spAutoFit/>
          </a:bodyPr>
          <a:lstStyle/>
          <a:p>
            <a:pPr algn="ctr">
              <a:lnSpc>
                <a:spcPts val="2481"/>
              </a:lnSpc>
              <a:spcBef>
                <a:spcPct val="0"/>
              </a:spcBef>
            </a:pPr>
            <a:r>
              <a:rPr lang="en-US" sz="1772" dirty="0">
                <a:solidFill>
                  <a:srgbClr val="000000"/>
                </a:solidFill>
                <a:latin typeface="Rounded M+"/>
                <a:ea typeface="Rounded M+"/>
                <a:cs typeface="Rounded M+"/>
                <a:sym typeface="Rounded M+"/>
              </a:rPr>
              <a:t>▼パラメータごとの発音時刻の変化</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図 33">
            <a:extLst>
              <a:ext uri="{FF2B5EF4-FFF2-40B4-BE49-F238E27FC236}">
                <a16:creationId xmlns:a16="http://schemas.microsoft.com/office/drawing/2014/main" id="{9C17D0CC-ECDD-794B-82FF-CDCD48C2FEDB}"/>
              </a:ext>
            </a:extLst>
          </p:cNvPr>
          <p:cNvPicPr>
            <a:picLocks noChangeAspect="1"/>
          </p:cNvPicPr>
          <p:nvPr/>
        </p:nvPicPr>
        <p:blipFill rotWithShape="1">
          <a:blip r:embed="rId3"/>
          <a:srcRect l="1656" t="22155" r="1790" b="16683"/>
          <a:stretch/>
        </p:blipFill>
        <p:spPr>
          <a:xfrm>
            <a:off x="-292689" y="-269544"/>
            <a:ext cx="18656889" cy="10840907"/>
          </a:xfrm>
          <a:prstGeom prst="rect">
            <a:avLst/>
          </a:prstGeom>
        </p:spPr>
      </p:pic>
      <p:sp>
        <p:nvSpPr>
          <p:cNvPr id="15" name="Freeform 15"/>
          <p:cNvSpPr/>
          <p:nvPr/>
        </p:nvSpPr>
        <p:spPr>
          <a:xfrm>
            <a:off x="9821556" y="6115332"/>
            <a:ext cx="7765734" cy="3558521"/>
          </a:xfrm>
          <a:custGeom>
            <a:avLst/>
            <a:gdLst/>
            <a:ahLst/>
            <a:cxnLst/>
            <a:rect l="l" t="t" r="r" b="b"/>
            <a:pathLst>
              <a:path w="7996897" h="3678573">
                <a:moveTo>
                  <a:pt x="0" y="0"/>
                </a:moveTo>
                <a:lnTo>
                  <a:pt x="7996897" y="0"/>
                </a:lnTo>
                <a:lnTo>
                  <a:pt x="7996897" y="3678572"/>
                </a:lnTo>
                <a:lnTo>
                  <a:pt x="0" y="3678572"/>
                </a:lnTo>
                <a:lnTo>
                  <a:pt x="0" y="0"/>
                </a:lnTo>
                <a:close/>
              </a:path>
            </a:pathLst>
          </a:custGeom>
          <a:blipFill>
            <a:blip r:embed="rId4"/>
            <a:stretch>
              <a:fillRect/>
            </a:stretch>
          </a:blipFill>
        </p:spPr>
      </p:sp>
      <p:sp>
        <p:nvSpPr>
          <p:cNvPr id="16" name="Freeform 16"/>
          <p:cNvSpPr/>
          <p:nvPr/>
        </p:nvSpPr>
        <p:spPr>
          <a:xfrm>
            <a:off x="1557221" y="4403942"/>
            <a:ext cx="10226941" cy="958776"/>
          </a:xfrm>
          <a:custGeom>
            <a:avLst/>
            <a:gdLst/>
            <a:ahLst/>
            <a:cxnLst/>
            <a:rect l="l" t="t" r="r" b="b"/>
            <a:pathLst>
              <a:path w="10226941" h="958776">
                <a:moveTo>
                  <a:pt x="0" y="0"/>
                </a:moveTo>
                <a:lnTo>
                  <a:pt x="10226941" y="0"/>
                </a:lnTo>
                <a:lnTo>
                  <a:pt x="10226941" y="958775"/>
                </a:lnTo>
                <a:lnTo>
                  <a:pt x="0" y="958775"/>
                </a:lnTo>
                <a:lnTo>
                  <a:pt x="0" y="0"/>
                </a:lnTo>
                <a:close/>
              </a:path>
            </a:pathLst>
          </a:custGeom>
          <a:blipFill>
            <a:blip r:embed="rId5"/>
            <a:stretch>
              <a:fillRect/>
            </a:stretch>
          </a:blipFill>
        </p:spPr>
      </p:sp>
      <p:sp>
        <p:nvSpPr>
          <p:cNvPr id="17" name="TextBox 17"/>
          <p:cNvSpPr txBox="1"/>
          <p:nvPr/>
        </p:nvSpPr>
        <p:spPr>
          <a:xfrm>
            <a:off x="1292961" y="2537537"/>
            <a:ext cx="10822839" cy="5357364"/>
          </a:xfrm>
          <a:prstGeom prst="rect">
            <a:avLst/>
          </a:prstGeom>
        </p:spPr>
        <p:txBody>
          <a:bodyPr wrap="square" lIns="0" tIns="0" rIns="0" bIns="0" rtlCol="0" anchor="t">
            <a:spAutoFit/>
          </a:bodyPr>
          <a:lstStyle/>
          <a:p>
            <a:pPr algn="l">
              <a:lnSpc>
                <a:spcPts val="4200"/>
              </a:lnSpc>
            </a:pPr>
            <a:r>
              <a:rPr lang="en-US" sz="3000" dirty="0">
                <a:solidFill>
                  <a:srgbClr val="000000"/>
                </a:solidFill>
                <a:latin typeface="Rounded M+"/>
                <a:ea typeface="Rounded M+"/>
                <a:cs typeface="Rounded M+"/>
                <a:sym typeface="Rounded M+"/>
              </a:rPr>
              <a:t>・</a:t>
            </a:r>
            <a:r>
              <a:rPr lang="ja-JP" altLang="en-US" sz="3000" dirty="0">
                <a:solidFill>
                  <a:srgbClr val="000000"/>
                </a:solidFill>
                <a:latin typeface="Rounded M+"/>
                <a:ea typeface="Rounded M+"/>
                <a:cs typeface="Rounded M+"/>
                <a:sym typeface="Rounded M+"/>
              </a:rPr>
              <a:t>一度適用した表現をベースに</a:t>
            </a:r>
            <a:r>
              <a:rPr lang="en-US" sz="3000" dirty="0">
                <a:solidFill>
                  <a:srgbClr val="000000"/>
                </a:solidFill>
                <a:latin typeface="Rounded M+"/>
                <a:ea typeface="Rounded M+"/>
                <a:cs typeface="Rounded M+"/>
                <a:sym typeface="Rounded M+"/>
              </a:rPr>
              <a:t>、</a:t>
            </a:r>
            <a:r>
              <a:rPr lang="ja-JP" altLang="en-US" sz="3000" b="1" dirty="0">
                <a:solidFill>
                  <a:srgbClr val="000000"/>
                </a:solidFill>
                <a:latin typeface="Rounded M+"/>
                <a:ea typeface="Rounded M+"/>
                <a:cs typeface="Rounded M+"/>
                <a:sym typeface="Rounded M+"/>
              </a:rPr>
              <a:t>新たな</a:t>
            </a:r>
            <a:r>
              <a:rPr lang="en-US" sz="3000" b="1" dirty="0">
                <a:solidFill>
                  <a:srgbClr val="000000"/>
                </a:solidFill>
                <a:latin typeface="Rounded M+ Bold"/>
                <a:ea typeface="Rounded M+ Bold"/>
                <a:cs typeface="Rounded M+ Bold"/>
                <a:sym typeface="Rounded M+ Bold"/>
              </a:rPr>
              <a:t>表現を重ねがけ</a:t>
            </a:r>
            <a:r>
              <a:rPr lang="en-US" sz="3000" dirty="0">
                <a:solidFill>
                  <a:srgbClr val="000000"/>
                </a:solidFill>
                <a:latin typeface="Rounded M+"/>
                <a:ea typeface="Rounded M+"/>
                <a:cs typeface="Rounded M+"/>
                <a:sym typeface="Rounded M+"/>
              </a:rPr>
              <a:t>する</a:t>
            </a:r>
          </a:p>
          <a:p>
            <a:pPr algn="l">
              <a:lnSpc>
                <a:spcPts val="4200"/>
              </a:lnSpc>
            </a:pPr>
            <a:r>
              <a:rPr lang="en-US" sz="3000" dirty="0">
                <a:solidFill>
                  <a:srgbClr val="000000"/>
                </a:solidFill>
                <a:latin typeface="Rounded M+"/>
                <a:ea typeface="Rounded M+"/>
                <a:cs typeface="Rounded M+"/>
                <a:sym typeface="Rounded M+"/>
              </a:rPr>
              <a:t>・対象：G線上のアリア (冒頭6小節)</a:t>
            </a:r>
          </a:p>
          <a:p>
            <a:pPr algn="l">
              <a:lnSpc>
                <a:spcPts val="4200"/>
              </a:lnSpc>
            </a:pPr>
            <a:endParaRPr lang="en-US" sz="3000" dirty="0">
              <a:solidFill>
                <a:srgbClr val="000000"/>
              </a:solidFill>
              <a:latin typeface="Rounded M+"/>
              <a:ea typeface="Rounded M+"/>
              <a:cs typeface="Rounded M+"/>
              <a:sym typeface="Rounded M+"/>
            </a:endParaRPr>
          </a:p>
          <a:p>
            <a:pPr algn="l">
              <a:lnSpc>
                <a:spcPts val="4200"/>
              </a:lnSpc>
            </a:pPr>
            <a:endParaRPr lang="en-US" sz="3000" dirty="0">
              <a:solidFill>
                <a:srgbClr val="000000"/>
              </a:solidFill>
              <a:latin typeface="Rounded M+"/>
              <a:ea typeface="Rounded M+"/>
              <a:cs typeface="Rounded M+"/>
              <a:sym typeface="Rounded M+"/>
            </a:endParaRPr>
          </a:p>
          <a:p>
            <a:pPr algn="l">
              <a:lnSpc>
                <a:spcPts val="4200"/>
              </a:lnSpc>
            </a:pPr>
            <a:endParaRPr lang="en-US" sz="3000" dirty="0">
              <a:solidFill>
                <a:srgbClr val="000000"/>
              </a:solidFill>
              <a:latin typeface="Rounded M+"/>
              <a:ea typeface="Rounded M+"/>
              <a:cs typeface="Rounded M+"/>
              <a:sym typeface="Rounded M+"/>
            </a:endParaRPr>
          </a:p>
          <a:p>
            <a:pPr algn="l">
              <a:lnSpc>
                <a:spcPts val="4200"/>
              </a:lnSpc>
            </a:pPr>
            <a:endParaRPr lang="en-US" sz="3000" dirty="0">
              <a:solidFill>
                <a:srgbClr val="000000"/>
              </a:solidFill>
              <a:latin typeface="Rounded M+"/>
              <a:ea typeface="Rounded M+"/>
              <a:cs typeface="Rounded M+"/>
              <a:sym typeface="Rounded M+"/>
            </a:endParaRPr>
          </a:p>
          <a:p>
            <a:pPr algn="l">
              <a:lnSpc>
                <a:spcPts val="4200"/>
              </a:lnSpc>
            </a:pPr>
            <a:endParaRPr lang="en-US" sz="3000" dirty="0">
              <a:solidFill>
                <a:srgbClr val="000000"/>
              </a:solidFill>
              <a:latin typeface="Rounded M+"/>
              <a:ea typeface="Rounded M+"/>
              <a:cs typeface="Rounded M+"/>
              <a:sym typeface="Rounded M+"/>
            </a:endParaRPr>
          </a:p>
          <a:p>
            <a:pPr algn="l">
              <a:lnSpc>
                <a:spcPts val="4200"/>
              </a:lnSpc>
            </a:pPr>
            <a:endParaRPr lang="en-US" sz="3000" dirty="0">
              <a:solidFill>
                <a:srgbClr val="000000"/>
              </a:solidFill>
              <a:latin typeface="Rounded M+"/>
              <a:ea typeface="Rounded M+"/>
              <a:cs typeface="Rounded M+"/>
              <a:sym typeface="Rounded M+"/>
            </a:endParaRPr>
          </a:p>
          <a:p>
            <a:pPr algn="l">
              <a:lnSpc>
                <a:spcPts val="4200"/>
              </a:lnSpc>
            </a:pPr>
            <a:r>
              <a:rPr lang="en-US" sz="3000" dirty="0">
                <a:solidFill>
                  <a:srgbClr val="000000"/>
                </a:solidFill>
                <a:latin typeface="Rounded M+"/>
                <a:ea typeface="Rounded M+"/>
                <a:cs typeface="Rounded M+"/>
                <a:sym typeface="Rounded M+"/>
              </a:rPr>
              <a:t>大きな表現の流れの上に部分的な表現を重ねる</a:t>
            </a:r>
          </a:p>
          <a:p>
            <a:pPr algn="l">
              <a:lnSpc>
                <a:spcPts val="4200"/>
              </a:lnSpc>
            </a:pPr>
            <a:r>
              <a:rPr lang="ja-JP" altLang="en-US" sz="3000" b="1" dirty="0">
                <a:solidFill>
                  <a:srgbClr val="FF5050"/>
                </a:solidFill>
                <a:latin typeface="Rounded M+ Bold"/>
                <a:ea typeface="Rounded M+ Bold"/>
                <a:cs typeface="Rounded M+ Bold"/>
                <a:sym typeface="Rounded M+ Bold"/>
              </a:rPr>
              <a:t>⇒</a:t>
            </a:r>
            <a:r>
              <a:rPr lang="en-US" sz="3000" b="1" dirty="0">
                <a:solidFill>
                  <a:srgbClr val="FF5050"/>
                </a:solidFill>
                <a:latin typeface="Rounded M+ Bold"/>
                <a:ea typeface="Rounded M+ Bold"/>
                <a:cs typeface="Rounded M+ Bold"/>
                <a:sym typeface="Rounded M+ Bold"/>
              </a:rPr>
              <a:t> 多層的で物語性のある演奏デザインが可能</a:t>
            </a:r>
          </a:p>
        </p:txBody>
      </p:sp>
      <p:sp>
        <p:nvSpPr>
          <p:cNvPr id="18" name="TextBox 18"/>
          <p:cNvSpPr txBox="1"/>
          <p:nvPr/>
        </p:nvSpPr>
        <p:spPr>
          <a:xfrm>
            <a:off x="1292961" y="1142249"/>
            <a:ext cx="12192000" cy="1028700"/>
          </a:xfrm>
          <a:prstGeom prst="rect">
            <a:avLst/>
          </a:prstGeom>
        </p:spPr>
        <p:txBody>
          <a:bodyPr lIns="0" tIns="0" rIns="0" bIns="0" rtlCol="0" anchor="t">
            <a:spAutoFit/>
          </a:bodyPr>
          <a:lstStyle/>
          <a:p>
            <a:pPr algn="l">
              <a:lnSpc>
                <a:spcPts val="8400"/>
              </a:lnSpc>
              <a:spcBef>
                <a:spcPct val="0"/>
              </a:spcBef>
            </a:pPr>
            <a:r>
              <a:rPr lang="en-US" sz="6000">
                <a:solidFill>
                  <a:srgbClr val="000000"/>
                </a:solidFill>
                <a:latin typeface="Noto Sans JP"/>
                <a:ea typeface="Noto Sans JP"/>
                <a:cs typeface="Noto Sans JP"/>
                <a:sym typeface="Noto Sans JP"/>
              </a:rPr>
              <a:t>評価：階層的な演奏表現のデザイン</a:t>
            </a:r>
          </a:p>
        </p:txBody>
      </p:sp>
      <p:sp>
        <p:nvSpPr>
          <p:cNvPr id="19" name="TextBox 19"/>
          <p:cNvSpPr txBox="1"/>
          <p:nvPr/>
        </p:nvSpPr>
        <p:spPr>
          <a:xfrm>
            <a:off x="11835695" y="5778994"/>
            <a:ext cx="3861505" cy="314993"/>
          </a:xfrm>
          <a:prstGeom prst="rect">
            <a:avLst/>
          </a:prstGeom>
        </p:spPr>
        <p:txBody>
          <a:bodyPr wrap="square" lIns="0" tIns="0" rIns="0" bIns="0" rtlCol="0" anchor="t">
            <a:spAutoFit/>
          </a:bodyPr>
          <a:lstStyle/>
          <a:p>
            <a:pPr algn="ctr">
              <a:lnSpc>
                <a:spcPts val="2481"/>
              </a:lnSpc>
              <a:spcBef>
                <a:spcPct val="0"/>
              </a:spcBef>
            </a:pPr>
            <a:r>
              <a:rPr lang="en-US" sz="1772" dirty="0">
                <a:solidFill>
                  <a:srgbClr val="000000"/>
                </a:solidFill>
                <a:latin typeface="Rounded M+"/>
                <a:ea typeface="Rounded M+"/>
                <a:cs typeface="Rounded M+"/>
                <a:sym typeface="Rounded M+"/>
              </a:rPr>
              <a:t>▼階層的表現の適用による強弱の変化</a:t>
            </a:r>
          </a:p>
        </p:txBody>
      </p:sp>
      <p:grpSp>
        <p:nvGrpSpPr>
          <p:cNvPr id="20" name="Group 20"/>
          <p:cNvGrpSpPr/>
          <p:nvPr/>
        </p:nvGrpSpPr>
        <p:grpSpPr>
          <a:xfrm>
            <a:off x="1557220" y="3833364"/>
            <a:ext cx="10226942" cy="1723710"/>
            <a:chOff x="-1" y="-47625"/>
            <a:chExt cx="13635922" cy="2298280"/>
          </a:xfrm>
        </p:grpSpPr>
        <p:grpSp>
          <p:nvGrpSpPr>
            <p:cNvPr id="21" name="Group 21"/>
            <p:cNvGrpSpPr/>
            <p:nvPr/>
          </p:nvGrpSpPr>
          <p:grpSpPr>
            <a:xfrm>
              <a:off x="0" y="713145"/>
              <a:ext cx="13635921" cy="1262478"/>
              <a:chOff x="0" y="0"/>
              <a:chExt cx="2693515" cy="249378"/>
            </a:xfrm>
          </p:grpSpPr>
          <p:sp>
            <p:nvSpPr>
              <p:cNvPr id="22" name="Freeform 22"/>
              <p:cNvSpPr/>
              <p:nvPr/>
            </p:nvSpPr>
            <p:spPr>
              <a:xfrm>
                <a:off x="0" y="0"/>
                <a:ext cx="2693515" cy="249378"/>
              </a:xfrm>
              <a:custGeom>
                <a:avLst/>
                <a:gdLst/>
                <a:ahLst/>
                <a:cxnLst/>
                <a:rect l="l" t="t" r="r" b="b"/>
                <a:pathLst>
                  <a:path w="2693515" h="249378">
                    <a:moveTo>
                      <a:pt x="0" y="0"/>
                    </a:moveTo>
                    <a:lnTo>
                      <a:pt x="2693515" y="0"/>
                    </a:lnTo>
                    <a:lnTo>
                      <a:pt x="2693515" y="249378"/>
                    </a:lnTo>
                    <a:lnTo>
                      <a:pt x="0" y="249378"/>
                    </a:lnTo>
                    <a:close/>
                  </a:path>
                </a:pathLst>
              </a:custGeom>
              <a:solidFill>
                <a:srgbClr val="000000">
                  <a:alpha val="0"/>
                </a:srgbClr>
              </a:solidFill>
              <a:ln w="28575" cap="sq">
                <a:solidFill>
                  <a:srgbClr val="FF914D"/>
                </a:solidFill>
                <a:prstDash val="solid"/>
                <a:miter/>
              </a:ln>
            </p:spPr>
          </p:sp>
          <p:sp>
            <p:nvSpPr>
              <p:cNvPr id="23" name="TextBox 23"/>
              <p:cNvSpPr txBox="1"/>
              <p:nvPr/>
            </p:nvSpPr>
            <p:spPr>
              <a:xfrm>
                <a:off x="0" y="-47625"/>
                <a:ext cx="2693515" cy="297003"/>
              </a:xfrm>
              <a:prstGeom prst="rect">
                <a:avLst/>
              </a:prstGeom>
            </p:spPr>
            <p:txBody>
              <a:bodyPr lIns="50800" tIns="50800" rIns="50800" bIns="50800" rtlCol="0" anchor="ctr"/>
              <a:lstStyle/>
              <a:p>
                <a:pPr algn="ctr">
                  <a:lnSpc>
                    <a:spcPts val="2481"/>
                  </a:lnSpc>
                </a:pPr>
                <a:endParaRPr/>
              </a:p>
            </p:txBody>
          </p:sp>
        </p:grpSp>
        <p:sp>
          <p:nvSpPr>
            <p:cNvPr id="24" name="TextBox 24"/>
            <p:cNvSpPr txBox="1"/>
            <p:nvPr/>
          </p:nvSpPr>
          <p:spPr>
            <a:xfrm>
              <a:off x="-1" y="147568"/>
              <a:ext cx="2292505" cy="451919"/>
            </a:xfrm>
            <a:prstGeom prst="rect">
              <a:avLst/>
            </a:prstGeom>
          </p:spPr>
          <p:txBody>
            <a:bodyPr wrap="square" lIns="0" tIns="0" rIns="0" bIns="0" rtlCol="0" anchor="t">
              <a:spAutoFit/>
            </a:bodyPr>
            <a:lstStyle/>
            <a:p>
              <a:pPr algn="ctr">
                <a:lnSpc>
                  <a:spcPts val="2761"/>
                </a:lnSpc>
                <a:spcBef>
                  <a:spcPct val="0"/>
                </a:spcBef>
              </a:pPr>
              <a:r>
                <a:rPr lang="en-US" sz="1972" b="1" dirty="0">
                  <a:solidFill>
                    <a:srgbClr val="FF914D"/>
                  </a:solidFill>
                  <a:latin typeface="Rounded M+ Bold"/>
                  <a:ea typeface="Rounded M+ Bold"/>
                  <a:cs typeface="Rounded M+ Bold"/>
                  <a:sym typeface="Rounded M+ Bold"/>
                </a:rPr>
                <a:t>●Dolce (甘く)</a:t>
              </a:r>
            </a:p>
          </p:txBody>
        </p:sp>
        <p:grpSp>
          <p:nvGrpSpPr>
            <p:cNvPr id="25" name="Group 25"/>
            <p:cNvGrpSpPr/>
            <p:nvPr/>
          </p:nvGrpSpPr>
          <p:grpSpPr>
            <a:xfrm>
              <a:off x="4165596" y="451798"/>
              <a:ext cx="4704807" cy="1796652"/>
              <a:chOff x="0" y="0"/>
              <a:chExt cx="929345" cy="354894"/>
            </a:xfrm>
          </p:grpSpPr>
          <p:sp>
            <p:nvSpPr>
              <p:cNvPr id="26" name="Freeform 26"/>
              <p:cNvSpPr/>
              <p:nvPr/>
            </p:nvSpPr>
            <p:spPr>
              <a:xfrm>
                <a:off x="0" y="0"/>
                <a:ext cx="929345" cy="354894"/>
              </a:xfrm>
              <a:custGeom>
                <a:avLst/>
                <a:gdLst/>
                <a:ahLst/>
                <a:cxnLst/>
                <a:rect l="l" t="t" r="r" b="b"/>
                <a:pathLst>
                  <a:path w="929345" h="354894">
                    <a:moveTo>
                      <a:pt x="0" y="0"/>
                    </a:moveTo>
                    <a:lnTo>
                      <a:pt x="929345" y="0"/>
                    </a:lnTo>
                    <a:lnTo>
                      <a:pt x="929345" y="354894"/>
                    </a:lnTo>
                    <a:lnTo>
                      <a:pt x="0" y="354894"/>
                    </a:lnTo>
                    <a:close/>
                  </a:path>
                </a:pathLst>
              </a:custGeom>
              <a:solidFill>
                <a:srgbClr val="000000">
                  <a:alpha val="0"/>
                </a:srgbClr>
              </a:solidFill>
              <a:ln w="28575" cap="sq">
                <a:solidFill>
                  <a:srgbClr val="0CC0DF"/>
                </a:solidFill>
                <a:prstDash val="solid"/>
                <a:miter/>
              </a:ln>
            </p:spPr>
          </p:sp>
          <p:sp>
            <p:nvSpPr>
              <p:cNvPr id="27" name="TextBox 27"/>
              <p:cNvSpPr txBox="1"/>
              <p:nvPr/>
            </p:nvSpPr>
            <p:spPr>
              <a:xfrm>
                <a:off x="0" y="-47625"/>
                <a:ext cx="929345" cy="402519"/>
              </a:xfrm>
              <a:prstGeom prst="rect">
                <a:avLst/>
              </a:prstGeom>
            </p:spPr>
            <p:txBody>
              <a:bodyPr lIns="50800" tIns="50800" rIns="50800" bIns="50800" rtlCol="0" anchor="ctr"/>
              <a:lstStyle/>
              <a:p>
                <a:pPr algn="ctr">
                  <a:lnSpc>
                    <a:spcPts val="2481"/>
                  </a:lnSpc>
                </a:pPr>
                <a:endParaRPr/>
              </a:p>
            </p:txBody>
          </p:sp>
        </p:grpSp>
        <p:sp>
          <p:nvSpPr>
            <p:cNvPr id="28" name="TextBox 28"/>
            <p:cNvSpPr txBox="1"/>
            <p:nvPr/>
          </p:nvSpPr>
          <p:spPr>
            <a:xfrm>
              <a:off x="4165596" y="-47625"/>
              <a:ext cx="4019709" cy="451919"/>
            </a:xfrm>
            <a:prstGeom prst="rect">
              <a:avLst/>
            </a:prstGeom>
          </p:spPr>
          <p:txBody>
            <a:bodyPr wrap="square" lIns="0" tIns="0" rIns="0" bIns="0" rtlCol="0" anchor="t">
              <a:spAutoFit/>
            </a:bodyPr>
            <a:lstStyle/>
            <a:p>
              <a:pPr algn="ctr">
                <a:lnSpc>
                  <a:spcPts val="2761"/>
                </a:lnSpc>
                <a:spcBef>
                  <a:spcPct val="0"/>
                </a:spcBef>
              </a:pPr>
              <a:r>
                <a:rPr lang="en-US" sz="1972" b="1" dirty="0">
                  <a:solidFill>
                    <a:srgbClr val="0CC0DF"/>
                  </a:solidFill>
                  <a:latin typeface="Rounded M+ Bold"/>
                  <a:ea typeface="Rounded M+ Bold"/>
                  <a:cs typeface="Rounded M+ Bold"/>
                  <a:sym typeface="Rounded M+ Bold"/>
                </a:rPr>
                <a:t>●Cantabile (歌うように)</a:t>
              </a:r>
            </a:p>
          </p:txBody>
        </p:sp>
        <p:grpSp>
          <p:nvGrpSpPr>
            <p:cNvPr id="29" name="Group 29"/>
            <p:cNvGrpSpPr/>
            <p:nvPr/>
          </p:nvGrpSpPr>
          <p:grpSpPr>
            <a:xfrm>
              <a:off x="8931114" y="454003"/>
              <a:ext cx="2566371" cy="1796652"/>
              <a:chOff x="0" y="0"/>
              <a:chExt cx="506937" cy="354894"/>
            </a:xfrm>
          </p:grpSpPr>
          <p:sp>
            <p:nvSpPr>
              <p:cNvPr id="30" name="Freeform 30"/>
              <p:cNvSpPr/>
              <p:nvPr/>
            </p:nvSpPr>
            <p:spPr>
              <a:xfrm>
                <a:off x="0" y="0"/>
                <a:ext cx="506937" cy="354894"/>
              </a:xfrm>
              <a:custGeom>
                <a:avLst/>
                <a:gdLst/>
                <a:ahLst/>
                <a:cxnLst/>
                <a:rect l="l" t="t" r="r" b="b"/>
                <a:pathLst>
                  <a:path w="506937" h="354894">
                    <a:moveTo>
                      <a:pt x="0" y="0"/>
                    </a:moveTo>
                    <a:lnTo>
                      <a:pt x="506937" y="0"/>
                    </a:lnTo>
                    <a:lnTo>
                      <a:pt x="506937" y="354894"/>
                    </a:lnTo>
                    <a:lnTo>
                      <a:pt x="0" y="354894"/>
                    </a:lnTo>
                    <a:close/>
                  </a:path>
                </a:pathLst>
              </a:custGeom>
              <a:solidFill>
                <a:srgbClr val="000000">
                  <a:alpha val="0"/>
                </a:srgbClr>
              </a:solidFill>
              <a:ln w="28575" cap="sq">
                <a:solidFill>
                  <a:srgbClr val="5170FF"/>
                </a:solidFill>
                <a:prstDash val="solid"/>
                <a:miter/>
              </a:ln>
            </p:spPr>
          </p:sp>
          <p:sp>
            <p:nvSpPr>
              <p:cNvPr id="31" name="TextBox 31"/>
              <p:cNvSpPr txBox="1"/>
              <p:nvPr/>
            </p:nvSpPr>
            <p:spPr>
              <a:xfrm>
                <a:off x="0" y="-47625"/>
                <a:ext cx="506937" cy="402519"/>
              </a:xfrm>
              <a:prstGeom prst="rect">
                <a:avLst/>
              </a:prstGeom>
            </p:spPr>
            <p:txBody>
              <a:bodyPr lIns="50800" tIns="50800" rIns="50800" bIns="50800" rtlCol="0" anchor="ctr"/>
              <a:lstStyle/>
              <a:p>
                <a:pPr algn="ctr">
                  <a:lnSpc>
                    <a:spcPts val="2481"/>
                  </a:lnSpc>
                </a:pPr>
                <a:endParaRPr/>
              </a:p>
            </p:txBody>
          </p:sp>
        </p:grpSp>
        <p:sp>
          <p:nvSpPr>
            <p:cNvPr id="32" name="TextBox 32"/>
            <p:cNvSpPr txBox="1"/>
            <p:nvPr/>
          </p:nvSpPr>
          <p:spPr>
            <a:xfrm>
              <a:off x="8870401" y="-47625"/>
              <a:ext cx="4394902" cy="451919"/>
            </a:xfrm>
            <a:prstGeom prst="rect">
              <a:avLst/>
            </a:prstGeom>
          </p:spPr>
          <p:txBody>
            <a:bodyPr wrap="square" lIns="0" tIns="0" rIns="0" bIns="0" rtlCol="0" anchor="t">
              <a:spAutoFit/>
            </a:bodyPr>
            <a:lstStyle/>
            <a:p>
              <a:pPr algn="ctr">
                <a:lnSpc>
                  <a:spcPts val="2761"/>
                </a:lnSpc>
                <a:spcBef>
                  <a:spcPct val="0"/>
                </a:spcBef>
              </a:pPr>
              <a:r>
                <a:rPr lang="en-US" sz="1972" b="1" dirty="0">
                  <a:solidFill>
                    <a:srgbClr val="5170FF"/>
                  </a:solidFill>
                  <a:latin typeface="Rounded M+ Bold"/>
                  <a:ea typeface="Rounded M+ Bold"/>
                  <a:cs typeface="Rounded M+ Bold"/>
                  <a:sym typeface="Rounded M+ Bold"/>
                </a:rPr>
                <a:t>●Appassionato (情熱的に)</a:t>
              </a:r>
            </a:p>
          </p:txBody>
        </p:sp>
      </p:grpSp>
      <p:sp>
        <p:nvSpPr>
          <p:cNvPr id="33" name="TextBox 33"/>
          <p:cNvSpPr txBox="1"/>
          <p:nvPr/>
        </p:nvSpPr>
        <p:spPr>
          <a:xfrm>
            <a:off x="700710" y="8930227"/>
            <a:ext cx="8824290" cy="623632"/>
          </a:xfrm>
          <a:prstGeom prst="rect">
            <a:avLst/>
          </a:prstGeom>
        </p:spPr>
        <p:txBody>
          <a:bodyPr wrap="square" lIns="0" tIns="0" rIns="0" bIns="0" rtlCol="0" anchor="t">
            <a:spAutoFit/>
          </a:bodyPr>
          <a:lstStyle/>
          <a:p>
            <a:pPr algn="l">
              <a:lnSpc>
                <a:spcPts val="2481"/>
              </a:lnSpc>
              <a:spcBef>
                <a:spcPct val="0"/>
              </a:spcBef>
            </a:pPr>
            <a:r>
              <a:rPr lang="en-US" sz="1772" dirty="0">
                <a:solidFill>
                  <a:srgbClr val="000000"/>
                </a:solidFill>
                <a:latin typeface="Rounded M+"/>
                <a:ea typeface="Rounded M+"/>
                <a:cs typeface="Rounded M+"/>
                <a:sym typeface="Rounded M+"/>
              </a:rPr>
              <a:t>楽譜：Music Listing - without Preview Images, </a:t>
            </a:r>
          </a:p>
          <a:p>
            <a:pPr algn="l">
              <a:lnSpc>
                <a:spcPts val="2481"/>
              </a:lnSpc>
              <a:spcBef>
                <a:spcPct val="0"/>
              </a:spcBef>
            </a:pPr>
            <a:r>
              <a:rPr lang="en-US" sz="1772" dirty="0">
                <a:solidFill>
                  <a:srgbClr val="000000"/>
                </a:solidFill>
                <a:latin typeface="Rounded M+"/>
                <a:ea typeface="Rounded M+"/>
                <a:cs typeface="Rounded M+"/>
                <a:sym typeface="Rounded M+"/>
              </a:rPr>
              <a:t>https://www.mutopiaproject.org/cgibin/maketable.cgi?searchingfor=BWV+1068.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図 21">
            <a:extLst>
              <a:ext uri="{FF2B5EF4-FFF2-40B4-BE49-F238E27FC236}">
                <a16:creationId xmlns:a16="http://schemas.microsoft.com/office/drawing/2014/main" id="{3D48943C-3A78-335F-F7FE-EB6C26199139}"/>
              </a:ext>
            </a:extLst>
          </p:cNvPr>
          <p:cNvPicPr>
            <a:picLocks noChangeAspect="1"/>
          </p:cNvPicPr>
          <p:nvPr/>
        </p:nvPicPr>
        <p:blipFill rotWithShape="1">
          <a:blip r:embed="rId3"/>
          <a:srcRect l="1656" t="22155" r="1790" b="16683"/>
          <a:stretch/>
        </p:blipFill>
        <p:spPr>
          <a:xfrm>
            <a:off x="-292689" y="-269544"/>
            <a:ext cx="18656889" cy="10840907"/>
          </a:xfrm>
          <a:prstGeom prst="rect">
            <a:avLst/>
          </a:prstGeom>
        </p:spPr>
      </p:pic>
      <p:sp>
        <p:nvSpPr>
          <p:cNvPr id="15" name="Freeform 15"/>
          <p:cNvSpPr/>
          <p:nvPr/>
        </p:nvSpPr>
        <p:spPr>
          <a:xfrm>
            <a:off x="9906000" y="2915926"/>
            <a:ext cx="7609789" cy="2796597"/>
          </a:xfrm>
          <a:custGeom>
            <a:avLst/>
            <a:gdLst/>
            <a:ahLst/>
            <a:cxnLst/>
            <a:rect l="l" t="t" r="r" b="b"/>
            <a:pathLst>
              <a:path w="7609789" h="2796597">
                <a:moveTo>
                  <a:pt x="0" y="0"/>
                </a:moveTo>
                <a:lnTo>
                  <a:pt x="7609789" y="0"/>
                </a:lnTo>
                <a:lnTo>
                  <a:pt x="7609789" y="2796597"/>
                </a:lnTo>
                <a:lnTo>
                  <a:pt x="0" y="2796597"/>
                </a:lnTo>
                <a:lnTo>
                  <a:pt x="0" y="0"/>
                </a:lnTo>
                <a:close/>
              </a:path>
            </a:pathLst>
          </a:custGeom>
          <a:blipFill>
            <a:blip r:embed="rId4"/>
            <a:stretch>
              <a:fillRect/>
            </a:stretch>
          </a:blipFill>
        </p:spPr>
      </p:sp>
      <p:sp>
        <p:nvSpPr>
          <p:cNvPr id="16" name="Freeform 16"/>
          <p:cNvSpPr/>
          <p:nvPr/>
        </p:nvSpPr>
        <p:spPr>
          <a:xfrm>
            <a:off x="10162437" y="6381301"/>
            <a:ext cx="7353352" cy="2876999"/>
          </a:xfrm>
          <a:custGeom>
            <a:avLst/>
            <a:gdLst/>
            <a:ahLst/>
            <a:cxnLst/>
            <a:rect l="l" t="t" r="r" b="b"/>
            <a:pathLst>
              <a:path w="7353352" h="2876999">
                <a:moveTo>
                  <a:pt x="0" y="0"/>
                </a:moveTo>
                <a:lnTo>
                  <a:pt x="7353352" y="0"/>
                </a:lnTo>
                <a:lnTo>
                  <a:pt x="7353352" y="2876999"/>
                </a:lnTo>
                <a:lnTo>
                  <a:pt x="0" y="2876999"/>
                </a:lnTo>
                <a:lnTo>
                  <a:pt x="0" y="0"/>
                </a:lnTo>
                <a:close/>
              </a:path>
            </a:pathLst>
          </a:custGeom>
          <a:blipFill>
            <a:blip r:embed="rId5"/>
            <a:stretch>
              <a:fillRect/>
            </a:stretch>
          </a:blipFill>
        </p:spPr>
      </p:sp>
      <p:sp>
        <p:nvSpPr>
          <p:cNvPr id="17" name="TextBox 17"/>
          <p:cNvSpPr txBox="1"/>
          <p:nvPr/>
        </p:nvSpPr>
        <p:spPr>
          <a:xfrm>
            <a:off x="1292961" y="2537537"/>
            <a:ext cx="9144000" cy="6410325"/>
          </a:xfrm>
          <a:prstGeom prst="rect">
            <a:avLst/>
          </a:prstGeom>
        </p:spPr>
        <p:txBody>
          <a:bodyPr lIns="0" tIns="0" rIns="0" bIns="0" rtlCol="0" anchor="t">
            <a:spAutoFit/>
          </a:bodyPr>
          <a:lstStyle/>
          <a:p>
            <a:pPr algn="l">
              <a:lnSpc>
                <a:spcPts val="4200"/>
              </a:lnSpc>
            </a:pPr>
            <a:r>
              <a:rPr lang="en-US" sz="3000" dirty="0">
                <a:solidFill>
                  <a:srgbClr val="000000"/>
                </a:solidFill>
                <a:latin typeface="Rounded M+"/>
                <a:ea typeface="Rounded M+"/>
                <a:cs typeface="Rounded M+"/>
                <a:sym typeface="Rounded M+"/>
              </a:rPr>
              <a:t>単旋律ルールによる頂点推定の性能を評価</a:t>
            </a:r>
          </a:p>
          <a:p>
            <a:pPr algn="l">
              <a:lnSpc>
                <a:spcPts val="4200"/>
              </a:lnSpc>
            </a:pPr>
            <a:r>
              <a:rPr lang="en-US" sz="3000" dirty="0">
                <a:solidFill>
                  <a:srgbClr val="000000"/>
                </a:solidFill>
                <a:latin typeface="Rounded M+"/>
                <a:ea typeface="Rounded M+"/>
                <a:cs typeface="Rounded M+"/>
                <a:sym typeface="Rounded M+"/>
              </a:rPr>
              <a:t>・楽曲：「悲愴」第2楽章</a:t>
            </a:r>
          </a:p>
          <a:p>
            <a:pPr algn="l">
              <a:lnSpc>
                <a:spcPts val="4200"/>
              </a:lnSpc>
            </a:pPr>
            <a:endParaRPr lang="en-US" sz="3000" dirty="0">
              <a:solidFill>
                <a:srgbClr val="000000"/>
              </a:solidFill>
              <a:latin typeface="Rounded M+"/>
              <a:ea typeface="Rounded M+"/>
              <a:cs typeface="Rounded M+"/>
              <a:sym typeface="Rounded M+"/>
            </a:endParaRPr>
          </a:p>
          <a:p>
            <a:pPr algn="l">
              <a:lnSpc>
                <a:spcPts val="4200"/>
              </a:lnSpc>
            </a:pPr>
            <a:r>
              <a:rPr lang="en-US" sz="3000" dirty="0">
                <a:solidFill>
                  <a:srgbClr val="000000"/>
                </a:solidFill>
                <a:latin typeface="Rounded M+"/>
                <a:ea typeface="Rounded M+"/>
                <a:cs typeface="Rounded M+"/>
                <a:sym typeface="Rounded M+"/>
              </a:rPr>
              <a:t>【結果】</a:t>
            </a:r>
          </a:p>
          <a:p>
            <a:pPr algn="l">
              <a:lnSpc>
                <a:spcPts val="4200"/>
              </a:lnSpc>
            </a:pPr>
            <a:r>
              <a:rPr lang="en-US" sz="3000" dirty="0">
                <a:solidFill>
                  <a:srgbClr val="000000"/>
                </a:solidFill>
                <a:latin typeface="Rounded M+"/>
                <a:ea typeface="Rounded M+"/>
                <a:cs typeface="Rounded M+"/>
                <a:sym typeface="Rounded M+"/>
              </a:rPr>
              <a:t>・旋律の動きと和声構造が一致する場合</a:t>
            </a:r>
          </a:p>
          <a:p>
            <a:pPr algn="l">
              <a:lnSpc>
                <a:spcPts val="4200"/>
              </a:lnSpc>
            </a:pPr>
            <a:r>
              <a:rPr lang="en-US" sz="3000" dirty="0">
                <a:solidFill>
                  <a:srgbClr val="000000"/>
                </a:solidFill>
                <a:latin typeface="Rounded M+"/>
                <a:ea typeface="Rounded M+"/>
                <a:cs typeface="Rounded M+"/>
                <a:sym typeface="Rounded M+"/>
              </a:rPr>
              <a:t>→ </a:t>
            </a:r>
            <a:r>
              <a:rPr lang="en-US" sz="3000" dirty="0">
                <a:solidFill>
                  <a:srgbClr val="FF5050"/>
                </a:solidFill>
                <a:latin typeface="Rounded M+"/>
                <a:ea typeface="Rounded M+"/>
                <a:cs typeface="Rounded M+"/>
                <a:sym typeface="Rounded M+"/>
              </a:rPr>
              <a:t>一致する</a:t>
            </a:r>
          </a:p>
          <a:p>
            <a:pPr algn="l">
              <a:lnSpc>
                <a:spcPts val="4200"/>
              </a:lnSpc>
            </a:pPr>
            <a:r>
              <a:rPr lang="en-US" sz="3000" dirty="0">
                <a:solidFill>
                  <a:srgbClr val="000000"/>
                </a:solidFill>
                <a:latin typeface="Rounded M+"/>
                <a:ea typeface="Rounded M+"/>
                <a:cs typeface="Rounded M+"/>
                <a:sym typeface="Rounded M+"/>
              </a:rPr>
              <a:t>・和声的な緊張(不協和音→和音)が重要な場合</a:t>
            </a:r>
          </a:p>
          <a:p>
            <a:pPr algn="l">
              <a:lnSpc>
                <a:spcPts val="4200"/>
              </a:lnSpc>
            </a:pPr>
            <a:r>
              <a:rPr lang="en-US" sz="3000" dirty="0">
                <a:solidFill>
                  <a:srgbClr val="000000"/>
                </a:solidFill>
                <a:latin typeface="Rounded M+"/>
                <a:ea typeface="Rounded M+"/>
                <a:cs typeface="Rounded M+"/>
                <a:sym typeface="Rounded M+"/>
              </a:rPr>
              <a:t>→ </a:t>
            </a:r>
            <a:r>
              <a:rPr lang="en-US" sz="3000" dirty="0">
                <a:solidFill>
                  <a:srgbClr val="5170FF"/>
                </a:solidFill>
                <a:latin typeface="Rounded M+"/>
                <a:ea typeface="Rounded M+"/>
                <a:cs typeface="Rounded M+"/>
                <a:sym typeface="Rounded M+"/>
              </a:rPr>
              <a:t>一致しない</a:t>
            </a:r>
          </a:p>
          <a:p>
            <a:pPr algn="l">
              <a:lnSpc>
                <a:spcPts val="4200"/>
              </a:lnSpc>
            </a:pPr>
            <a:endParaRPr lang="en-US" sz="3000" dirty="0">
              <a:solidFill>
                <a:srgbClr val="5170FF"/>
              </a:solidFill>
              <a:latin typeface="Rounded M+"/>
              <a:ea typeface="Rounded M+"/>
              <a:cs typeface="Rounded M+"/>
              <a:sym typeface="Rounded M+"/>
            </a:endParaRPr>
          </a:p>
          <a:p>
            <a:pPr algn="l">
              <a:lnSpc>
                <a:spcPts val="4200"/>
              </a:lnSpc>
            </a:pPr>
            <a:r>
              <a:rPr lang="en-US" sz="3000" dirty="0">
                <a:solidFill>
                  <a:srgbClr val="000000"/>
                </a:solidFill>
                <a:latin typeface="Rounded M+"/>
                <a:ea typeface="Rounded M+"/>
                <a:cs typeface="Rounded M+"/>
                <a:sym typeface="Rounded M+"/>
              </a:rPr>
              <a:t>現在の推定ルールは和声情報を考慮していないため、</a:t>
            </a:r>
          </a:p>
          <a:p>
            <a:pPr algn="l">
              <a:lnSpc>
                <a:spcPts val="4200"/>
              </a:lnSpc>
            </a:pPr>
            <a:r>
              <a:rPr lang="en-US" sz="3000" dirty="0">
                <a:solidFill>
                  <a:srgbClr val="000000"/>
                </a:solidFill>
                <a:latin typeface="Rounded M+"/>
                <a:ea typeface="Rounded M+"/>
                <a:cs typeface="Rounded M+"/>
                <a:sym typeface="Rounded M+"/>
              </a:rPr>
              <a:t>音楽的な頂点とずれる場合がある</a:t>
            </a:r>
          </a:p>
          <a:p>
            <a:pPr algn="l">
              <a:lnSpc>
                <a:spcPts val="4200"/>
              </a:lnSpc>
            </a:pPr>
            <a:r>
              <a:rPr lang="ja-JP" altLang="en-US" sz="3000" b="1" dirty="0">
                <a:solidFill>
                  <a:srgbClr val="FF5050"/>
                </a:solidFill>
                <a:latin typeface="Rounded M+ Bold"/>
                <a:ea typeface="Rounded M+ Bold"/>
                <a:cs typeface="Rounded M+ Bold"/>
                <a:sym typeface="Rounded M+ Bold"/>
              </a:rPr>
              <a:t>⇒</a:t>
            </a:r>
            <a:r>
              <a:rPr lang="en-US" sz="3000" b="1" dirty="0">
                <a:solidFill>
                  <a:srgbClr val="FF5050"/>
                </a:solidFill>
                <a:latin typeface="Rounded M+ Bold"/>
                <a:ea typeface="Rounded M+ Bold"/>
                <a:cs typeface="Rounded M+ Bold"/>
                <a:sym typeface="Rounded M+ Bold"/>
              </a:rPr>
              <a:t> 最終決定権はユーザに委ねている</a:t>
            </a:r>
          </a:p>
        </p:txBody>
      </p:sp>
      <p:sp>
        <p:nvSpPr>
          <p:cNvPr id="18" name="TextBox 18"/>
          <p:cNvSpPr txBox="1"/>
          <p:nvPr/>
        </p:nvSpPr>
        <p:spPr>
          <a:xfrm>
            <a:off x="1292961" y="1142249"/>
            <a:ext cx="12192000" cy="1028700"/>
          </a:xfrm>
          <a:prstGeom prst="rect">
            <a:avLst/>
          </a:prstGeom>
        </p:spPr>
        <p:txBody>
          <a:bodyPr lIns="0" tIns="0" rIns="0" bIns="0" rtlCol="0" anchor="t">
            <a:spAutoFit/>
          </a:bodyPr>
          <a:lstStyle/>
          <a:p>
            <a:pPr algn="l">
              <a:lnSpc>
                <a:spcPts val="8400"/>
              </a:lnSpc>
              <a:spcBef>
                <a:spcPct val="0"/>
              </a:spcBef>
            </a:pPr>
            <a:r>
              <a:rPr lang="en-US" sz="6000">
                <a:solidFill>
                  <a:srgbClr val="000000"/>
                </a:solidFill>
                <a:latin typeface="Noto Sans JP"/>
                <a:ea typeface="Noto Sans JP"/>
                <a:cs typeface="Noto Sans JP"/>
                <a:sym typeface="Noto Sans JP"/>
              </a:rPr>
              <a:t>評価：頂点推定機能の有効性と限界</a:t>
            </a:r>
          </a:p>
        </p:txBody>
      </p:sp>
      <p:sp>
        <p:nvSpPr>
          <p:cNvPr id="19" name="TextBox 19"/>
          <p:cNvSpPr txBox="1"/>
          <p:nvPr/>
        </p:nvSpPr>
        <p:spPr>
          <a:xfrm>
            <a:off x="10001929" y="2635575"/>
            <a:ext cx="1482862" cy="281771"/>
          </a:xfrm>
          <a:prstGeom prst="rect">
            <a:avLst/>
          </a:prstGeom>
        </p:spPr>
        <p:txBody>
          <a:bodyPr lIns="0" tIns="0" rIns="0" bIns="0" rtlCol="0" anchor="t">
            <a:spAutoFit/>
          </a:bodyPr>
          <a:lstStyle/>
          <a:p>
            <a:pPr algn="ctr">
              <a:lnSpc>
                <a:spcPts val="2245"/>
              </a:lnSpc>
              <a:spcBef>
                <a:spcPct val="0"/>
              </a:spcBef>
            </a:pPr>
            <a:r>
              <a:rPr lang="en-US" sz="1604" b="1">
                <a:solidFill>
                  <a:srgbClr val="000000"/>
                </a:solidFill>
                <a:latin typeface="Rounded M+ Bold"/>
                <a:ea typeface="Rounded M+ Bold"/>
                <a:cs typeface="Rounded M+ Bold"/>
                <a:sym typeface="Rounded M+ Bold"/>
              </a:rPr>
              <a:t>【①1～4小節】</a:t>
            </a:r>
          </a:p>
        </p:txBody>
      </p:sp>
      <p:sp>
        <p:nvSpPr>
          <p:cNvPr id="20" name="TextBox 20"/>
          <p:cNvSpPr txBox="1"/>
          <p:nvPr/>
        </p:nvSpPr>
        <p:spPr>
          <a:xfrm>
            <a:off x="10258366" y="6093752"/>
            <a:ext cx="1532283" cy="287549"/>
          </a:xfrm>
          <a:prstGeom prst="rect">
            <a:avLst/>
          </a:prstGeom>
        </p:spPr>
        <p:txBody>
          <a:bodyPr lIns="0" tIns="0" rIns="0" bIns="0" rtlCol="0" anchor="t">
            <a:spAutoFit/>
          </a:bodyPr>
          <a:lstStyle/>
          <a:p>
            <a:pPr algn="ctr">
              <a:lnSpc>
                <a:spcPts val="2211"/>
              </a:lnSpc>
              <a:spcBef>
                <a:spcPct val="0"/>
              </a:spcBef>
            </a:pPr>
            <a:r>
              <a:rPr lang="en-US" sz="1579" b="1">
                <a:solidFill>
                  <a:srgbClr val="000000"/>
                </a:solidFill>
                <a:latin typeface="Rounded M+ Bold"/>
                <a:ea typeface="Rounded M+ Bold"/>
                <a:cs typeface="Rounded M+ Bold"/>
                <a:sym typeface="Rounded M+ Bold"/>
              </a:rPr>
              <a:t>【②５～8小節】</a:t>
            </a:r>
          </a:p>
        </p:txBody>
      </p:sp>
      <p:sp>
        <p:nvSpPr>
          <p:cNvPr id="21" name="TextBox 21"/>
          <p:cNvSpPr txBox="1"/>
          <p:nvPr/>
        </p:nvSpPr>
        <p:spPr>
          <a:xfrm>
            <a:off x="10627906" y="9258300"/>
            <a:ext cx="6059894" cy="303032"/>
          </a:xfrm>
          <a:prstGeom prst="rect">
            <a:avLst/>
          </a:prstGeom>
        </p:spPr>
        <p:txBody>
          <a:bodyPr wrap="square" lIns="0" tIns="0" rIns="0" bIns="0" rtlCol="0" anchor="t">
            <a:spAutoFit/>
          </a:bodyPr>
          <a:lstStyle/>
          <a:p>
            <a:pPr algn="ctr">
              <a:lnSpc>
                <a:spcPts val="2481"/>
              </a:lnSpc>
              <a:spcBef>
                <a:spcPct val="0"/>
              </a:spcBef>
            </a:pPr>
            <a:r>
              <a:rPr lang="en-US" sz="1772" dirty="0">
                <a:solidFill>
                  <a:srgbClr val="000000"/>
                </a:solidFill>
                <a:latin typeface="Rounded M+"/>
                <a:ea typeface="Rounded M+"/>
                <a:cs typeface="Rounded M+"/>
                <a:sym typeface="Rounded M+"/>
              </a:rPr>
              <a:t>▲頂点位置(青：システムによる推定、赤：和声情報を考慮)</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図 20">
            <a:extLst>
              <a:ext uri="{FF2B5EF4-FFF2-40B4-BE49-F238E27FC236}">
                <a16:creationId xmlns:a16="http://schemas.microsoft.com/office/drawing/2014/main" id="{2B97CD24-1458-C453-ADC5-498DF97F8E5F}"/>
              </a:ext>
            </a:extLst>
          </p:cNvPr>
          <p:cNvPicPr>
            <a:picLocks noChangeAspect="1"/>
          </p:cNvPicPr>
          <p:nvPr/>
        </p:nvPicPr>
        <p:blipFill rotWithShape="1">
          <a:blip r:embed="rId3"/>
          <a:srcRect l="1656" t="22155" r="1790" b="16683"/>
          <a:stretch/>
        </p:blipFill>
        <p:spPr>
          <a:xfrm>
            <a:off x="-292689" y="-269544"/>
            <a:ext cx="18656889" cy="10840907"/>
          </a:xfrm>
          <a:prstGeom prst="rect">
            <a:avLst/>
          </a:prstGeom>
        </p:spPr>
      </p:pic>
      <p:sp>
        <p:nvSpPr>
          <p:cNvPr id="15" name="TextBox 15"/>
          <p:cNvSpPr txBox="1"/>
          <p:nvPr/>
        </p:nvSpPr>
        <p:spPr>
          <a:xfrm>
            <a:off x="1139283" y="2611834"/>
            <a:ext cx="16116300" cy="5357364"/>
          </a:xfrm>
          <a:prstGeom prst="rect">
            <a:avLst/>
          </a:prstGeom>
        </p:spPr>
        <p:txBody>
          <a:bodyPr wrap="square" lIns="0" tIns="0" rIns="0" bIns="0" rtlCol="0" anchor="t">
            <a:spAutoFit/>
          </a:bodyPr>
          <a:lstStyle/>
          <a:p>
            <a:pPr algn="l">
              <a:lnSpc>
                <a:spcPts val="4200"/>
              </a:lnSpc>
            </a:pPr>
            <a:r>
              <a:rPr lang="en-US" sz="3000" b="1" dirty="0">
                <a:solidFill>
                  <a:srgbClr val="000000"/>
                </a:solidFill>
                <a:latin typeface="Rounded M+ Bold"/>
                <a:ea typeface="Rounded M+ Bold"/>
                <a:cs typeface="Rounded M+ Bold"/>
                <a:sym typeface="Rounded M+ Bold"/>
              </a:rPr>
              <a:t>【まとめ】</a:t>
            </a:r>
          </a:p>
          <a:p>
            <a:pPr marL="323850" lvl="1" algn="l">
              <a:lnSpc>
                <a:spcPts val="4200"/>
              </a:lnSpc>
            </a:pPr>
            <a:r>
              <a:rPr lang="ja-JP" altLang="en-US" sz="3000" b="1" dirty="0">
                <a:latin typeface="Rounded M+ Bold"/>
                <a:ea typeface="Rounded M+ Bold"/>
                <a:cs typeface="Rounded M+ Bold"/>
                <a:sym typeface="Rounded M+ Bold"/>
              </a:rPr>
              <a:t>・</a:t>
            </a:r>
            <a:r>
              <a:rPr lang="en-US" sz="3000" b="1" dirty="0" err="1">
                <a:solidFill>
                  <a:srgbClr val="FF5050"/>
                </a:solidFill>
                <a:latin typeface="Rounded M+ Bold"/>
                <a:ea typeface="Rounded M+ Bold"/>
                <a:cs typeface="Rounded M+ Bold"/>
                <a:sym typeface="Rounded M+ Bold"/>
              </a:rPr>
              <a:t>五線譜上で</a:t>
            </a:r>
            <a:r>
              <a:rPr lang="ja-JP" altLang="en-US" sz="3000" b="1" dirty="0">
                <a:solidFill>
                  <a:srgbClr val="FF5050"/>
                </a:solidFill>
                <a:latin typeface="Rounded M+ Bold"/>
                <a:ea typeface="Rounded M+ Bold"/>
                <a:cs typeface="Rounded M+ Bold"/>
                <a:sym typeface="Rounded M+ Bold"/>
              </a:rPr>
              <a:t>の</a:t>
            </a:r>
            <a:r>
              <a:rPr lang="en-US" sz="3000" b="1" dirty="0" err="1">
                <a:solidFill>
                  <a:srgbClr val="FF5050"/>
                </a:solidFill>
                <a:latin typeface="Rounded M+ Bold"/>
                <a:ea typeface="Rounded M+ Bold"/>
                <a:cs typeface="Rounded M+ Bold"/>
                <a:sym typeface="Rounded M+ Bold"/>
              </a:rPr>
              <a:t>直感的</a:t>
            </a:r>
            <a:r>
              <a:rPr lang="ja-JP" altLang="en-US" sz="3000" b="1" dirty="0">
                <a:solidFill>
                  <a:srgbClr val="FF5050"/>
                </a:solidFill>
                <a:latin typeface="Rounded M+ Bold"/>
                <a:ea typeface="Rounded M+ Bold"/>
                <a:cs typeface="Rounded M+ Bold"/>
                <a:sym typeface="Rounded M+ Bold"/>
              </a:rPr>
              <a:t>な</a:t>
            </a:r>
            <a:r>
              <a:rPr lang="en-US" sz="3000" b="1" dirty="0" err="1">
                <a:solidFill>
                  <a:srgbClr val="FF5050"/>
                </a:solidFill>
                <a:latin typeface="Rounded M+ Bold"/>
                <a:ea typeface="Rounded M+ Bold"/>
                <a:cs typeface="Rounded M+ Bold"/>
                <a:sym typeface="Rounded M+ Bold"/>
              </a:rPr>
              <a:t>演奏表現をデザインするシステム</a:t>
            </a:r>
            <a:r>
              <a:rPr lang="ja-JP" altLang="en-US" sz="3000" b="1" dirty="0">
                <a:solidFill>
                  <a:srgbClr val="FF5050"/>
                </a:solidFill>
                <a:latin typeface="Rounded M+ Bold"/>
                <a:ea typeface="Rounded M+ Bold"/>
                <a:cs typeface="Rounded M+ Bold"/>
                <a:sym typeface="Rounded M+ Bold"/>
              </a:rPr>
              <a:t>の</a:t>
            </a:r>
            <a:r>
              <a:rPr lang="en-US" sz="3000" b="1" dirty="0" err="1">
                <a:solidFill>
                  <a:srgbClr val="FF5050"/>
                </a:solidFill>
                <a:latin typeface="Rounded M+ Bold"/>
                <a:ea typeface="Rounded M+ Bold"/>
                <a:cs typeface="Rounded M+ Bold"/>
                <a:sym typeface="Rounded M+ Bold"/>
              </a:rPr>
              <a:t>構築</a:t>
            </a:r>
            <a:endParaRPr lang="en-US" sz="3000" b="1" dirty="0">
              <a:solidFill>
                <a:srgbClr val="FF5050"/>
              </a:solidFill>
              <a:latin typeface="Rounded M+ Bold"/>
              <a:ea typeface="Rounded M+ Bold"/>
              <a:cs typeface="Rounded M+ Bold"/>
              <a:sym typeface="Rounded M+ Bold"/>
            </a:endParaRPr>
          </a:p>
          <a:p>
            <a:pPr marL="323850" lvl="1" algn="l">
              <a:lnSpc>
                <a:spcPts val="4200"/>
              </a:lnSpc>
            </a:pPr>
            <a:r>
              <a:rPr lang="ja-JP" altLang="en-US" sz="3000" b="1" dirty="0">
                <a:solidFill>
                  <a:srgbClr val="000000"/>
                </a:solidFill>
                <a:latin typeface="Rounded M+ Bold"/>
                <a:ea typeface="Rounded M+ Bold"/>
                <a:cs typeface="Rounded M+ Bold"/>
                <a:sym typeface="Rounded M+ Bold"/>
              </a:rPr>
              <a:t>・</a:t>
            </a:r>
            <a:r>
              <a:rPr lang="en-US" sz="3000" b="1" dirty="0" err="1">
                <a:solidFill>
                  <a:srgbClr val="000000"/>
                </a:solidFill>
                <a:latin typeface="Rounded M+ Bold"/>
                <a:ea typeface="Rounded M+ Bold"/>
                <a:cs typeface="Rounded M+ Bold"/>
                <a:sym typeface="Rounded M+ Bold"/>
              </a:rPr>
              <a:t>楽譜（MusicXML）と演奏（MIDI）の異なる時間軸の同期</a:t>
            </a:r>
            <a:r>
              <a:rPr lang="ja-JP" altLang="en-US" sz="3000" b="1" dirty="0">
                <a:solidFill>
                  <a:srgbClr val="000000"/>
                </a:solidFill>
                <a:latin typeface="Rounded M+ Bold"/>
                <a:ea typeface="Rounded M+ Bold"/>
                <a:cs typeface="Rounded M+ Bold"/>
                <a:sym typeface="Rounded M+ Bold"/>
              </a:rPr>
              <a:t>処理の確立</a:t>
            </a:r>
            <a:endParaRPr lang="en-US" sz="3000" b="1" dirty="0">
              <a:solidFill>
                <a:srgbClr val="000000"/>
              </a:solidFill>
              <a:latin typeface="Rounded M+ Bold"/>
              <a:ea typeface="Rounded M+ Bold"/>
              <a:cs typeface="Rounded M+ Bold"/>
              <a:sym typeface="Rounded M+ Bold"/>
            </a:endParaRPr>
          </a:p>
          <a:p>
            <a:pPr marL="323850" lvl="1" algn="l">
              <a:lnSpc>
                <a:spcPts val="4200"/>
              </a:lnSpc>
            </a:pPr>
            <a:r>
              <a:rPr lang="ja-JP" altLang="en-US" sz="3000" dirty="0">
                <a:solidFill>
                  <a:srgbClr val="000000"/>
                </a:solidFill>
                <a:latin typeface="Rounded M+"/>
                <a:ea typeface="Rounded M+"/>
                <a:cs typeface="Rounded M+"/>
                <a:sym typeface="Rounded M+"/>
              </a:rPr>
              <a:t>・</a:t>
            </a:r>
            <a:r>
              <a:rPr lang="en-US" sz="3000" dirty="0">
                <a:solidFill>
                  <a:srgbClr val="000000"/>
                </a:solidFill>
                <a:latin typeface="Rounded M+"/>
                <a:ea typeface="Rounded M+"/>
                <a:cs typeface="Rounded M+"/>
                <a:sym typeface="Rounded M+"/>
              </a:rPr>
              <a:t>Expression(</a:t>
            </a:r>
            <a:r>
              <a:rPr lang="ja-JP" altLang="en-US" sz="3000" dirty="0">
                <a:solidFill>
                  <a:srgbClr val="000000"/>
                </a:solidFill>
                <a:latin typeface="Rounded M+"/>
                <a:ea typeface="Rounded M+"/>
                <a:cs typeface="Rounded M+"/>
                <a:sym typeface="Rounded M+"/>
              </a:rPr>
              <a:t>強弱</a:t>
            </a:r>
            <a:r>
              <a:rPr lang="en-US" sz="3000" dirty="0">
                <a:solidFill>
                  <a:srgbClr val="000000"/>
                </a:solidFill>
                <a:latin typeface="Rounded M+"/>
                <a:ea typeface="Rounded M+"/>
                <a:cs typeface="Rounded M+"/>
                <a:sym typeface="Rounded M+"/>
              </a:rPr>
              <a:t>)</a:t>
            </a:r>
            <a:r>
              <a:rPr lang="en-US" sz="3000" dirty="0" err="1">
                <a:solidFill>
                  <a:srgbClr val="000000"/>
                </a:solidFill>
                <a:latin typeface="Rounded M+"/>
                <a:ea typeface="Rounded M+"/>
                <a:cs typeface="Rounded M+"/>
                <a:sym typeface="Rounded M+"/>
              </a:rPr>
              <a:t>とOnset</a:t>
            </a:r>
            <a:r>
              <a:rPr lang="en-US" sz="3000" dirty="0">
                <a:solidFill>
                  <a:srgbClr val="000000"/>
                </a:solidFill>
                <a:latin typeface="Rounded M+"/>
                <a:ea typeface="Rounded M+"/>
                <a:cs typeface="Rounded M+"/>
                <a:sym typeface="Rounded M+"/>
              </a:rPr>
              <a:t>(</a:t>
            </a:r>
            <a:r>
              <a:rPr lang="en-US" sz="3000" dirty="0" err="1">
                <a:solidFill>
                  <a:srgbClr val="000000"/>
                </a:solidFill>
                <a:latin typeface="Rounded M+"/>
                <a:ea typeface="Rounded M+"/>
                <a:cs typeface="Rounded M+"/>
                <a:sym typeface="Rounded M+"/>
              </a:rPr>
              <a:t>発音時刻</a:t>
            </a:r>
            <a:r>
              <a:rPr lang="en-US" sz="3000" dirty="0">
                <a:solidFill>
                  <a:srgbClr val="000000"/>
                </a:solidFill>
                <a:latin typeface="Rounded M+"/>
                <a:ea typeface="Rounded M+"/>
                <a:cs typeface="Rounded M+"/>
                <a:sym typeface="Rounded M+"/>
              </a:rPr>
              <a:t>)</a:t>
            </a:r>
            <a:r>
              <a:rPr lang="en-US" sz="3000" dirty="0" err="1">
                <a:solidFill>
                  <a:srgbClr val="000000"/>
                </a:solidFill>
                <a:latin typeface="Rounded M+"/>
                <a:ea typeface="Rounded M+"/>
                <a:cs typeface="Rounded M+"/>
                <a:sym typeface="Rounded M+"/>
              </a:rPr>
              <a:t>の制御によ</a:t>
            </a:r>
            <a:r>
              <a:rPr lang="ja-JP" altLang="en-US" sz="3000" dirty="0">
                <a:solidFill>
                  <a:srgbClr val="000000"/>
                </a:solidFill>
                <a:latin typeface="Rounded M+"/>
                <a:ea typeface="Rounded M+"/>
                <a:cs typeface="Rounded M+"/>
                <a:sym typeface="Rounded M+"/>
              </a:rPr>
              <a:t>る</a:t>
            </a:r>
            <a:r>
              <a:rPr lang="en-US" sz="3000" b="1" dirty="0" err="1">
                <a:solidFill>
                  <a:srgbClr val="000000"/>
                </a:solidFill>
                <a:latin typeface="Rounded M+ Bold"/>
                <a:ea typeface="Rounded M+ Bold"/>
                <a:cs typeface="Rounded M+ Bold"/>
                <a:sym typeface="Rounded M+ Bold"/>
              </a:rPr>
              <a:t>管楽器奏者向けの豊かな表現生成を実現</a:t>
            </a:r>
            <a:endParaRPr lang="en-US" sz="3000" b="1" dirty="0">
              <a:solidFill>
                <a:srgbClr val="000000"/>
              </a:solidFill>
              <a:latin typeface="Rounded M+ Bold"/>
              <a:ea typeface="Rounded M+ Bold"/>
              <a:cs typeface="Rounded M+ Bold"/>
              <a:sym typeface="Rounded M+ Bold"/>
            </a:endParaRPr>
          </a:p>
          <a:p>
            <a:pPr marL="323850" lvl="1" algn="l">
              <a:lnSpc>
                <a:spcPts val="4200"/>
              </a:lnSpc>
            </a:pPr>
            <a:r>
              <a:rPr lang="ja-JP" altLang="en-US" sz="3000" dirty="0">
                <a:solidFill>
                  <a:srgbClr val="000000"/>
                </a:solidFill>
                <a:latin typeface="Rounded M+"/>
                <a:ea typeface="Rounded M+"/>
                <a:cs typeface="Rounded M+"/>
                <a:sym typeface="Rounded M+"/>
              </a:rPr>
              <a:t>・</a:t>
            </a:r>
            <a:r>
              <a:rPr lang="en-US" sz="3000" dirty="0" err="1">
                <a:solidFill>
                  <a:srgbClr val="000000"/>
                </a:solidFill>
                <a:latin typeface="Rounded M+"/>
                <a:ea typeface="Rounded M+"/>
                <a:cs typeface="Rounded M+"/>
                <a:sym typeface="Rounded M+"/>
              </a:rPr>
              <a:t>演奏者が主体的に音楽的解釈を探求するプロセスを支援するツールとしての有効性を</a:t>
            </a:r>
            <a:r>
              <a:rPr lang="ja-JP" altLang="en-US" sz="3000" dirty="0">
                <a:solidFill>
                  <a:srgbClr val="000000"/>
                </a:solidFill>
                <a:latin typeface="Rounded M+"/>
                <a:ea typeface="Rounded M+"/>
                <a:cs typeface="Rounded M+"/>
                <a:sym typeface="Rounded M+"/>
              </a:rPr>
              <a:t>確認</a:t>
            </a:r>
            <a:endParaRPr lang="en-US" sz="3000" dirty="0">
              <a:solidFill>
                <a:srgbClr val="000000"/>
              </a:solidFill>
              <a:latin typeface="Rounded M+"/>
              <a:ea typeface="Rounded M+"/>
              <a:cs typeface="Rounded M+"/>
              <a:sym typeface="Rounded M+"/>
            </a:endParaRPr>
          </a:p>
          <a:p>
            <a:pPr algn="l">
              <a:lnSpc>
                <a:spcPts val="4200"/>
              </a:lnSpc>
            </a:pPr>
            <a:endParaRPr lang="en-US" sz="3000" dirty="0">
              <a:solidFill>
                <a:srgbClr val="000000"/>
              </a:solidFill>
              <a:latin typeface="Rounded M+"/>
              <a:ea typeface="Rounded M+"/>
              <a:cs typeface="Rounded M+"/>
              <a:sym typeface="Rounded M+"/>
            </a:endParaRPr>
          </a:p>
          <a:p>
            <a:pPr algn="l">
              <a:lnSpc>
                <a:spcPts val="4200"/>
              </a:lnSpc>
            </a:pPr>
            <a:r>
              <a:rPr lang="en-US" sz="3000" b="1" dirty="0">
                <a:solidFill>
                  <a:srgbClr val="000000"/>
                </a:solidFill>
                <a:latin typeface="Rounded M+ Bold"/>
                <a:ea typeface="Rounded M+ Bold"/>
                <a:cs typeface="Rounded M+ Bold"/>
                <a:sym typeface="Rounded M+ Bold"/>
              </a:rPr>
              <a:t>【</a:t>
            </a:r>
            <a:r>
              <a:rPr lang="en-US" sz="3000" b="1" dirty="0" err="1">
                <a:solidFill>
                  <a:srgbClr val="000000"/>
                </a:solidFill>
                <a:latin typeface="Rounded M+ Bold"/>
                <a:ea typeface="Rounded M+ Bold"/>
                <a:cs typeface="Rounded M+ Bold"/>
                <a:sym typeface="Rounded M+ Bold"/>
              </a:rPr>
              <a:t>今後の課題</a:t>
            </a:r>
            <a:r>
              <a:rPr lang="en-US" sz="3000" b="1" dirty="0">
                <a:solidFill>
                  <a:srgbClr val="000000"/>
                </a:solidFill>
                <a:latin typeface="Rounded M+ Bold"/>
                <a:ea typeface="Rounded M+ Bold"/>
                <a:cs typeface="Rounded M+ Bold"/>
                <a:sym typeface="Rounded M+ Bold"/>
              </a:rPr>
              <a:t>】</a:t>
            </a:r>
          </a:p>
          <a:p>
            <a:pPr algn="l">
              <a:lnSpc>
                <a:spcPts val="4200"/>
              </a:lnSpc>
            </a:pPr>
            <a:r>
              <a:rPr lang="en-US" sz="3000" dirty="0">
                <a:solidFill>
                  <a:srgbClr val="000000"/>
                </a:solidFill>
                <a:latin typeface="Rounded M+"/>
                <a:ea typeface="Rounded M+"/>
                <a:cs typeface="Rounded M+"/>
                <a:sym typeface="Rounded M+"/>
              </a:rPr>
              <a:t>・</a:t>
            </a:r>
            <a:r>
              <a:rPr lang="en-US" sz="3000" dirty="0" err="1">
                <a:solidFill>
                  <a:srgbClr val="000000"/>
                </a:solidFill>
                <a:latin typeface="Rounded M+"/>
                <a:ea typeface="Rounded M+"/>
                <a:cs typeface="Rounded M+"/>
                <a:sym typeface="Rounded M+"/>
              </a:rPr>
              <a:t>頂点推定の高度化</a:t>
            </a:r>
            <a:r>
              <a:rPr lang="en-US" sz="3000" dirty="0">
                <a:solidFill>
                  <a:srgbClr val="000000"/>
                </a:solidFill>
                <a:latin typeface="Rounded M+"/>
                <a:ea typeface="Rounded M+"/>
                <a:cs typeface="Rounded M+"/>
                <a:sym typeface="Rounded M+"/>
              </a:rPr>
              <a:t> (</a:t>
            </a:r>
            <a:r>
              <a:rPr lang="en-US" sz="3000" dirty="0" err="1">
                <a:solidFill>
                  <a:srgbClr val="000000"/>
                </a:solidFill>
                <a:latin typeface="Rounded M+"/>
                <a:ea typeface="Rounded M+"/>
                <a:cs typeface="Rounded M+"/>
                <a:sym typeface="Rounded M+"/>
              </a:rPr>
              <a:t>和声分析の導入</a:t>
            </a:r>
            <a:r>
              <a:rPr lang="en-US" sz="3000" dirty="0">
                <a:solidFill>
                  <a:srgbClr val="000000"/>
                </a:solidFill>
                <a:latin typeface="Rounded M+"/>
                <a:ea typeface="Rounded M+"/>
                <a:cs typeface="Rounded M+"/>
                <a:sym typeface="Rounded M+"/>
              </a:rPr>
              <a:t>)</a:t>
            </a:r>
          </a:p>
          <a:p>
            <a:pPr algn="l">
              <a:lnSpc>
                <a:spcPts val="4200"/>
              </a:lnSpc>
            </a:pPr>
            <a:r>
              <a:rPr lang="en-US" sz="3000" dirty="0">
                <a:solidFill>
                  <a:srgbClr val="000000"/>
                </a:solidFill>
                <a:latin typeface="Rounded M+"/>
                <a:ea typeface="Rounded M+"/>
                <a:cs typeface="Rounded M+"/>
                <a:sym typeface="Rounded M+"/>
              </a:rPr>
              <a:t>・</a:t>
            </a:r>
            <a:r>
              <a:rPr lang="en-US" sz="3000" dirty="0" err="1">
                <a:solidFill>
                  <a:srgbClr val="000000"/>
                </a:solidFill>
                <a:latin typeface="Rounded M+"/>
                <a:ea typeface="Rounded M+"/>
                <a:cs typeface="Rounded M+"/>
                <a:sym typeface="Rounded M+"/>
              </a:rPr>
              <a:t>繰り返し記号など、複雑な楽譜への対応</a:t>
            </a:r>
            <a:endParaRPr lang="en-US" sz="3000" dirty="0">
              <a:solidFill>
                <a:srgbClr val="000000"/>
              </a:solidFill>
              <a:latin typeface="Rounded M+"/>
              <a:ea typeface="Rounded M+"/>
              <a:cs typeface="Rounded M+"/>
              <a:sym typeface="Rounded M+"/>
            </a:endParaRPr>
          </a:p>
          <a:p>
            <a:pPr algn="l">
              <a:lnSpc>
                <a:spcPts val="4200"/>
              </a:lnSpc>
            </a:pPr>
            <a:r>
              <a:rPr lang="en-US" sz="3000" dirty="0">
                <a:solidFill>
                  <a:srgbClr val="000000"/>
                </a:solidFill>
                <a:latin typeface="Rounded M+"/>
                <a:ea typeface="Rounded M+"/>
                <a:cs typeface="Rounded M+"/>
                <a:sym typeface="Rounded M+"/>
              </a:rPr>
              <a:t>・</a:t>
            </a:r>
            <a:r>
              <a:rPr lang="en-US" sz="3000" dirty="0" err="1">
                <a:solidFill>
                  <a:srgbClr val="000000"/>
                </a:solidFill>
                <a:latin typeface="Rounded M+"/>
                <a:ea typeface="Rounded M+"/>
                <a:cs typeface="Rounded M+"/>
                <a:sym typeface="Rounded M+"/>
              </a:rPr>
              <a:t>アンサンブル演奏への応用</a:t>
            </a:r>
            <a:endParaRPr lang="en-US" sz="3000" dirty="0">
              <a:solidFill>
                <a:srgbClr val="000000"/>
              </a:solidFill>
              <a:latin typeface="Rounded M+"/>
              <a:ea typeface="Rounded M+"/>
              <a:cs typeface="Rounded M+"/>
              <a:sym typeface="Rounded M+"/>
            </a:endParaRPr>
          </a:p>
        </p:txBody>
      </p:sp>
      <p:grpSp>
        <p:nvGrpSpPr>
          <p:cNvPr id="16" name="Group 16"/>
          <p:cNvGrpSpPr/>
          <p:nvPr/>
        </p:nvGrpSpPr>
        <p:grpSpPr>
          <a:xfrm>
            <a:off x="11978504" y="6877544"/>
            <a:ext cx="5280796" cy="2636729"/>
            <a:chOff x="0" y="0"/>
            <a:chExt cx="7041061" cy="3515639"/>
          </a:xfrm>
        </p:grpSpPr>
        <p:sp>
          <p:nvSpPr>
            <p:cNvPr id="17" name="Freeform 17"/>
            <p:cNvSpPr/>
            <p:nvPr/>
          </p:nvSpPr>
          <p:spPr>
            <a:xfrm>
              <a:off x="2011290" y="0"/>
              <a:ext cx="2884613" cy="2911077"/>
            </a:xfrm>
            <a:custGeom>
              <a:avLst/>
              <a:gdLst/>
              <a:ahLst/>
              <a:cxnLst/>
              <a:rect l="l" t="t" r="r" b="b"/>
              <a:pathLst>
                <a:path w="2884613" h="2911077">
                  <a:moveTo>
                    <a:pt x="0" y="0"/>
                  </a:moveTo>
                  <a:lnTo>
                    <a:pt x="2884613" y="0"/>
                  </a:lnTo>
                  <a:lnTo>
                    <a:pt x="2884613" y="2911077"/>
                  </a:lnTo>
                  <a:lnTo>
                    <a:pt x="0" y="2911077"/>
                  </a:lnTo>
                  <a:lnTo>
                    <a:pt x="0" y="0"/>
                  </a:lnTo>
                  <a:close/>
                </a:path>
              </a:pathLst>
            </a:custGeom>
            <a:blipFill>
              <a:blip r:embed="rId4"/>
              <a:stretch>
                <a:fillRect/>
              </a:stretch>
            </a:blipFill>
          </p:spPr>
        </p:sp>
        <p:sp>
          <p:nvSpPr>
            <p:cNvPr id="18" name="Freeform 18"/>
            <p:cNvSpPr/>
            <p:nvPr/>
          </p:nvSpPr>
          <p:spPr>
            <a:xfrm>
              <a:off x="5241486" y="604562"/>
              <a:ext cx="1799575" cy="2911077"/>
            </a:xfrm>
            <a:custGeom>
              <a:avLst/>
              <a:gdLst/>
              <a:ahLst/>
              <a:cxnLst/>
              <a:rect l="l" t="t" r="r" b="b"/>
              <a:pathLst>
                <a:path w="1799575" h="2911077">
                  <a:moveTo>
                    <a:pt x="0" y="0"/>
                  </a:moveTo>
                  <a:lnTo>
                    <a:pt x="1799575" y="0"/>
                  </a:lnTo>
                  <a:lnTo>
                    <a:pt x="1799575" y="2911077"/>
                  </a:lnTo>
                  <a:lnTo>
                    <a:pt x="0" y="2911077"/>
                  </a:lnTo>
                  <a:lnTo>
                    <a:pt x="0" y="0"/>
                  </a:lnTo>
                  <a:close/>
                </a:path>
              </a:pathLst>
            </a:custGeom>
            <a:blipFill>
              <a:blip r:embed="rId5"/>
              <a:stretch>
                <a:fillRect/>
              </a:stretch>
            </a:blipFill>
          </p:spPr>
        </p:sp>
        <p:sp>
          <p:nvSpPr>
            <p:cNvPr id="19" name="Freeform 19"/>
            <p:cNvSpPr/>
            <p:nvPr/>
          </p:nvSpPr>
          <p:spPr>
            <a:xfrm>
              <a:off x="0" y="604562"/>
              <a:ext cx="2011290" cy="2911077"/>
            </a:xfrm>
            <a:custGeom>
              <a:avLst/>
              <a:gdLst/>
              <a:ahLst/>
              <a:cxnLst/>
              <a:rect l="l" t="t" r="r" b="b"/>
              <a:pathLst>
                <a:path w="2011290" h="2911077">
                  <a:moveTo>
                    <a:pt x="0" y="0"/>
                  </a:moveTo>
                  <a:lnTo>
                    <a:pt x="2011290" y="0"/>
                  </a:lnTo>
                  <a:lnTo>
                    <a:pt x="2011290" y="2911077"/>
                  </a:lnTo>
                  <a:lnTo>
                    <a:pt x="0" y="2911077"/>
                  </a:lnTo>
                  <a:lnTo>
                    <a:pt x="0" y="0"/>
                  </a:lnTo>
                  <a:close/>
                </a:path>
              </a:pathLst>
            </a:custGeom>
            <a:blipFill>
              <a:blip r:embed="rId6"/>
              <a:stretch>
                <a:fillRect/>
              </a:stretch>
            </a:blipFill>
          </p:spPr>
        </p:sp>
      </p:grpSp>
      <p:sp>
        <p:nvSpPr>
          <p:cNvPr id="20" name="TextBox 20"/>
          <p:cNvSpPr txBox="1"/>
          <p:nvPr/>
        </p:nvSpPr>
        <p:spPr>
          <a:xfrm>
            <a:off x="1292961" y="1142249"/>
            <a:ext cx="6858000" cy="1028700"/>
          </a:xfrm>
          <a:prstGeom prst="rect">
            <a:avLst/>
          </a:prstGeom>
        </p:spPr>
        <p:txBody>
          <a:bodyPr lIns="0" tIns="0" rIns="0" bIns="0" rtlCol="0" anchor="t">
            <a:spAutoFit/>
          </a:bodyPr>
          <a:lstStyle/>
          <a:p>
            <a:pPr algn="l">
              <a:lnSpc>
                <a:spcPts val="8400"/>
              </a:lnSpc>
              <a:spcBef>
                <a:spcPct val="0"/>
              </a:spcBef>
            </a:pPr>
            <a:r>
              <a:rPr lang="en-US" sz="6000">
                <a:solidFill>
                  <a:srgbClr val="000000"/>
                </a:solidFill>
                <a:latin typeface="Noto Sans JP"/>
                <a:ea typeface="Noto Sans JP"/>
                <a:cs typeface="Noto Sans JP"/>
                <a:sym typeface="Noto Sans JP"/>
              </a:rPr>
              <a:t>まとめと今後の課題</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539</TotalTime>
  <Words>1511</Words>
  <Application>Microsoft Office PowerPoint</Application>
  <PresentationFormat>ユーザー設定</PresentationFormat>
  <Paragraphs>251</Paragraphs>
  <Slides>12</Slides>
  <Notes>12</Notes>
  <HiddenSlides>0</HiddenSlides>
  <MMClips>1</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12</vt:i4>
      </vt:variant>
    </vt:vector>
  </HeadingPairs>
  <TitlesOfParts>
    <vt:vector size="19" baseType="lpstr">
      <vt:lpstr>Calibri</vt:lpstr>
      <vt:lpstr>Inter</vt:lpstr>
      <vt:lpstr>Rounded M+</vt:lpstr>
      <vt:lpstr>Rounded M+ Bold</vt:lpstr>
      <vt:lpstr>Noto Sans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楽譜上のフレーズに基づく演奏表情のパラメータ制御システム</dc:title>
  <cp:lastModifiedBy>桃花 白波瀬</cp:lastModifiedBy>
  <cp:revision>47</cp:revision>
  <dcterms:created xsi:type="dcterms:W3CDTF">2006-08-16T00:00:00Z</dcterms:created>
  <dcterms:modified xsi:type="dcterms:W3CDTF">2026-02-12T14:00:28Z</dcterms:modified>
  <dc:identifier>DAG-GPN59i8</dc:identifier>
</cp:coreProperties>
</file>