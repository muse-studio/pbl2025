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62004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51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110" y="442"/>
      </p:cViewPr>
      <p:guideLst>
        <p:guide orient="horz" pos="2160"/>
        <p:guide pos="51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800000" cy="18000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25055" y="1122363"/>
            <a:ext cx="12150329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5055" y="3602038"/>
            <a:ext cx="12150329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25A13-1BFA-4CD0-B5A7-0FFD6D0B1957}" type="datetimeFigureOut">
              <a:rPr kumimoji="1" lang="ja-JP" altLang="en-US" smtClean="0"/>
              <a:t>2026/2/11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6CF58-DCF4-48F9-B3F7-358FACED68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1427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25A13-1BFA-4CD0-B5A7-0FFD6D0B1957}" type="datetimeFigureOut">
              <a:rPr kumimoji="1" lang="ja-JP" altLang="en-US" smtClean="0"/>
              <a:t>2026/2/11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6CF58-DCF4-48F9-B3F7-358FACED68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3861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5342" y="1709739"/>
            <a:ext cx="13972878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5342" y="4589464"/>
            <a:ext cx="13972878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25A13-1BFA-4CD0-B5A7-0FFD6D0B1957}" type="datetimeFigureOut">
              <a:rPr kumimoji="1" lang="ja-JP" altLang="en-US" smtClean="0"/>
              <a:t>2026/2/11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6CF58-DCF4-48F9-B3F7-358FACED68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196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3780" y="1825625"/>
            <a:ext cx="6885186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01472" y="1825625"/>
            <a:ext cx="6885186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25A13-1BFA-4CD0-B5A7-0FFD6D0B1957}" type="datetimeFigureOut">
              <a:rPr kumimoji="1" lang="ja-JP" altLang="en-US" smtClean="0"/>
              <a:t>2026/2/11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6CF58-DCF4-48F9-B3F7-358FACED68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5643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890" y="365126"/>
            <a:ext cx="13972878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5891" y="1681163"/>
            <a:ext cx="6853544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5891" y="2505075"/>
            <a:ext cx="6853544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201472" y="1681163"/>
            <a:ext cx="688729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201472" y="2505075"/>
            <a:ext cx="6887296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25A13-1BFA-4CD0-B5A7-0FFD6D0B1957}" type="datetimeFigureOut">
              <a:rPr kumimoji="1" lang="ja-JP" altLang="en-US" smtClean="0"/>
              <a:t>2026/2/11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6CF58-DCF4-48F9-B3F7-358FACED68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2737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25A13-1BFA-4CD0-B5A7-0FFD6D0B1957}" type="datetimeFigureOut">
              <a:rPr kumimoji="1" lang="ja-JP" altLang="en-US" smtClean="0"/>
              <a:t>2026/2/11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6CF58-DCF4-48F9-B3F7-358FACED68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8429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25A13-1BFA-4CD0-B5A7-0FFD6D0B1957}" type="datetimeFigureOut">
              <a:rPr kumimoji="1" lang="ja-JP" altLang="en-US" smtClean="0"/>
              <a:t>2026/2/11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6CF58-DCF4-48F9-B3F7-358FACED68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5478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891" y="457200"/>
            <a:ext cx="5225062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7296" y="987426"/>
            <a:ext cx="8201472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891" y="2057400"/>
            <a:ext cx="5225062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25A13-1BFA-4CD0-B5A7-0FFD6D0B1957}" type="datetimeFigureOut">
              <a:rPr kumimoji="1" lang="ja-JP" altLang="en-US" smtClean="0"/>
              <a:t>2026/2/11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6CF58-DCF4-48F9-B3F7-358FACED68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7982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891" y="457200"/>
            <a:ext cx="5225062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87296" y="987426"/>
            <a:ext cx="8201472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891" y="2057400"/>
            <a:ext cx="5225062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25A13-1BFA-4CD0-B5A7-0FFD6D0B1957}" type="datetimeFigureOut">
              <a:rPr kumimoji="1" lang="ja-JP" altLang="en-US" smtClean="0"/>
              <a:t>2026/2/11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6CF58-DCF4-48F9-B3F7-358FACED68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5726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25A13-1BFA-4CD0-B5A7-0FFD6D0B1957}" type="datetimeFigureOut">
              <a:rPr kumimoji="1" lang="ja-JP" altLang="en-US" smtClean="0"/>
              <a:t>2026/2/11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6CF58-DCF4-48F9-B3F7-358FACED68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3323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93439" y="365125"/>
            <a:ext cx="3493219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780" y="365125"/>
            <a:ext cx="10277153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25A13-1BFA-4CD0-B5A7-0FFD6D0B1957}" type="datetimeFigureOut">
              <a:rPr kumimoji="1" lang="ja-JP" altLang="en-US" smtClean="0"/>
              <a:t>2026/2/11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6CF58-DCF4-48F9-B3F7-358FACED68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6903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3780" y="365126"/>
            <a:ext cx="1397287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780" y="1825625"/>
            <a:ext cx="1397287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3780" y="6356351"/>
            <a:ext cx="36450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825A13-1BFA-4CD0-B5A7-0FFD6D0B1957}" type="datetimeFigureOut">
              <a:rPr kumimoji="1" lang="ja-JP" altLang="en-US" smtClean="0"/>
              <a:t>2026/2/11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66395" y="6356351"/>
            <a:ext cx="546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41559" y="6356351"/>
            <a:ext cx="36450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16CF58-DCF4-48F9-B3F7-358FACED68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0490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四角形: 角を丸くする 78">
            <a:extLst>
              <a:ext uri="{FF2B5EF4-FFF2-40B4-BE49-F238E27FC236}">
                <a16:creationId xmlns:a16="http://schemas.microsoft.com/office/drawing/2014/main" id="{B8B984B5-30B4-FBA1-6C8A-EE6CA11A9C91}"/>
              </a:ext>
            </a:extLst>
          </p:cNvPr>
          <p:cNvSpPr/>
          <p:nvPr/>
        </p:nvSpPr>
        <p:spPr>
          <a:xfrm>
            <a:off x="8548282" y="1190184"/>
            <a:ext cx="3105736" cy="4429736"/>
          </a:xfrm>
          <a:prstGeom prst="roundRect">
            <a:avLst>
              <a:gd name="adj" fmla="val 0"/>
            </a:avLst>
          </a:prstGeom>
          <a:noFill/>
          <a:ln w="8255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000" dirty="0">
              <a:solidFill>
                <a:schemeClr val="tx1"/>
              </a:solidFill>
            </a:endParaRP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FFEF1F40-E253-F69F-C360-43488DAA8489}"/>
              </a:ext>
            </a:extLst>
          </p:cNvPr>
          <p:cNvSpPr/>
          <p:nvPr/>
        </p:nvSpPr>
        <p:spPr>
          <a:xfrm>
            <a:off x="4912572" y="462984"/>
            <a:ext cx="10984695" cy="5966848"/>
          </a:xfrm>
          <a:prstGeom prst="roundRect">
            <a:avLst>
              <a:gd name="adj" fmla="val 0"/>
            </a:avLst>
          </a:prstGeom>
          <a:noFill/>
          <a:ln w="952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/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36BA915A-52F8-B90D-4D7E-4DCC80899BC8}"/>
              </a:ext>
            </a:extLst>
          </p:cNvPr>
          <p:cNvSpPr/>
          <p:nvPr/>
        </p:nvSpPr>
        <p:spPr>
          <a:xfrm>
            <a:off x="272368" y="521037"/>
            <a:ext cx="3846975" cy="5908793"/>
          </a:xfrm>
          <a:prstGeom prst="roundRect">
            <a:avLst>
              <a:gd name="adj" fmla="val 8826"/>
            </a:avLst>
          </a:prstGeom>
          <a:noFill/>
          <a:ln w="952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004BC31A-A50A-427E-22D1-3726C96417F0}"/>
              </a:ext>
            </a:extLst>
          </p:cNvPr>
          <p:cNvSpPr/>
          <p:nvPr/>
        </p:nvSpPr>
        <p:spPr>
          <a:xfrm>
            <a:off x="1261279" y="205207"/>
            <a:ext cx="1898045" cy="642405"/>
          </a:xfrm>
          <a:prstGeom prst="roundRect">
            <a:avLst>
              <a:gd name="adj" fmla="val 27984"/>
            </a:avLst>
          </a:prstGeom>
          <a:solidFill>
            <a:schemeClr val="bg1"/>
          </a:solidFill>
          <a:ln w="952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dirty="0">
                <a:solidFill>
                  <a:schemeClr val="tx1"/>
                </a:solidFill>
                <a:latin typeface="モボ-SemiBold" panose="02000700000000000000" pitchFamily="50" charset="-128"/>
                <a:ea typeface="モボ-SemiBold" panose="02000700000000000000" pitchFamily="50" charset="-128"/>
              </a:rPr>
              <a:t>ユーザ</a:t>
            </a:r>
          </a:p>
        </p:txBody>
      </p:sp>
      <p:pic>
        <p:nvPicPr>
          <p:cNvPr id="13" name="グラフィックス 12" descr="ユーザー 枠線">
            <a:extLst>
              <a:ext uri="{FF2B5EF4-FFF2-40B4-BE49-F238E27FC236}">
                <a16:creationId xmlns:a16="http://schemas.microsoft.com/office/drawing/2014/main" id="{7A9E385F-75A6-958A-F73B-541EC909A3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42196" y="902759"/>
            <a:ext cx="1314852" cy="1314852"/>
          </a:xfrm>
          <a:prstGeom prst="rect">
            <a:avLst/>
          </a:prstGeom>
        </p:spPr>
      </p:pic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1890ABF3-3AFD-71DA-424A-414D22BAD622}"/>
              </a:ext>
            </a:extLst>
          </p:cNvPr>
          <p:cNvSpPr/>
          <p:nvPr/>
        </p:nvSpPr>
        <p:spPr>
          <a:xfrm>
            <a:off x="755014" y="2285882"/>
            <a:ext cx="2893979" cy="979861"/>
          </a:xfrm>
          <a:prstGeom prst="roundRect">
            <a:avLst>
              <a:gd name="adj" fmla="val 29934"/>
            </a:avLst>
          </a:prstGeom>
          <a:noFill/>
          <a:ln w="952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000" dirty="0">
              <a:solidFill>
                <a:schemeClr val="tx1"/>
              </a:solidFill>
            </a:endParaRPr>
          </a:p>
        </p:txBody>
      </p: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BBB4335D-FB36-8DB4-A91B-EFB4A2F78C03}"/>
              </a:ext>
            </a:extLst>
          </p:cNvPr>
          <p:cNvCxnSpPr>
            <a:cxnSpLocks/>
          </p:cNvCxnSpPr>
          <p:nvPr/>
        </p:nvCxnSpPr>
        <p:spPr>
          <a:xfrm flipH="1">
            <a:off x="2199621" y="3468489"/>
            <a:ext cx="10676" cy="632904"/>
          </a:xfrm>
          <a:prstGeom prst="straightConnector1">
            <a:avLst/>
          </a:prstGeom>
          <a:ln w="152400" cap="rnd">
            <a:solidFill>
              <a:schemeClr val="tx1"/>
            </a:solidFill>
            <a:round/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4D18B4CC-B30C-B247-3EF8-8ADA56868333}"/>
              </a:ext>
            </a:extLst>
          </p:cNvPr>
          <p:cNvSpPr/>
          <p:nvPr/>
        </p:nvSpPr>
        <p:spPr>
          <a:xfrm>
            <a:off x="640229" y="4228302"/>
            <a:ext cx="3115601" cy="1858619"/>
          </a:xfrm>
          <a:prstGeom prst="roundRect">
            <a:avLst>
              <a:gd name="adj" fmla="val 19325"/>
            </a:avLst>
          </a:prstGeom>
          <a:noFill/>
          <a:ln w="952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>
              <a:solidFill>
                <a:schemeClr val="tx1"/>
              </a:solidFill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F29C8F3E-0C09-4F0E-1077-44EA72753991}"/>
              </a:ext>
            </a:extLst>
          </p:cNvPr>
          <p:cNvSpPr/>
          <p:nvPr/>
        </p:nvSpPr>
        <p:spPr>
          <a:xfrm>
            <a:off x="3952865" y="4862297"/>
            <a:ext cx="667657" cy="5660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5290A735-C091-5437-13E9-5E907A79B16B}"/>
              </a:ext>
            </a:extLst>
          </p:cNvPr>
          <p:cNvCxnSpPr>
            <a:cxnSpLocks/>
            <a:stCxn id="20" idx="1"/>
          </p:cNvCxnSpPr>
          <p:nvPr/>
        </p:nvCxnSpPr>
        <p:spPr>
          <a:xfrm flipV="1">
            <a:off x="3952865" y="5145317"/>
            <a:ext cx="560124" cy="4"/>
          </a:xfrm>
          <a:prstGeom prst="straightConnector1">
            <a:avLst/>
          </a:prstGeom>
          <a:ln w="152400" cap="rnd">
            <a:solidFill>
              <a:schemeClr val="tx1"/>
            </a:solidFill>
            <a:tailEnd type="non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4836445E-B14A-EF73-474E-1DED819B5A8F}"/>
              </a:ext>
            </a:extLst>
          </p:cNvPr>
          <p:cNvSpPr/>
          <p:nvPr/>
        </p:nvSpPr>
        <p:spPr>
          <a:xfrm>
            <a:off x="4603377" y="2196696"/>
            <a:ext cx="667657" cy="5660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E1F839A3-AC71-A0BF-5E34-762FA35E1D0D}"/>
              </a:ext>
            </a:extLst>
          </p:cNvPr>
          <p:cNvCxnSpPr>
            <a:cxnSpLocks/>
          </p:cNvCxnSpPr>
          <p:nvPr/>
        </p:nvCxnSpPr>
        <p:spPr>
          <a:xfrm>
            <a:off x="4512989" y="2468511"/>
            <a:ext cx="1094740" cy="0"/>
          </a:xfrm>
          <a:prstGeom prst="straightConnector1">
            <a:avLst/>
          </a:prstGeom>
          <a:ln w="152400">
            <a:solidFill>
              <a:schemeClr val="tx1"/>
            </a:solidFill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A8057F74-7903-2A87-1976-509754AF18C1}"/>
              </a:ext>
            </a:extLst>
          </p:cNvPr>
          <p:cNvCxnSpPr>
            <a:cxnSpLocks/>
          </p:cNvCxnSpPr>
          <p:nvPr/>
        </p:nvCxnSpPr>
        <p:spPr>
          <a:xfrm flipV="1">
            <a:off x="4580232" y="2392680"/>
            <a:ext cx="0" cy="2828925"/>
          </a:xfrm>
          <a:prstGeom prst="straightConnector1">
            <a:avLst/>
          </a:prstGeom>
          <a:ln w="152400">
            <a:solidFill>
              <a:schemeClr val="tx1"/>
            </a:solidFill>
            <a:tailEnd type="non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四角形: 角を丸くする 29">
            <a:extLst>
              <a:ext uri="{FF2B5EF4-FFF2-40B4-BE49-F238E27FC236}">
                <a16:creationId xmlns:a16="http://schemas.microsoft.com/office/drawing/2014/main" id="{1D0FA96D-4548-5947-A116-F72FA09AB34C}"/>
              </a:ext>
            </a:extLst>
          </p:cNvPr>
          <p:cNvSpPr/>
          <p:nvPr/>
        </p:nvSpPr>
        <p:spPr>
          <a:xfrm>
            <a:off x="5736593" y="2072954"/>
            <a:ext cx="1896973" cy="791116"/>
          </a:xfrm>
          <a:prstGeom prst="roundRect">
            <a:avLst>
              <a:gd name="adj" fmla="val 0"/>
            </a:avLst>
          </a:prstGeom>
          <a:noFill/>
          <a:ln w="889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000" dirty="0">
              <a:solidFill>
                <a:schemeClr val="tx1"/>
              </a:solidFill>
            </a:endParaRPr>
          </a:p>
        </p:txBody>
      </p: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E08E666F-E0F2-CFEF-C8E1-7CEB0ADC1C2D}"/>
              </a:ext>
            </a:extLst>
          </p:cNvPr>
          <p:cNvCxnSpPr>
            <a:cxnSpLocks/>
          </p:cNvCxnSpPr>
          <p:nvPr/>
        </p:nvCxnSpPr>
        <p:spPr>
          <a:xfrm>
            <a:off x="6660890" y="3024045"/>
            <a:ext cx="0" cy="749252"/>
          </a:xfrm>
          <a:prstGeom prst="straightConnector1">
            <a:avLst/>
          </a:prstGeom>
          <a:ln w="152400">
            <a:solidFill>
              <a:schemeClr val="tx1"/>
            </a:solidFill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四角形: 角を丸くする 47">
            <a:extLst>
              <a:ext uri="{FF2B5EF4-FFF2-40B4-BE49-F238E27FC236}">
                <a16:creationId xmlns:a16="http://schemas.microsoft.com/office/drawing/2014/main" id="{64344331-97A1-A4C3-0A3D-E671E3DDCC0F}"/>
              </a:ext>
            </a:extLst>
          </p:cNvPr>
          <p:cNvSpPr/>
          <p:nvPr/>
        </p:nvSpPr>
        <p:spPr>
          <a:xfrm>
            <a:off x="5866114" y="3933273"/>
            <a:ext cx="1589559" cy="929020"/>
          </a:xfrm>
          <a:prstGeom prst="roundRect">
            <a:avLst>
              <a:gd name="adj" fmla="val 0"/>
            </a:avLst>
          </a:prstGeom>
          <a:noFill/>
          <a:ln w="889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2000" dirty="0">
              <a:solidFill>
                <a:schemeClr val="tx1"/>
              </a:solidFill>
            </a:endParaRPr>
          </a:p>
        </p:txBody>
      </p: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CBB6D3C4-B531-21A1-9537-6D3C150C88E4}"/>
              </a:ext>
            </a:extLst>
          </p:cNvPr>
          <p:cNvCxnSpPr>
            <a:cxnSpLocks/>
          </p:cNvCxnSpPr>
          <p:nvPr/>
        </p:nvCxnSpPr>
        <p:spPr>
          <a:xfrm>
            <a:off x="7648078" y="4381814"/>
            <a:ext cx="493807" cy="0"/>
          </a:xfrm>
          <a:prstGeom prst="straightConnector1">
            <a:avLst/>
          </a:prstGeom>
          <a:ln w="152400">
            <a:solidFill>
              <a:schemeClr val="tx1"/>
            </a:solidFill>
            <a:tailEnd type="non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直線矢印コネクタ 65">
            <a:extLst>
              <a:ext uri="{FF2B5EF4-FFF2-40B4-BE49-F238E27FC236}">
                <a16:creationId xmlns:a16="http://schemas.microsoft.com/office/drawing/2014/main" id="{6E1AADB5-E11C-4BAE-1B92-C352FC9BA70D}"/>
              </a:ext>
            </a:extLst>
          </p:cNvPr>
          <p:cNvCxnSpPr>
            <a:cxnSpLocks/>
          </p:cNvCxnSpPr>
          <p:nvPr/>
        </p:nvCxnSpPr>
        <p:spPr>
          <a:xfrm>
            <a:off x="8045433" y="2105661"/>
            <a:ext cx="766980" cy="0"/>
          </a:xfrm>
          <a:prstGeom prst="straightConnector1">
            <a:avLst/>
          </a:prstGeom>
          <a:ln w="152400">
            <a:solidFill>
              <a:schemeClr val="tx1"/>
            </a:solidFill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A668C28B-840D-3F1C-53A5-339473D69437}"/>
              </a:ext>
            </a:extLst>
          </p:cNvPr>
          <p:cNvCxnSpPr>
            <a:cxnSpLocks/>
          </p:cNvCxnSpPr>
          <p:nvPr/>
        </p:nvCxnSpPr>
        <p:spPr>
          <a:xfrm flipV="1">
            <a:off x="8121719" y="2063740"/>
            <a:ext cx="0" cy="3858093"/>
          </a:xfrm>
          <a:prstGeom prst="straightConnector1">
            <a:avLst/>
          </a:prstGeom>
          <a:ln w="152400">
            <a:solidFill>
              <a:schemeClr val="tx1"/>
            </a:solidFill>
            <a:tailEnd type="non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直線矢印コネクタ 69">
            <a:extLst>
              <a:ext uri="{FF2B5EF4-FFF2-40B4-BE49-F238E27FC236}">
                <a16:creationId xmlns:a16="http://schemas.microsoft.com/office/drawing/2014/main" id="{3A2A3549-0051-6D26-BC74-A0DEB9A91DAF}"/>
              </a:ext>
            </a:extLst>
          </p:cNvPr>
          <p:cNvCxnSpPr>
            <a:cxnSpLocks/>
          </p:cNvCxnSpPr>
          <p:nvPr/>
        </p:nvCxnSpPr>
        <p:spPr>
          <a:xfrm>
            <a:off x="8141885" y="3455641"/>
            <a:ext cx="672803" cy="1"/>
          </a:xfrm>
          <a:prstGeom prst="straightConnector1">
            <a:avLst/>
          </a:prstGeom>
          <a:ln w="152400">
            <a:solidFill>
              <a:schemeClr val="tx1"/>
            </a:solidFill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直線矢印コネクタ 70">
            <a:extLst>
              <a:ext uri="{FF2B5EF4-FFF2-40B4-BE49-F238E27FC236}">
                <a16:creationId xmlns:a16="http://schemas.microsoft.com/office/drawing/2014/main" id="{8CBDFB98-46DC-C973-E135-685B4B831280}"/>
              </a:ext>
            </a:extLst>
          </p:cNvPr>
          <p:cNvCxnSpPr>
            <a:cxnSpLocks/>
          </p:cNvCxnSpPr>
          <p:nvPr/>
        </p:nvCxnSpPr>
        <p:spPr>
          <a:xfrm>
            <a:off x="8100219" y="4830902"/>
            <a:ext cx="710289" cy="0"/>
          </a:xfrm>
          <a:prstGeom prst="straightConnector1">
            <a:avLst/>
          </a:prstGeom>
          <a:ln w="152400">
            <a:solidFill>
              <a:schemeClr val="tx1"/>
            </a:solidFill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四角形: 角を丸くする 72">
            <a:extLst>
              <a:ext uri="{FF2B5EF4-FFF2-40B4-BE49-F238E27FC236}">
                <a16:creationId xmlns:a16="http://schemas.microsoft.com/office/drawing/2014/main" id="{C028C502-58A6-B651-3020-0B50AD64B019}"/>
              </a:ext>
            </a:extLst>
          </p:cNvPr>
          <p:cNvSpPr/>
          <p:nvPr/>
        </p:nvSpPr>
        <p:spPr>
          <a:xfrm>
            <a:off x="9021803" y="1613325"/>
            <a:ext cx="2214407" cy="986116"/>
          </a:xfrm>
          <a:prstGeom prst="roundRect">
            <a:avLst>
              <a:gd name="adj" fmla="val 0"/>
            </a:avLst>
          </a:prstGeom>
          <a:noFill/>
          <a:ln w="889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800" dirty="0">
                <a:solidFill>
                  <a:schemeClr val="tx1"/>
                </a:solidFill>
              </a:rPr>
              <a:t>サイドバー</a:t>
            </a:r>
            <a:endParaRPr lang="en-US" altLang="ja-JP" sz="2800" dirty="0">
              <a:solidFill>
                <a:schemeClr val="tx1"/>
              </a:solidFill>
            </a:endParaRPr>
          </a:p>
          <a:p>
            <a:pPr algn="ctr"/>
            <a:r>
              <a:rPr lang="ja-JP" altLang="en-US" sz="2800" dirty="0">
                <a:solidFill>
                  <a:schemeClr val="tx1"/>
                </a:solidFill>
              </a:rPr>
              <a:t>に追加</a:t>
            </a:r>
          </a:p>
        </p:txBody>
      </p:sp>
      <p:sp>
        <p:nvSpPr>
          <p:cNvPr id="74" name="四角形: 角を丸くする 73">
            <a:extLst>
              <a:ext uri="{FF2B5EF4-FFF2-40B4-BE49-F238E27FC236}">
                <a16:creationId xmlns:a16="http://schemas.microsoft.com/office/drawing/2014/main" id="{2BE5E582-E076-2962-B0A7-EDABAB844530}"/>
              </a:ext>
            </a:extLst>
          </p:cNvPr>
          <p:cNvSpPr/>
          <p:nvPr/>
        </p:nvSpPr>
        <p:spPr>
          <a:xfrm>
            <a:off x="9021803" y="2949305"/>
            <a:ext cx="2214407" cy="986116"/>
          </a:xfrm>
          <a:prstGeom prst="roundRect">
            <a:avLst>
              <a:gd name="adj" fmla="val 0"/>
            </a:avLst>
          </a:prstGeom>
          <a:noFill/>
          <a:ln w="889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800" dirty="0">
                <a:solidFill>
                  <a:schemeClr val="tx1"/>
                </a:solidFill>
              </a:rPr>
              <a:t>メニューに</a:t>
            </a:r>
            <a:endParaRPr lang="en-US" altLang="ja-JP" sz="2800" dirty="0">
              <a:solidFill>
                <a:schemeClr val="tx1"/>
              </a:solidFill>
            </a:endParaRPr>
          </a:p>
          <a:p>
            <a:pPr algn="ctr"/>
            <a:r>
              <a:rPr lang="ja-JP" altLang="en-US" sz="2800" dirty="0">
                <a:solidFill>
                  <a:schemeClr val="tx1"/>
                </a:solidFill>
              </a:rPr>
              <a:t>追加</a:t>
            </a:r>
          </a:p>
        </p:txBody>
      </p:sp>
      <p:sp>
        <p:nvSpPr>
          <p:cNvPr id="75" name="四角形: 角を丸くする 74">
            <a:extLst>
              <a:ext uri="{FF2B5EF4-FFF2-40B4-BE49-F238E27FC236}">
                <a16:creationId xmlns:a16="http://schemas.microsoft.com/office/drawing/2014/main" id="{14C061F3-D935-945F-41D4-FEABF1BDB33C}"/>
              </a:ext>
            </a:extLst>
          </p:cNvPr>
          <p:cNvSpPr/>
          <p:nvPr/>
        </p:nvSpPr>
        <p:spPr>
          <a:xfrm>
            <a:off x="9021803" y="4314814"/>
            <a:ext cx="2214407" cy="986116"/>
          </a:xfrm>
          <a:prstGeom prst="roundRect">
            <a:avLst>
              <a:gd name="adj" fmla="val 0"/>
            </a:avLst>
          </a:prstGeom>
          <a:noFill/>
          <a:ln w="889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000" dirty="0">
              <a:solidFill>
                <a:schemeClr val="tx1"/>
              </a:solidFill>
            </a:endParaRPr>
          </a:p>
        </p:txBody>
      </p:sp>
      <p:sp>
        <p:nvSpPr>
          <p:cNvPr id="84" name="正方形/長方形 83">
            <a:extLst>
              <a:ext uri="{FF2B5EF4-FFF2-40B4-BE49-F238E27FC236}">
                <a16:creationId xmlns:a16="http://schemas.microsoft.com/office/drawing/2014/main" id="{8A73E32A-5030-BA37-DF2D-42E6E8255A4A}"/>
              </a:ext>
            </a:extLst>
          </p:cNvPr>
          <p:cNvSpPr/>
          <p:nvPr/>
        </p:nvSpPr>
        <p:spPr>
          <a:xfrm>
            <a:off x="8880869" y="907163"/>
            <a:ext cx="2450411" cy="5660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000" dirty="0">
              <a:solidFill>
                <a:schemeClr val="tx1"/>
              </a:solidFill>
            </a:endParaRP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4AD76141-F6F1-6E8E-F3C7-0A3D41C12413}"/>
              </a:ext>
            </a:extLst>
          </p:cNvPr>
          <p:cNvSpPr/>
          <p:nvPr/>
        </p:nvSpPr>
        <p:spPr>
          <a:xfrm>
            <a:off x="9187788" y="205205"/>
            <a:ext cx="2214412" cy="64240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3600" dirty="0">
                <a:solidFill>
                  <a:schemeClr val="tx1"/>
                </a:solidFill>
                <a:latin typeface="モボ-SemiBold" panose="02000700000000000000" pitchFamily="50" charset="-128"/>
                <a:ea typeface="モボ-SemiBold" panose="02000700000000000000" pitchFamily="50" charset="-128"/>
              </a:rPr>
              <a:t>D</a:t>
            </a:r>
            <a:r>
              <a:rPr lang="en-US" altLang="ja-JP" sz="700" dirty="0">
                <a:solidFill>
                  <a:schemeClr val="tx1"/>
                </a:solidFill>
                <a:latin typeface="モボ-SemiBold" panose="02000700000000000000" pitchFamily="50" charset="-128"/>
                <a:ea typeface="モボ-SemiBold" panose="02000700000000000000" pitchFamily="50" charset="-128"/>
              </a:rPr>
              <a:t> </a:t>
            </a:r>
            <a:r>
              <a:rPr lang="en-US" altLang="ja-JP" sz="3600" dirty="0">
                <a:solidFill>
                  <a:schemeClr val="tx1"/>
                </a:solidFill>
                <a:latin typeface="モボ-SemiBold" panose="02000700000000000000" pitchFamily="50" charset="-128"/>
                <a:ea typeface="モボ-SemiBold" panose="02000700000000000000" pitchFamily="50" charset="-128"/>
              </a:rPr>
              <a:t>AW</a:t>
            </a:r>
            <a:r>
              <a:rPr lang="en-US" altLang="ja-JP" sz="2400" dirty="0">
                <a:solidFill>
                  <a:schemeClr val="tx1"/>
                </a:solidFill>
                <a:latin typeface="モボ-SemiBold" panose="02000700000000000000" pitchFamily="50" charset="-128"/>
                <a:ea typeface="モボ-SemiBold" panose="02000700000000000000" pitchFamily="50" charset="-128"/>
              </a:rPr>
              <a:t> </a:t>
            </a:r>
            <a:r>
              <a:rPr lang="en-US" altLang="ja-JP" sz="3600" dirty="0">
                <a:solidFill>
                  <a:schemeClr val="tx1"/>
                </a:solidFill>
                <a:latin typeface="モボ-SemiBold" panose="02000700000000000000" pitchFamily="50" charset="-128"/>
                <a:ea typeface="モボ-SemiBold" panose="02000700000000000000" pitchFamily="50" charset="-128"/>
              </a:rPr>
              <a:t>I</a:t>
            </a:r>
            <a:r>
              <a:rPr lang="en-US" altLang="ja-JP" sz="2000" dirty="0">
                <a:solidFill>
                  <a:schemeClr val="tx1"/>
                </a:solidFill>
                <a:latin typeface="モボ-SemiBold" panose="02000700000000000000" pitchFamily="50" charset="-128"/>
                <a:ea typeface="モボ-SemiBold" panose="02000700000000000000" pitchFamily="50" charset="-128"/>
              </a:rPr>
              <a:t> </a:t>
            </a:r>
            <a:r>
              <a:rPr lang="en-US" altLang="ja-JP" sz="3600" dirty="0">
                <a:solidFill>
                  <a:schemeClr val="tx1"/>
                </a:solidFill>
                <a:latin typeface="モボ-SemiBold" panose="02000700000000000000" pitchFamily="50" charset="-128"/>
                <a:ea typeface="モボ-SemiBold" panose="02000700000000000000" pitchFamily="50" charset="-128"/>
              </a:rPr>
              <a:t>Y</a:t>
            </a:r>
            <a:endParaRPr lang="ja-JP" altLang="en-US" sz="3600" dirty="0">
              <a:solidFill>
                <a:schemeClr val="tx1"/>
              </a:solidFill>
              <a:latin typeface="モボ-SemiBold" panose="02000700000000000000" pitchFamily="50" charset="-128"/>
              <a:ea typeface="モボ-SemiBold" panose="02000700000000000000" pitchFamily="50" charset="-128"/>
            </a:endParaRPr>
          </a:p>
        </p:txBody>
      </p:sp>
      <p:cxnSp>
        <p:nvCxnSpPr>
          <p:cNvPr id="86" name="直線矢印コネクタ 85">
            <a:extLst>
              <a:ext uri="{FF2B5EF4-FFF2-40B4-BE49-F238E27FC236}">
                <a16:creationId xmlns:a16="http://schemas.microsoft.com/office/drawing/2014/main" id="{8AF8B537-153B-028D-F2BE-E2CC103A7F2D}"/>
              </a:ext>
            </a:extLst>
          </p:cNvPr>
          <p:cNvCxnSpPr>
            <a:cxnSpLocks/>
          </p:cNvCxnSpPr>
          <p:nvPr/>
        </p:nvCxnSpPr>
        <p:spPr>
          <a:xfrm>
            <a:off x="8049149" y="5921829"/>
            <a:ext cx="3918858" cy="0"/>
          </a:xfrm>
          <a:prstGeom prst="straightConnector1">
            <a:avLst/>
          </a:prstGeom>
          <a:ln w="152400">
            <a:solidFill>
              <a:schemeClr val="tx1"/>
            </a:solidFill>
            <a:tailEnd type="non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直線矢印コネクタ 89">
            <a:extLst>
              <a:ext uri="{FF2B5EF4-FFF2-40B4-BE49-F238E27FC236}">
                <a16:creationId xmlns:a16="http://schemas.microsoft.com/office/drawing/2014/main" id="{30430A17-F88B-DED9-A688-48C5EA8CCBFB}"/>
              </a:ext>
            </a:extLst>
          </p:cNvPr>
          <p:cNvCxnSpPr>
            <a:cxnSpLocks/>
          </p:cNvCxnSpPr>
          <p:nvPr/>
        </p:nvCxnSpPr>
        <p:spPr>
          <a:xfrm flipV="1">
            <a:off x="11968007" y="3455641"/>
            <a:ext cx="0" cy="2542823"/>
          </a:xfrm>
          <a:prstGeom prst="straightConnector1">
            <a:avLst/>
          </a:prstGeom>
          <a:ln w="152400">
            <a:solidFill>
              <a:schemeClr val="tx1"/>
            </a:solidFill>
            <a:tailEnd type="non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直線矢印コネクタ 92">
            <a:extLst>
              <a:ext uri="{FF2B5EF4-FFF2-40B4-BE49-F238E27FC236}">
                <a16:creationId xmlns:a16="http://schemas.microsoft.com/office/drawing/2014/main" id="{11D69CDE-312E-4517-326E-0329AECEF90A}"/>
              </a:ext>
            </a:extLst>
          </p:cNvPr>
          <p:cNvCxnSpPr>
            <a:cxnSpLocks/>
          </p:cNvCxnSpPr>
          <p:nvPr/>
        </p:nvCxnSpPr>
        <p:spPr>
          <a:xfrm>
            <a:off x="11795534" y="3427940"/>
            <a:ext cx="743856" cy="0"/>
          </a:xfrm>
          <a:prstGeom prst="straightConnector1">
            <a:avLst/>
          </a:prstGeom>
          <a:ln w="152400">
            <a:solidFill>
              <a:schemeClr val="tx1"/>
            </a:solidFill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四角形: 角を丸くする 100">
            <a:extLst>
              <a:ext uri="{FF2B5EF4-FFF2-40B4-BE49-F238E27FC236}">
                <a16:creationId xmlns:a16="http://schemas.microsoft.com/office/drawing/2014/main" id="{D1C98AF0-CFB0-040C-7470-CF39F0315970}"/>
              </a:ext>
            </a:extLst>
          </p:cNvPr>
          <p:cNvSpPr/>
          <p:nvPr/>
        </p:nvSpPr>
        <p:spPr>
          <a:xfrm>
            <a:off x="12712439" y="1016479"/>
            <a:ext cx="2891278" cy="5079158"/>
          </a:xfrm>
          <a:prstGeom prst="roundRect">
            <a:avLst>
              <a:gd name="adj" fmla="val 0"/>
            </a:avLst>
          </a:prstGeom>
          <a:noFill/>
          <a:ln w="889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000" dirty="0">
              <a:solidFill>
                <a:schemeClr val="tx1"/>
              </a:solidFill>
            </a:endParaRPr>
          </a:p>
        </p:txBody>
      </p:sp>
      <p:sp>
        <p:nvSpPr>
          <p:cNvPr id="105" name="テキスト ボックス 104">
            <a:extLst>
              <a:ext uri="{FF2B5EF4-FFF2-40B4-BE49-F238E27FC236}">
                <a16:creationId xmlns:a16="http://schemas.microsoft.com/office/drawing/2014/main" id="{8E598380-592F-194D-13F0-B86D172696A0}"/>
              </a:ext>
            </a:extLst>
          </p:cNvPr>
          <p:cNvSpPr txBox="1"/>
          <p:nvPr/>
        </p:nvSpPr>
        <p:spPr>
          <a:xfrm>
            <a:off x="481342" y="4305590"/>
            <a:ext cx="339837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/>
              <a:t>指定されている</a:t>
            </a:r>
            <a:endParaRPr lang="en-US" altLang="ja-JP" sz="2400" dirty="0"/>
          </a:p>
          <a:p>
            <a:pPr algn="ctr"/>
            <a:r>
              <a:rPr lang="ja-JP" altLang="en-US" sz="2400" dirty="0"/>
              <a:t>フォルダ</a:t>
            </a:r>
            <a:endParaRPr lang="en-US" altLang="ja-JP" sz="2400" dirty="0"/>
          </a:p>
          <a:p>
            <a:pPr algn="ctr"/>
            <a:r>
              <a:rPr lang="en-US" altLang="ja-JP" spc="-300" dirty="0">
                <a:latin typeface="Consolas" panose="020B0609020204030204" pitchFamily="49" charset="0"/>
              </a:rPr>
              <a:t>(</a:t>
            </a:r>
            <a:r>
              <a:rPr lang="en-US" altLang="ja-JP" dirty="0">
                <a:latin typeface="Consolas" panose="020B0609020204030204" pitchFamily="49" charset="0"/>
              </a:rPr>
              <a:t>public/src/DawiyPlugin</a:t>
            </a:r>
            <a:r>
              <a:rPr lang="en-US" altLang="ja-JP" spc="-300" dirty="0">
                <a:latin typeface="Consolas" panose="020B0609020204030204" pitchFamily="49" charset="0"/>
              </a:rPr>
              <a:t>s)</a:t>
            </a:r>
          </a:p>
          <a:p>
            <a:pPr algn="ctr"/>
            <a:r>
              <a:rPr lang="ja-JP" altLang="en-US" sz="2400" dirty="0"/>
              <a:t>に入れる</a:t>
            </a:r>
            <a:endParaRPr lang="en-US" altLang="ja-JP" sz="2400" dirty="0"/>
          </a:p>
          <a:p>
            <a:pPr algn="ctr"/>
            <a:r>
              <a:rPr lang="ja-JP" altLang="en-US" dirty="0"/>
              <a:t>（または</a:t>
            </a:r>
            <a:r>
              <a:rPr lang="en-US" altLang="ja-JP" dirty="0"/>
              <a:t>D&amp;D</a:t>
            </a:r>
            <a:r>
              <a:rPr lang="ja-JP" altLang="en-US" dirty="0"/>
              <a:t>）</a:t>
            </a:r>
          </a:p>
        </p:txBody>
      </p:sp>
      <p:sp>
        <p:nvSpPr>
          <p:cNvPr id="112" name="正方形/長方形 111">
            <a:extLst>
              <a:ext uri="{FF2B5EF4-FFF2-40B4-BE49-F238E27FC236}">
                <a16:creationId xmlns:a16="http://schemas.microsoft.com/office/drawing/2014/main" id="{BF492E8E-854F-1C2C-4684-588B42E7ED29}"/>
              </a:ext>
            </a:extLst>
          </p:cNvPr>
          <p:cNvSpPr/>
          <p:nvPr/>
        </p:nvSpPr>
        <p:spPr>
          <a:xfrm>
            <a:off x="13566332" y="733458"/>
            <a:ext cx="1035372" cy="5660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dirty="0">
                <a:solidFill>
                  <a:schemeClr val="tx1"/>
                </a:solidFill>
                <a:latin typeface="モボ-SemiBold" panose="02000700000000000000" pitchFamily="50" charset="-128"/>
                <a:ea typeface="モボ-SemiBold" panose="02000700000000000000" pitchFamily="50" charset="-128"/>
              </a:rPr>
              <a:t>処理</a:t>
            </a:r>
          </a:p>
        </p:txBody>
      </p:sp>
      <p:sp>
        <p:nvSpPr>
          <p:cNvPr id="113" name="テキスト ボックス 112">
            <a:extLst>
              <a:ext uri="{FF2B5EF4-FFF2-40B4-BE49-F238E27FC236}">
                <a16:creationId xmlns:a16="http://schemas.microsoft.com/office/drawing/2014/main" id="{BF1E0F9D-7AC6-308A-C4E6-4709130ACCC7}"/>
              </a:ext>
            </a:extLst>
          </p:cNvPr>
          <p:cNvSpPr txBox="1"/>
          <p:nvPr/>
        </p:nvSpPr>
        <p:spPr>
          <a:xfrm>
            <a:off x="12773298" y="1309708"/>
            <a:ext cx="12825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>
                <a:latin typeface="モボ-SemiBold" panose="02000700000000000000" pitchFamily="50" charset="-128"/>
                <a:ea typeface="モボ-SemiBold" panose="02000700000000000000" pitchFamily="50" charset="-128"/>
              </a:rPr>
              <a:t>・生成</a:t>
            </a:r>
          </a:p>
        </p:txBody>
      </p:sp>
      <p:sp>
        <p:nvSpPr>
          <p:cNvPr id="114" name="テキスト ボックス 113">
            <a:extLst>
              <a:ext uri="{FF2B5EF4-FFF2-40B4-BE49-F238E27FC236}">
                <a16:creationId xmlns:a16="http://schemas.microsoft.com/office/drawing/2014/main" id="{CFB1777F-5E8A-4392-F143-F22FA35564C4}"/>
              </a:ext>
            </a:extLst>
          </p:cNvPr>
          <p:cNvSpPr txBox="1"/>
          <p:nvPr/>
        </p:nvSpPr>
        <p:spPr>
          <a:xfrm>
            <a:off x="12778218" y="2229662"/>
            <a:ext cx="12825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>
                <a:latin typeface="モボ-SemiBold" panose="02000700000000000000" pitchFamily="50" charset="-128"/>
                <a:ea typeface="モボ-SemiBold" panose="02000700000000000000" pitchFamily="50" charset="-128"/>
              </a:rPr>
              <a:t>・加工</a:t>
            </a:r>
          </a:p>
        </p:txBody>
      </p:sp>
      <p:sp>
        <p:nvSpPr>
          <p:cNvPr id="115" name="テキスト ボックス 114">
            <a:extLst>
              <a:ext uri="{FF2B5EF4-FFF2-40B4-BE49-F238E27FC236}">
                <a16:creationId xmlns:a16="http://schemas.microsoft.com/office/drawing/2014/main" id="{3E17D8E8-0E12-E7E7-B5C3-6A414F01A0B4}"/>
              </a:ext>
            </a:extLst>
          </p:cNvPr>
          <p:cNvSpPr txBox="1"/>
          <p:nvPr/>
        </p:nvSpPr>
        <p:spPr>
          <a:xfrm>
            <a:off x="12778218" y="3152346"/>
            <a:ext cx="12825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>
                <a:latin typeface="モボ-SemiBold" panose="02000700000000000000" pitchFamily="50" charset="-128"/>
                <a:ea typeface="モボ-SemiBold" panose="02000700000000000000" pitchFamily="50" charset="-128"/>
              </a:rPr>
              <a:t>・解析</a:t>
            </a:r>
          </a:p>
        </p:txBody>
      </p:sp>
      <p:sp>
        <p:nvSpPr>
          <p:cNvPr id="116" name="テキスト ボックス 115">
            <a:extLst>
              <a:ext uri="{FF2B5EF4-FFF2-40B4-BE49-F238E27FC236}">
                <a16:creationId xmlns:a16="http://schemas.microsoft.com/office/drawing/2014/main" id="{5E2A296A-D3E7-E0ED-17EF-2919AD620B18}"/>
              </a:ext>
            </a:extLst>
          </p:cNvPr>
          <p:cNvSpPr txBox="1"/>
          <p:nvPr/>
        </p:nvSpPr>
        <p:spPr>
          <a:xfrm>
            <a:off x="12782445" y="4074633"/>
            <a:ext cx="14930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>
                <a:latin typeface="モボ-SemiBold" panose="02000700000000000000" pitchFamily="50" charset="-128"/>
                <a:ea typeface="モボ-SemiBold" panose="02000700000000000000" pitchFamily="50" charset="-128"/>
              </a:rPr>
              <a:t>・入出力</a:t>
            </a:r>
          </a:p>
        </p:txBody>
      </p:sp>
      <p:sp>
        <p:nvSpPr>
          <p:cNvPr id="117" name="テキスト ボックス 116">
            <a:extLst>
              <a:ext uri="{FF2B5EF4-FFF2-40B4-BE49-F238E27FC236}">
                <a16:creationId xmlns:a16="http://schemas.microsoft.com/office/drawing/2014/main" id="{0FA96457-C615-2921-84D4-4BB13B31B10D}"/>
              </a:ext>
            </a:extLst>
          </p:cNvPr>
          <p:cNvSpPr txBox="1"/>
          <p:nvPr/>
        </p:nvSpPr>
        <p:spPr>
          <a:xfrm>
            <a:off x="12788538" y="5141108"/>
            <a:ext cx="12825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>
                <a:latin typeface="モボ-SemiBold" panose="02000700000000000000" pitchFamily="50" charset="-128"/>
                <a:ea typeface="モボ-SemiBold" panose="02000700000000000000" pitchFamily="50" charset="-128"/>
              </a:rPr>
              <a:t>・</a:t>
            </a:r>
            <a:r>
              <a:rPr kumimoji="1" lang="en-US" altLang="ja-JP" sz="2400" dirty="0">
                <a:latin typeface="モボ-SemiBold" panose="02000700000000000000" pitchFamily="50" charset="-128"/>
                <a:ea typeface="モボ-SemiBold" panose="02000700000000000000" pitchFamily="50" charset="-128"/>
              </a:rPr>
              <a:t>U I</a:t>
            </a:r>
            <a:endParaRPr kumimoji="1" lang="ja-JP" altLang="en-US" sz="2400" dirty="0">
              <a:latin typeface="モボ-SemiBold" panose="02000700000000000000" pitchFamily="50" charset="-128"/>
              <a:ea typeface="モボ-SemiBold" panose="02000700000000000000" pitchFamily="50" charset="-128"/>
            </a:endParaRPr>
          </a:p>
        </p:txBody>
      </p:sp>
      <p:sp>
        <p:nvSpPr>
          <p:cNvPr id="118" name="テキスト ボックス 117">
            <a:extLst>
              <a:ext uri="{FF2B5EF4-FFF2-40B4-BE49-F238E27FC236}">
                <a16:creationId xmlns:a16="http://schemas.microsoft.com/office/drawing/2014/main" id="{3407AAD4-5006-DC96-63C8-4E2C3542F300}"/>
              </a:ext>
            </a:extLst>
          </p:cNvPr>
          <p:cNvSpPr txBox="1"/>
          <p:nvPr/>
        </p:nvSpPr>
        <p:spPr>
          <a:xfrm>
            <a:off x="13285468" y="1735525"/>
            <a:ext cx="19718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メロディ生成等</a:t>
            </a:r>
          </a:p>
        </p:txBody>
      </p:sp>
      <p:sp>
        <p:nvSpPr>
          <p:cNvPr id="119" name="テキスト ボックス 118">
            <a:extLst>
              <a:ext uri="{FF2B5EF4-FFF2-40B4-BE49-F238E27FC236}">
                <a16:creationId xmlns:a16="http://schemas.microsoft.com/office/drawing/2014/main" id="{E1C2E768-6BDA-9A22-9162-1AB50E27FA8F}"/>
              </a:ext>
            </a:extLst>
          </p:cNvPr>
          <p:cNvSpPr txBox="1"/>
          <p:nvPr/>
        </p:nvSpPr>
        <p:spPr>
          <a:xfrm>
            <a:off x="13285468" y="2639877"/>
            <a:ext cx="22306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ヒューマナイズ等</a:t>
            </a:r>
          </a:p>
        </p:txBody>
      </p:sp>
      <p:sp>
        <p:nvSpPr>
          <p:cNvPr id="120" name="テキスト ボックス 119">
            <a:extLst>
              <a:ext uri="{FF2B5EF4-FFF2-40B4-BE49-F238E27FC236}">
                <a16:creationId xmlns:a16="http://schemas.microsoft.com/office/drawing/2014/main" id="{39B01F8C-AF73-1594-62CF-812DD49F2BDD}"/>
              </a:ext>
            </a:extLst>
          </p:cNvPr>
          <p:cNvSpPr txBox="1"/>
          <p:nvPr/>
        </p:nvSpPr>
        <p:spPr>
          <a:xfrm>
            <a:off x="13285468" y="3591682"/>
            <a:ext cx="20375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コード解析等</a:t>
            </a:r>
          </a:p>
        </p:txBody>
      </p:sp>
      <p:sp>
        <p:nvSpPr>
          <p:cNvPr id="121" name="テキスト ボックス 120">
            <a:extLst>
              <a:ext uri="{FF2B5EF4-FFF2-40B4-BE49-F238E27FC236}">
                <a16:creationId xmlns:a16="http://schemas.microsoft.com/office/drawing/2014/main" id="{0DA56BCF-5778-B6B8-011B-A86B6DDDFA0D}"/>
              </a:ext>
            </a:extLst>
          </p:cNvPr>
          <p:cNvSpPr txBox="1"/>
          <p:nvPr/>
        </p:nvSpPr>
        <p:spPr>
          <a:xfrm>
            <a:off x="13313602" y="4441448"/>
            <a:ext cx="22035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/>
              <a:t>MusicXML</a:t>
            </a:r>
          </a:p>
          <a:p>
            <a:r>
              <a:rPr kumimoji="1" lang="ja-JP" altLang="en-US" sz="2000" dirty="0"/>
              <a:t>インポート等</a:t>
            </a:r>
          </a:p>
        </p:txBody>
      </p:sp>
      <p:sp>
        <p:nvSpPr>
          <p:cNvPr id="122" name="テキスト ボックス 121">
            <a:extLst>
              <a:ext uri="{FF2B5EF4-FFF2-40B4-BE49-F238E27FC236}">
                <a16:creationId xmlns:a16="http://schemas.microsoft.com/office/drawing/2014/main" id="{F5A06118-D019-710F-271A-A5E03F467526}"/>
              </a:ext>
            </a:extLst>
          </p:cNvPr>
          <p:cNvSpPr txBox="1"/>
          <p:nvPr/>
        </p:nvSpPr>
        <p:spPr>
          <a:xfrm>
            <a:off x="13315765" y="5555162"/>
            <a:ext cx="1735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テーマ変更等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83F635D-1B94-0F8F-801B-12791418A310}"/>
              </a:ext>
            </a:extLst>
          </p:cNvPr>
          <p:cNvSpPr txBox="1"/>
          <p:nvPr/>
        </p:nvSpPr>
        <p:spPr>
          <a:xfrm>
            <a:off x="684344" y="2368686"/>
            <a:ext cx="303045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2400" dirty="0">
                <a:solidFill>
                  <a:schemeClr val="tx1"/>
                </a:solidFill>
              </a:rPr>
              <a:t>プラグインファイル</a:t>
            </a:r>
            <a:endParaRPr lang="en-US" altLang="ja-JP" sz="2400" dirty="0">
              <a:solidFill>
                <a:schemeClr val="tx1"/>
              </a:solidFill>
            </a:endParaRPr>
          </a:p>
          <a:p>
            <a:pPr algn="ctr"/>
            <a:r>
              <a:rPr lang="ja-JP" altLang="en-US" sz="2400" dirty="0">
                <a:solidFill>
                  <a:schemeClr val="tx1"/>
                </a:solidFill>
              </a:rPr>
              <a:t>（</a:t>
            </a:r>
            <a:r>
              <a:rPr lang="en-US" altLang="ja-JP" sz="2400" dirty="0">
                <a:solidFill>
                  <a:schemeClr val="tx1"/>
                </a:solidFill>
                <a:latin typeface="Consolas" panose="020B0609020204030204" pitchFamily="49" charset="0"/>
              </a:rPr>
              <a:t>.ts</a:t>
            </a:r>
            <a:r>
              <a:rPr lang="ja-JP" altLang="en-US" sz="2400" dirty="0">
                <a:solidFill>
                  <a:schemeClr val="tx1"/>
                </a:solidFill>
              </a:rPr>
              <a:t>）を用意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94743A7-2212-B932-94D3-3947FAED9FCC}"/>
              </a:ext>
            </a:extLst>
          </p:cNvPr>
          <p:cNvSpPr txBox="1"/>
          <p:nvPr/>
        </p:nvSpPr>
        <p:spPr>
          <a:xfrm>
            <a:off x="5635962" y="2238736"/>
            <a:ext cx="20641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2400" dirty="0">
                <a:solidFill>
                  <a:schemeClr val="tx1"/>
                </a:solidFill>
              </a:rPr>
              <a:t>ファイル検知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A3304F2-2821-15AD-E636-70663916443F}"/>
              </a:ext>
            </a:extLst>
          </p:cNvPr>
          <p:cNvSpPr txBox="1"/>
          <p:nvPr/>
        </p:nvSpPr>
        <p:spPr>
          <a:xfrm>
            <a:off x="5869370" y="3974888"/>
            <a:ext cx="153463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2400" dirty="0">
                <a:solidFill>
                  <a:schemeClr val="tx1"/>
                </a:solidFill>
              </a:rPr>
              <a:t>読み込み</a:t>
            </a:r>
            <a:endParaRPr lang="en-US" altLang="ja-JP" sz="2400" dirty="0">
              <a:solidFill>
                <a:schemeClr val="tx1"/>
              </a:solidFill>
            </a:endParaRPr>
          </a:p>
          <a:p>
            <a:pPr algn="ctr"/>
            <a:r>
              <a:rPr lang="ja-JP" altLang="en-US" sz="2400" dirty="0">
                <a:solidFill>
                  <a:schemeClr val="tx1"/>
                </a:solidFill>
              </a:rPr>
              <a:t>初期化</a:t>
            </a:r>
            <a:endParaRPr lang="en-US" altLang="ja-JP" sz="2400" dirty="0">
              <a:solidFill>
                <a:schemeClr val="tx1"/>
              </a:solidFill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957EB851-2770-B0C9-CB5D-8E589239E33B}"/>
              </a:ext>
            </a:extLst>
          </p:cNvPr>
          <p:cNvSpPr txBox="1"/>
          <p:nvPr/>
        </p:nvSpPr>
        <p:spPr>
          <a:xfrm>
            <a:off x="8968772" y="4400896"/>
            <a:ext cx="232046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2400" dirty="0">
                <a:solidFill>
                  <a:schemeClr val="tx1"/>
                </a:solidFill>
              </a:rPr>
              <a:t>専用ウィンドウ</a:t>
            </a:r>
            <a:endParaRPr lang="en-US" altLang="ja-JP" sz="2400" dirty="0">
              <a:solidFill>
                <a:schemeClr val="tx1"/>
              </a:solidFill>
            </a:endParaRPr>
          </a:p>
          <a:p>
            <a:pPr algn="ctr"/>
            <a:r>
              <a:rPr lang="ja-JP" altLang="en-US" sz="2400" dirty="0">
                <a:solidFill>
                  <a:schemeClr val="tx1"/>
                </a:solidFill>
              </a:rPr>
              <a:t>を表示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7560E9DE-12F3-3C53-8CF4-81B1B8FF07D9}"/>
              </a:ext>
            </a:extLst>
          </p:cNvPr>
          <p:cNvSpPr txBox="1"/>
          <p:nvPr/>
        </p:nvSpPr>
        <p:spPr>
          <a:xfrm>
            <a:off x="8741127" y="961812"/>
            <a:ext cx="25968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ja-JP" altLang="en-US" sz="2800" dirty="0">
                <a:solidFill>
                  <a:schemeClr val="tx1"/>
                </a:solidFill>
              </a:rPr>
              <a:t> 画面への反映</a:t>
            </a:r>
            <a:endParaRPr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607498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ユーザー定義 2">
      <a:majorFont>
        <a:latin typeface="モボ-Bold"/>
        <a:ea typeface="モボ-Bold"/>
        <a:cs typeface=""/>
      </a:majorFont>
      <a:minorFont>
        <a:latin typeface="モボ-Regular"/>
        <a:ea typeface="モボ-Regular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88</TotalTime>
  <Words>77</Words>
  <Application>Microsoft Office PowerPoint</Application>
  <PresentationFormat>ユーザー設定</PresentationFormat>
  <Paragraphs>31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モボ-Bold</vt:lpstr>
      <vt:lpstr>モボ-Regular</vt:lpstr>
      <vt:lpstr>モボ-SemiBold</vt:lpstr>
      <vt:lpstr>Arial</vt:lpstr>
      <vt:lpstr>Consolas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山崎 承太郎</dc:creator>
  <cp:lastModifiedBy>山崎 承太郎</cp:lastModifiedBy>
  <cp:revision>136</cp:revision>
  <dcterms:created xsi:type="dcterms:W3CDTF">2026-02-11T02:58:43Z</dcterms:created>
  <dcterms:modified xsi:type="dcterms:W3CDTF">2026-02-11T11:47:49Z</dcterms:modified>
</cp:coreProperties>
</file>