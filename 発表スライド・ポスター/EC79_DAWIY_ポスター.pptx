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7" r:id="rId2"/>
  </p:sldIdLst>
  <p:sldSz cx="28800425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457" autoAdjust="0"/>
  </p:normalViewPr>
  <p:slideViewPr>
    <p:cSldViewPr snapToGrid="0">
      <p:cViewPr>
        <p:scale>
          <a:sx n="33" d="100"/>
          <a:sy n="33" d="100"/>
        </p:scale>
        <p:origin x="864" y="-2304"/>
      </p:cViewPr>
      <p:guideLst>
        <p:guide orient="horz" pos="13447"/>
        <p:guide pos="9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08F7A-9664-4DC4-B15B-5718BC8699CB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90775" y="1143000"/>
            <a:ext cx="2076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CB7B9-77EE-46B5-A619-36CFFBFA74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19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8547-2284-AD91-637D-BD77EDA2C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CA92F24-3721-5760-E7E6-405B451DF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06B46C3-E590-70AF-09D5-C5D7837A3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2D14EC-F90C-A7F5-3E5D-0FFA81F5F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CB7B9-77EE-46B5-A619-36CFFBFA74B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04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05156"/>
            <a:ext cx="24480361" cy="14902051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481887"/>
            <a:ext cx="21600319" cy="1033433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615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82" userDrawn="1">
          <p15:clr>
            <a:srgbClr val="FBAE40"/>
          </p15:clr>
        </p15:guide>
        <p15:guide id="2" pos="907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96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671229"/>
            <a:ext cx="24840367" cy="17805173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644846"/>
            <a:ext cx="24840367" cy="9363320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30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394520"/>
            <a:ext cx="12240181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394520"/>
            <a:ext cx="12240181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6269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278913"/>
            <a:ext cx="24840367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492870"/>
            <a:ext cx="12183928" cy="514239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635264"/>
            <a:ext cx="12183928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492870"/>
            <a:ext cx="12243932" cy="514239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635264"/>
            <a:ext cx="122439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093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72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859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53584"/>
            <a:ext cx="9288887" cy="9987545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162959"/>
            <a:ext cx="14580215" cy="30418415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841129"/>
            <a:ext cx="9288887" cy="23789780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11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53584"/>
            <a:ext cx="9288887" cy="9987545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162959"/>
            <a:ext cx="14580215" cy="30418415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841129"/>
            <a:ext cx="9288887" cy="23789780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11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4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278904"/>
            <a:ext cx="6210092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278904"/>
            <a:ext cx="18270270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191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278913"/>
            <a:ext cx="24840367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394520"/>
            <a:ext cx="24840367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39672756"/>
            <a:ext cx="6480096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0DCE9-6D12-4F45-9AD7-B1AAE202024F}" type="datetimeFigureOut">
              <a:rPr kumimoji="1" lang="ja-JP" altLang="en-US" smtClean="0"/>
              <a:t>2026/2/21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39672756"/>
            <a:ext cx="972014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39672756"/>
            <a:ext cx="6480096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67A54-6800-4996-B6D5-09AA68791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87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kumimoji="1"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kumimoji="1"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kumimoji="1"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spring-fragrance.mints.ne.jp/aviutl/" TargetMode="External"/><Relationship Id="rId3" Type="http://schemas.openxmlformats.org/officeDocument/2006/relationships/hyperlink" Target="https://github.com/NumberZero-0621/GriCo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hyperlink" Target="https://www.steinberg.net/ja/developers/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githu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68A83-0B7A-5296-07F7-A616F451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A8EC550-EAEC-47CD-E4D9-40DC4CFD66FA}"/>
              </a:ext>
            </a:extLst>
          </p:cNvPr>
          <p:cNvSpPr/>
          <p:nvPr/>
        </p:nvSpPr>
        <p:spPr>
          <a:xfrm>
            <a:off x="264696" y="433571"/>
            <a:ext cx="28320014" cy="42110092"/>
          </a:xfrm>
          <a:prstGeom prst="roundRect">
            <a:avLst>
              <a:gd name="adj" fmla="val 2419"/>
            </a:avLst>
          </a:prstGeom>
          <a:noFill/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1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70F5C7C-7F11-DDDD-4E3A-A15F1721E702}"/>
              </a:ext>
            </a:extLst>
          </p:cNvPr>
          <p:cNvSpPr/>
          <p:nvPr/>
        </p:nvSpPr>
        <p:spPr>
          <a:xfrm>
            <a:off x="0" y="542607"/>
            <a:ext cx="28972042" cy="2351522"/>
          </a:xfrm>
          <a:prstGeom prst="roundRect">
            <a:avLst>
              <a:gd name="adj" fmla="val 0"/>
            </a:avLst>
          </a:prstGeom>
          <a:noFill/>
          <a:ln w="254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8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P</a:t>
            </a:r>
            <a:r>
              <a:rPr lang="en-US" altLang="ja-JP" sz="66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roject</a:t>
            </a:r>
            <a:r>
              <a:rPr lang="en-US" altLang="ja-JP" sz="88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DAWIY</a:t>
            </a:r>
            <a:r>
              <a:rPr lang="ja-JP" altLang="en-US" sz="80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：</a:t>
            </a:r>
            <a:r>
              <a:rPr lang="ja-JP" altLang="en-US" sz="5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自分好み</a:t>
            </a:r>
            <a:r>
              <a:rPr lang="ja-JP" altLang="en-US" sz="4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の</a:t>
            </a:r>
            <a:r>
              <a:rPr lang="en-US" altLang="ja-JP" sz="72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DAW</a:t>
            </a:r>
            <a:r>
              <a:rPr lang="ja-JP" altLang="en-US" sz="5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環境</a:t>
            </a:r>
            <a:r>
              <a:rPr lang="ja-JP" altLang="en-US" sz="4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を</a:t>
            </a:r>
            <a:r>
              <a:rPr lang="en-US" altLang="ja-JP" sz="72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DIY</a:t>
            </a:r>
            <a:r>
              <a:rPr lang="ja-JP" altLang="en-US" sz="4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する</a:t>
            </a:r>
            <a:r>
              <a:rPr lang="ja-JP" altLang="en-US" sz="60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共通プラットフォーム</a:t>
            </a:r>
            <a:r>
              <a:rPr lang="ja-JP" altLang="en-US" sz="4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の</a:t>
            </a:r>
            <a:r>
              <a:rPr lang="ja-JP" altLang="en-US" sz="5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構築</a:t>
            </a:r>
            <a:endParaRPr lang="en-US" altLang="ja-JP" sz="5400" dirty="0">
              <a:solidFill>
                <a:schemeClr val="tx1"/>
              </a:solidFill>
              <a:latin typeface="モボ-Bold" panose="02000800000000000000" pitchFamily="50" charset="-128"/>
              <a:ea typeface="モボ-Bold" panose="02000800000000000000" pitchFamily="50" charset="-128"/>
            </a:endParaRPr>
          </a:p>
          <a:p>
            <a:pPr algn="ctr"/>
            <a:endParaRPr lang="en-US" altLang="ja-JP" sz="800" dirty="0">
              <a:solidFill>
                <a:schemeClr val="tx1"/>
              </a:solidFill>
              <a:latin typeface="モボ-Bold" panose="02000800000000000000" pitchFamily="50" charset="-128"/>
              <a:ea typeface="モボ-Bold" panose="02000800000000000000" pitchFamily="50" charset="-128"/>
            </a:endParaRPr>
          </a:p>
          <a:p>
            <a:pPr algn="ctr"/>
            <a:r>
              <a:rPr lang="en-US" altLang="ja-JP" sz="5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B1 </a:t>
            </a:r>
            <a:r>
              <a:rPr lang="ja-JP" altLang="en-US" sz="54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rPr>
              <a:t>山崎 承太郎　橋田 光代 　福知山公立大学 情報学部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BD7E46E8-C87D-307A-BB0F-7DC52DCE7C25}"/>
              </a:ext>
            </a:extLst>
          </p:cNvPr>
          <p:cNvGrpSpPr/>
          <p:nvPr/>
        </p:nvGrpSpPr>
        <p:grpSpPr>
          <a:xfrm>
            <a:off x="17267281" y="29840836"/>
            <a:ext cx="9989656" cy="5592882"/>
            <a:chOff x="16725932" y="34975404"/>
            <a:chExt cx="9989656" cy="5592882"/>
          </a:xfrm>
        </p:grpSpPr>
        <p:sp>
          <p:nvSpPr>
            <p:cNvPr id="1045" name="四角形: 角を丸くする 1044">
              <a:extLst>
                <a:ext uri="{FF2B5EF4-FFF2-40B4-BE49-F238E27FC236}">
                  <a16:creationId xmlns:a16="http://schemas.microsoft.com/office/drawing/2014/main" id="{80467B02-8381-3038-8641-CD6602A726D4}"/>
                </a:ext>
              </a:extLst>
            </p:cNvPr>
            <p:cNvSpPr/>
            <p:nvPr/>
          </p:nvSpPr>
          <p:spPr>
            <a:xfrm>
              <a:off x="16725932" y="34975404"/>
              <a:ext cx="9989656" cy="5592882"/>
            </a:xfrm>
            <a:prstGeom prst="roundRect">
              <a:avLst>
                <a:gd name="adj" fmla="val 11713"/>
              </a:avLst>
            </a:prstGeom>
            <a:solidFill>
              <a:schemeClr val="bg1"/>
            </a:solidFill>
            <a:ln w="152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4037" dirty="0">
                <a:solidFill>
                  <a:schemeClr val="tx1"/>
                </a:solidFill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AD2D615F-EB0D-C493-6528-92E18C424F85}"/>
                </a:ext>
              </a:extLst>
            </p:cNvPr>
            <p:cNvSpPr txBox="1"/>
            <p:nvPr/>
          </p:nvSpPr>
          <p:spPr>
            <a:xfrm>
              <a:off x="16946651" y="35260277"/>
              <a:ext cx="96169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他分野で</a:t>
              </a:r>
              <a:r>
                <a:rPr kumimoji="0" lang="ja-JP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展開</a:t>
              </a:r>
              <a:r>
                <a:rPr kumimoji="0" lang="ja-JP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する</a:t>
              </a:r>
              <a:r>
                <a:rPr kumimoji="0" lang="ja-JP" altLang="en-US" sz="4800" b="0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プラットフォーム</a:t>
              </a:r>
              <a:endParaRPr kumimoji="0" lang="ja-JP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 panose="02000800000000000000" pitchFamily="50" charset="-128"/>
                <a:ea typeface="モボ-Bold" panose="02000800000000000000" pitchFamily="50" charset="-128"/>
                <a:cs typeface="+mn-cs"/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664E11FE-927A-3754-627D-562D4D97B4D0}"/>
              </a:ext>
            </a:extLst>
          </p:cNvPr>
          <p:cNvGrpSpPr/>
          <p:nvPr/>
        </p:nvGrpSpPr>
        <p:grpSpPr>
          <a:xfrm>
            <a:off x="21559451" y="8626121"/>
            <a:ext cx="6325877" cy="1228913"/>
            <a:chOff x="27218220" y="6140013"/>
            <a:chExt cx="6325877" cy="1228913"/>
          </a:xfrm>
        </p:grpSpPr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7A0C7C85-DEDD-EC07-8639-6B13AF00784C}"/>
                </a:ext>
              </a:extLst>
            </p:cNvPr>
            <p:cNvSpPr/>
            <p:nvPr/>
          </p:nvSpPr>
          <p:spPr>
            <a:xfrm>
              <a:off x="27218220" y="6140013"/>
              <a:ext cx="6161755" cy="122891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52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60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98414954-C4AD-8557-9A04-F5A1B53C4579}"/>
                </a:ext>
              </a:extLst>
            </p:cNvPr>
            <p:cNvSpPr txBox="1"/>
            <p:nvPr/>
          </p:nvSpPr>
          <p:spPr>
            <a:xfrm>
              <a:off x="27625139" y="6837454"/>
              <a:ext cx="59189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2000" dirty="0">
                  <a:solidFill>
                    <a:srgbClr val="467886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https://github.com/NumberZero-0621/GriCo</a:t>
              </a:r>
              <a:r>
                <a:rPr lang="ja-JP" altLang="en-US" sz="2000" dirty="0">
                  <a:solidFill>
                    <a:srgbClr val="467886"/>
                  </a:solidFill>
                </a:rPr>
                <a:t> </a:t>
              </a: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6A28D6F0-25B7-CBEB-5FB4-A314ABF9B1AA}"/>
                </a:ext>
              </a:extLst>
            </p:cNvPr>
            <p:cNvSpPr txBox="1"/>
            <p:nvPr/>
          </p:nvSpPr>
          <p:spPr>
            <a:xfrm>
              <a:off x="29060777" y="6190851"/>
              <a:ext cx="247663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4800" dirty="0">
                  <a:latin typeface="+mj-ea"/>
                  <a:ea typeface="+mj-ea"/>
                </a:rPr>
                <a:t>GitHub</a:t>
              </a:r>
              <a:endParaRPr lang="ja-JP" altLang="en-US" sz="4800" dirty="0">
                <a:latin typeface="+mj-ea"/>
                <a:ea typeface="+mj-ea"/>
              </a:endParaRPr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D168AFB3-3529-451E-3DE8-A3706D52ABD6}"/>
              </a:ext>
            </a:extLst>
          </p:cNvPr>
          <p:cNvGrpSpPr/>
          <p:nvPr/>
        </p:nvGrpSpPr>
        <p:grpSpPr>
          <a:xfrm>
            <a:off x="22913522" y="5295913"/>
            <a:ext cx="3404265" cy="3297364"/>
            <a:chOff x="24056753" y="3922277"/>
            <a:chExt cx="3404265" cy="3297364"/>
          </a:xfrm>
        </p:grpSpPr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C5A20475-896B-27AB-1BEB-E8C6B2DEE56B}"/>
                </a:ext>
              </a:extLst>
            </p:cNvPr>
            <p:cNvSpPr/>
            <p:nvPr/>
          </p:nvSpPr>
          <p:spPr>
            <a:xfrm>
              <a:off x="24056753" y="3922277"/>
              <a:ext cx="3404265" cy="3297364"/>
            </a:xfrm>
            <a:prstGeom prst="roundRect">
              <a:avLst>
                <a:gd name="adj" fmla="val 11713"/>
              </a:avLst>
            </a:prstGeom>
            <a:solidFill>
              <a:schemeClr val="bg1"/>
            </a:solidFill>
            <a:ln w="152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6000" dirty="0">
                <a:solidFill>
                  <a:schemeClr val="tx1"/>
                </a:solidFill>
              </a:endParaRPr>
            </a:p>
          </p:txBody>
        </p:sp>
        <p:pic>
          <p:nvPicPr>
            <p:cNvPr id="31" name="図 30" descr="QR コード">
              <a:extLst>
                <a:ext uri="{FF2B5EF4-FFF2-40B4-BE49-F238E27FC236}">
                  <a16:creationId xmlns:a16="http://schemas.microsoft.com/office/drawing/2014/main" id="{3C0031AD-1164-4DCF-3A0B-C632A8997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36" t="5428" r="6764" b="6603"/>
            <a:stretch>
              <a:fillRect/>
            </a:stretch>
          </p:blipFill>
          <p:spPr>
            <a:xfrm>
              <a:off x="24490954" y="4300149"/>
              <a:ext cx="2575560" cy="2598265"/>
            </a:xfrm>
            <a:prstGeom prst="rect">
              <a:avLst/>
            </a:prstGeom>
          </p:spPr>
        </p:pic>
      </p:grp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1120E08-1307-AE21-AE6A-6D95E132D34D}"/>
              </a:ext>
            </a:extLst>
          </p:cNvPr>
          <p:cNvSpPr txBox="1"/>
          <p:nvPr/>
        </p:nvSpPr>
        <p:spPr>
          <a:xfrm>
            <a:off x="1523887" y="10480549"/>
            <a:ext cx="5088041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j-cs"/>
              </a:rPr>
              <a:t>システム</a:t>
            </a:r>
            <a:endParaRPr kumimoji="1" lang="en-US" altLang="ja-JP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モボ-Bold"/>
              <a:ea typeface="モボ-Bold"/>
              <a:cs typeface="+mj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j-cs"/>
              </a:rPr>
              <a:t>「</a:t>
            </a:r>
            <a:r>
              <a:rPr kumimoji="1" lang="en-US" altLang="ja-JP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j-cs"/>
              </a:rPr>
              <a:t>G</a:t>
            </a: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j-cs"/>
              </a:rPr>
              <a:t>ri</a:t>
            </a:r>
            <a:r>
              <a:rPr kumimoji="1" lang="en-US" altLang="ja-JP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j-cs"/>
              </a:rPr>
              <a:t>C</a:t>
            </a:r>
            <a:r>
              <a:rPr kumimoji="1" lang="en-US" altLang="ja-JP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j-cs"/>
              </a:rPr>
              <a:t>o</a:t>
            </a:r>
            <a:r>
              <a:rPr kumimoji="1" lang="ja-JP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/>
                <a:ea typeface="モボ-Bold"/>
                <a:cs typeface="+mj-cs"/>
              </a:rPr>
              <a:t>」</a:t>
            </a:r>
            <a:endParaRPr kumimoji="0" lang="ja-JP" alt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モボ-Bold" panose="02000800000000000000" pitchFamily="50" charset="-128"/>
              <a:ea typeface="モボ-Bold" panose="02000800000000000000" pitchFamily="50" charset="-128"/>
              <a:cs typeface="+mn-cs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D769E0A-8F73-3AE3-60DA-E1B78048FDEB}"/>
              </a:ext>
            </a:extLst>
          </p:cNvPr>
          <p:cNvGrpSpPr/>
          <p:nvPr/>
        </p:nvGrpSpPr>
        <p:grpSpPr>
          <a:xfrm>
            <a:off x="1248491" y="38719158"/>
            <a:ext cx="16258896" cy="2693045"/>
            <a:chOff x="1140169" y="39002932"/>
            <a:chExt cx="16258896" cy="2693045"/>
          </a:xfrm>
        </p:grpSpPr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7B83629C-2AEA-D6A8-DDF5-DB9170BB39DC}"/>
                </a:ext>
              </a:extLst>
            </p:cNvPr>
            <p:cNvSpPr txBox="1"/>
            <p:nvPr/>
          </p:nvSpPr>
          <p:spPr>
            <a:xfrm>
              <a:off x="1140169" y="39384178"/>
              <a:ext cx="459938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5400" dirty="0">
                  <a:latin typeface="+mj-ea"/>
                  <a:ea typeface="+mj-ea"/>
                </a:rPr>
                <a:t>DIY</a:t>
              </a:r>
              <a:r>
                <a:rPr kumimoji="1" lang="ja-JP" altLang="en-US" sz="5400" dirty="0">
                  <a:latin typeface="+mj-ea"/>
                  <a:ea typeface="+mj-ea"/>
                </a:rPr>
                <a:t>によって</a:t>
              </a:r>
              <a:endParaRPr kumimoji="1" lang="en-US" altLang="ja-JP" sz="5400" dirty="0">
                <a:latin typeface="+mj-ea"/>
                <a:ea typeface="+mj-ea"/>
              </a:endParaRPr>
            </a:p>
            <a:p>
              <a:pPr algn="ctr"/>
              <a:r>
                <a:rPr kumimoji="1" lang="ja-JP" altLang="en-US" sz="5400" dirty="0">
                  <a:latin typeface="+mj-ea"/>
                  <a:ea typeface="+mj-ea"/>
                </a:rPr>
                <a:t>得られたこと</a:t>
              </a:r>
            </a:p>
          </p:txBody>
        </p: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6280BBAC-008D-130F-0F94-7ACEE900298A}"/>
                </a:ext>
              </a:extLst>
            </p:cNvPr>
            <p:cNvCxnSpPr>
              <a:cxnSpLocks/>
            </p:cNvCxnSpPr>
            <p:nvPr/>
          </p:nvCxnSpPr>
          <p:spPr>
            <a:xfrm>
              <a:off x="5577330" y="40257334"/>
              <a:ext cx="939852" cy="11837"/>
            </a:xfrm>
            <a:prstGeom prst="straightConnector1">
              <a:avLst/>
            </a:prstGeom>
            <a:ln w="254000">
              <a:solidFill>
                <a:schemeClr val="tx1"/>
              </a:solidFill>
              <a:prstDash val="solid"/>
              <a:headEnd w="lg" len="sm"/>
              <a:tailEnd type="triangl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34844595-64B8-BA54-6341-AAADD940A33C}"/>
                </a:ext>
              </a:extLst>
            </p:cNvPr>
            <p:cNvSpPr txBox="1"/>
            <p:nvPr/>
          </p:nvSpPr>
          <p:spPr>
            <a:xfrm>
              <a:off x="6575246" y="39002932"/>
              <a:ext cx="10823819" cy="269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kumimoji="1" lang="ja-JP" altLang="en-US" sz="4000" dirty="0"/>
                <a:t>複数の調が入り混じったメロディ</a:t>
              </a:r>
              <a:endParaRPr kumimoji="1" lang="en-US" altLang="ja-JP" sz="4000" dirty="0"/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kumimoji="1" lang="ja-JP" altLang="en-US" sz="4000" dirty="0"/>
                <a:t>トラック別に異なるコード進行のメロディ</a:t>
              </a:r>
              <a:endParaRPr kumimoji="1" lang="en-US" altLang="ja-JP" sz="4000" dirty="0"/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kumimoji="1" lang="en-US" altLang="ja-JP" sz="4000" dirty="0"/>
                <a:t>1</a:t>
              </a:r>
              <a:r>
                <a:rPr kumimoji="1" lang="ja-JP" altLang="en-US" sz="4000" dirty="0"/>
                <a:t>音ずつ違う楽器を鳴らすメロディ</a:t>
              </a:r>
              <a:endParaRPr kumimoji="1" lang="en-US" altLang="ja-JP" sz="4000" dirty="0"/>
            </a:p>
            <a:p>
              <a:endParaRPr kumimoji="1" lang="en-US" altLang="ja-JP" sz="400" dirty="0"/>
            </a:p>
            <a:p>
              <a:r>
                <a:rPr kumimoji="1" lang="ja-JP" altLang="en-US" sz="4000" dirty="0"/>
                <a:t>　　→</a:t>
              </a:r>
              <a:r>
                <a:rPr lang="ja-JP" altLang="en-US" sz="4000" dirty="0"/>
                <a:t> これまで聴いたことのない音楽</a:t>
              </a:r>
              <a:endParaRPr kumimoji="1" lang="ja-JP" altLang="en-US" sz="4000" dirty="0"/>
            </a:p>
          </p:txBody>
        </p:sp>
      </p:grp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1F326B9D-0243-257E-7923-026EA76FFBE9}"/>
              </a:ext>
            </a:extLst>
          </p:cNvPr>
          <p:cNvSpPr txBox="1"/>
          <p:nvPr/>
        </p:nvSpPr>
        <p:spPr>
          <a:xfrm>
            <a:off x="20852129" y="33332807"/>
            <a:ext cx="173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GitHub</a:t>
            </a:r>
            <a:endParaRPr kumimoji="1" lang="ja-JP" altLang="en-US" sz="3600" dirty="0"/>
          </a:p>
        </p:txBody>
      </p:sp>
      <p:grpSp>
        <p:nvGrpSpPr>
          <p:cNvPr id="1024" name="グループ化 1023">
            <a:extLst>
              <a:ext uri="{FF2B5EF4-FFF2-40B4-BE49-F238E27FC236}">
                <a16:creationId xmlns:a16="http://schemas.microsoft.com/office/drawing/2014/main" id="{A9A9F2D9-7247-2D78-C902-22BA53FB4522}"/>
              </a:ext>
            </a:extLst>
          </p:cNvPr>
          <p:cNvGrpSpPr/>
          <p:nvPr/>
        </p:nvGrpSpPr>
        <p:grpSpPr>
          <a:xfrm>
            <a:off x="17301653" y="36028225"/>
            <a:ext cx="9989656" cy="5592882"/>
            <a:chOff x="16725932" y="34975404"/>
            <a:chExt cx="9989656" cy="5592882"/>
          </a:xfrm>
        </p:grpSpPr>
        <p:sp>
          <p:nvSpPr>
            <p:cNvPr id="1025" name="四角形: 角を丸くする 1024">
              <a:extLst>
                <a:ext uri="{FF2B5EF4-FFF2-40B4-BE49-F238E27FC236}">
                  <a16:creationId xmlns:a16="http://schemas.microsoft.com/office/drawing/2014/main" id="{EA0C066D-02C5-925B-0934-E0F2CB5EA101}"/>
                </a:ext>
              </a:extLst>
            </p:cNvPr>
            <p:cNvSpPr/>
            <p:nvPr/>
          </p:nvSpPr>
          <p:spPr>
            <a:xfrm>
              <a:off x="16725932" y="34975404"/>
              <a:ext cx="9989656" cy="5592882"/>
            </a:xfrm>
            <a:prstGeom prst="roundRect">
              <a:avLst>
                <a:gd name="adj" fmla="val 11713"/>
              </a:avLst>
            </a:prstGeom>
            <a:solidFill>
              <a:schemeClr val="bg1"/>
            </a:solidFill>
            <a:ln w="152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4037" dirty="0">
                <a:solidFill>
                  <a:schemeClr val="tx1"/>
                </a:solidFill>
              </a:endParaRPr>
            </a:p>
          </p:txBody>
        </p:sp>
        <p:sp>
          <p:nvSpPr>
            <p:cNvPr id="1026" name="テキスト ボックス 1025">
              <a:extLst>
                <a:ext uri="{FF2B5EF4-FFF2-40B4-BE49-F238E27FC236}">
                  <a16:creationId xmlns:a16="http://schemas.microsoft.com/office/drawing/2014/main" id="{B14B5AD4-5C79-1944-534A-E24638BAA7D3}"/>
                </a:ext>
              </a:extLst>
            </p:cNvPr>
            <p:cNvSpPr txBox="1"/>
            <p:nvPr/>
          </p:nvSpPr>
          <p:spPr>
            <a:xfrm>
              <a:off x="17256827" y="36492062"/>
              <a:ext cx="9452730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altLang="ja-JP" sz="4000" dirty="0">
                  <a:latin typeface="モボ-SemiBold" panose="02000700000000000000" pitchFamily="50" charset="-128"/>
                  <a:ea typeface="モボ-SemiBold" panose="02000700000000000000" pitchFamily="50" charset="-128"/>
                </a:rPr>
                <a:t>DAW</a:t>
              </a:r>
              <a:r>
                <a:rPr lang="ja-JP" altLang="en-US" sz="4000" dirty="0">
                  <a:latin typeface="モボ-SemiBold" panose="02000700000000000000" pitchFamily="50" charset="-128"/>
                  <a:ea typeface="モボ-SemiBold" panose="02000700000000000000" pitchFamily="50" charset="-128"/>
                </a:rPr>
                <a:t>でもユーザ主導の設計・展開を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4000" dirty="0"/>
                <a:t>誰もが機能を追加・改良できる</a:t>
              </a:r>
              <a:br>
                <a:rPr lang="en-US" altLang="ja-JP" sz="4000" dirty="0"/>
              </a:br>
              <a:r>
                <a:rPr lang="ja-JP" altLang="en-US" sz="4000" dirty="0"/>
                <a:t>「</a:t>
              </a:r>
              <a:r>
                <a:rPr lang="en-US" altLang="ja-JP" sz="4000" dirty="0"/>
                <a:t>DAW</a:t>
              </a:r>
              <a:r>
                <a:rPr lang="ja-JP" altLang="en-US" sz="4000" dirty="0"/>
                <a:t>ツールキット」を開発したい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4000" dirty="0"/>
                <a:t>クリエイターが理想の環境を自力で</a:t>
              </a:r>
              <a:br>
                <a:rPr lang="en-US" altLang="ja-JP" sz="4000" dirty="0"/>
              </a:br>
              <a:r>
                <a:rPr lang="ja-JP" altLang="en-US" sz="4000" dirty="0"/>
                <a:t>手に入れ、音楽の可能性をさらに</a:t>
              </a:r>
              <a:br>
                <a:rPr lang="en-US" altLang="ja-JP" sz="4000" dirty="0"/>
              </a:br>
              <a:r>
                <a:rPr lang="ja-JP" altLang="en-US" sz="4000" dirty="0"/>
                <a:t>探究できる未来を目指す</a:t>
              </a:r>
            </a:p>
          </p:txBody>
        </p:sp>
        <p:sp>
          <p:nvSpPr>
            <p:cNvPr id="1027" name="テキスト ボックス 1026">
              <a:extLst>
                <a:ext uri="{FF2B5EF4-FFF2-40B4-BE49-F238E27FC236}">
                  <a16:creationId xmlns:a16="http://schemas.microsoft.com/office/drawing/2014/main" id="{147AB317-CDFC-304A-8105-1A6BC8731C97}"/>
                </a:ext>
              </a:extLst>
            </p:cNvPr>
            <p:cNvSpPr txBox="1"/>
            <p:nvPr/>
          </p:nvSpPr>
          <p:spPr>
            <a:xfrm>
              <a:off x="16850408" y="35302517"/>
              <a:ext cx="520446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今</a:t>
              </a:r>
              <a:r>
                <a:rPr kumimoji="0" lang="ja-JP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後</a:t>
              </a:r>
              <a:r>
                <a:rPr kumimoji="0" lang="ja-JP" alt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の</a:t>
              </a:r>
              <a:r>
                <a:rPr kumimoji="0" lang="ja-JP" altLang="en-US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展</a:t>
              </a:r>
              <a:r>
                <a:rPr kumimoji="0" lang="ja-JP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望</a:t>
              </a:r>
              <a:endParaRPr kumimoji="0" lang="ja-JP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 panose="02000800000000000000" pitchFamily="50" charset="-128"/>
                <a:ea typeface="モボ-Bold" panose="02000800000000000000" pitchFamily="50" charset="-128"/>
                <a:cs typeface="+mn-cs"/>
              </a:endParaRPr>
            </a:p>
          </p:txBody>
        </p:sp>
      </p:grpSp>
      <p:pic>
        <p:nvPicPr>
          <p:cNvPr id="1031" name="Picture 2">
            <a:extLst>
              <a:ext uri="{FF2B5EF4-FFF2-40B4-BE49-F238E27FC236}">
                <a16:creationId xmlns:a16="http://schemas.microsoft.com/office/drawing/2014/main" id="{27B6D538-1F63-47AB-53FC-AA8171782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6081" y="31339132"/>
            <a:ext cx="1783768" cy="177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4" descr="Virtual Studio Technology - Wikipedia">
            <a:extLst>
              <a:ext uri="{FF2B5EF4-FFF2-40B4-BE49-F238E27FC236}">
                <a16:creationId xmlns:a16="http://schemas.microsoft.com/office/drawing/2014/main" id="{2DE11017-5C5B-A1C6-909E-08CAD6286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7152" y="31233440"/>
            <a:ext cx="3508792" cy="204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6" descr="Github ロゴ - ソーシャルメディアとロゴ アイコン">
            <a:extLst>
              <a:ext uri="{FF2B5EF4-FFF2-40B4-BE49-F238E27FC236}">
                <a16:creationId xmlns:a16="http://schemas.microsoft.com/office/drawing/2014/main" id="{3C6ABDCE-B716-9BAB-FF67-20B1F0C7CC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6338" r="4421" b="7221"/>
          <a:stretch>
            <a:fillRect/>
          </a:stretch>
        </p:blipFill>
        <p:spPr bwMode="auto">
          <a:xfrm>
            <a:off x="20728111" y="31263317"/>
            <a:ext cx="1994026" cy="193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テキスト ボックス 1034">
            <a:extLst>
              <a:ext uri="{FF2B5EF4-FFF2-40B4-BE49-F238E27FC236}">
                <a16:creationId xmlns:a16="http://schemas.microsoft.com/office/drawing/2014/main" id="{DB51738C-7FF8-E5AB-9C4B-7952EFC51EA6}"/>
              </a:ext>
            </a:extLst>
          </p:cNvPr>
          <p:cNvSpPr txBox="1"/>
          <p:nvPr/>
        </p:nvSpPr>
        <p:spPr>
          <a:xfrm>
            <a:off x="18457858" y="33321615"/>
            <a:ext cx="1571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AviUtl</a:t>
            </a:r>
            <a:endParaRPr kumimoji="1" lang="ja-JP" altLang="en-US" sz="3600" dirty="0"/>
          </a:p>
        </p:txBody>
      </p: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76943AC8-21ED-1DDF-C2D5-B707260E70F0}"/>
              </a:ext>
            </a:extLst>
          </p:cNvPr>
          <p:cNvSpPr txBox="1"/>
          <p:nvPr/>
        </p:nvSpPr>
        <p:spPr>
          <a:xfrm>
            <a:off x="23277688" y="33398466"/>
            <a:ext cx="3315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VST</a:t>
            </a:r>
            <a:r>
              <a:rPr kumimoji="1" lang="ja-JP" altLang="en-US" sz="3600" dirty="0"/>
              <a:t>プラグイン</a:t>
            </a:r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2D26FAC8-CEEB-7CCE-A7B6-A63910D24A1A}"/>
              </a:ext>
            </a:extLst>
          </p:cNvPr>
          <p:cNvSpPr/>
          <p:nvPr/>
        </p:nvSpPr>
        <p:spPr>
          <a:xfrm>
            <a:off x="24476524" y="35097720"/>
            <a:ext cx="1573193" cy="143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40" name="直線矢印コネクタ 1039">
            <a:extLst>
              <a:ext uri="{FF2B5EF4-FFF2-40B4-BE49-F238E27FC236}">
                <a16:creationId xmlns:a16="http://schemas.microsoft.com/office/drawing/2014/main" id="{4C11C8B0-C709-3DD9-2665-D583B7D3CF0E}"/>
              </a:ext>
            </a:extLst>
          </p:cNvPr>
          <p:cNvCxnSpPr>
            <a:cxnSpLocks/>
          </p:cNvCxnSpPr>
          <p:nvPr/>
        </p:nvCxnSpPr>
        <p:spPr>
          <a:xfrm>
            <a:off x="25249526" y="35158680"/>
            <a:ext cx="0" cy="1608156"/>
          </a:xfrm>
          <a:prstGeom prst="straightConnector1">
            <a:avLst/>
          </a:prstGeom>
          <a:ln w="381000">
            <a:solidFill>
              <a:schemeClr val="tx1"/>
            </a:solidFill>
            <a:prstDash val="solid"/>
            <a:headEnd w="lg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テキスト ボックス 1048">
            <a:extLst>
              <a:ext uri="{FF2B5EF4-FFF2-40B4-BE49-F238E27FC236}">
                <a16:creationId xmlns:a16="http://schemas.microsoft.com/office/drawing/2014/main" id="{1A550070-FC48-C14A-EE9C-F358D4F99ADC}"/>
              </a:ext>
            </a:extLst>
          </p:cNvPr>
          <p:cNvSpPr txBox="1"/>
          <p:nvPr/>
        </p:nvSpPr>
        <p:spPr>
          <a:xfrm>
            <a:off x="18020147" y="34004559"/>
            <a:ext cx="23252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/>
              <a:t>ユーザが機能拡張</a:t>
            </a:r>
            <a:br>
              <a:rPr lang="en-US" altLang="ja-JP" sz="2000" dirty="0"/>
            </a:br>
            <a:r>
              <a:rPr lang="ja-JP" altLang="en-US" sz="2000" dirty="0"/>
              <a:t>プラグインを</a:t>
            </a:r>
            <a:br>
              <a:rPr lang="en-US" altLang="ja-JP" sz="2000" dirty="0"/>
            </a:br>
            <a:r>
              <a:rPr lang="ja-JP" altLang="en-US" sz="2000" dirty="0"/>
              <a:t>開発・共有</a:t>
            </a:r>
          </a:p>
        </p:txBody>
      </p:sp>
      <p:sp>
        <p:nvSpPr>
          <p:cNvPr id="1050" name="テキスト ボックス 1049">
            <a:extLst>
              <a:ext uri="{FF2B5EF4-FFF2-40B4-BE49-F238E27FC236}">
                <a16:creationId xmlns:a16="http://schemas.microsoft.com/office/drawing/2014/main" id="{D71746D9-46B4-3D25-C411-109F36B13E7D}"/>
              </a:ext>
            </a:extLst>
          </p:cNvPr>
          <p:cNvSpPr txBox="1"/>
          <p:nvPr/>
        </p:nvSpPr>
        <p:spPr>
          <a:xfrm>
            <a:off x="20545465" y="33975071"/>
            <a:ext cx="21650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/>
              <a:t>ファイル共有</a:t>
            </a:r>
            <a:br>
              <a:rPr lang="en-US" altLang="ja-JP" sz="2000" dirty="0"/>
            </a:br>
            <a:r>
              <a:rPr lang="ja-JP" altLang="en-US" sz="2000" dirty="0"/>
              <a:t>共同・公開開発</a:t>
            </a:r>
          </a:p>
        </p:txBody>
      </p:sp>
      <p:sp>
        <p:nvSpPr>
          <p:cNvPr id="1051" name="テキスト ボックス 1050">
            <a:extLst>
              <a:ext uri="{FF2B5EF4-FFF2-40B4-BE49-F238E27FC236}">
                <a16:creationId xmlns:a16="http://schemas.microsoft.com/office/drawing/2014/main" id="{1872FBD4-0F5E-0AB5-336C-205044861383}"/>
              </a:ext>
            </a:extLst>
          </p:cNvPr>
          <p:cNvSpPr txBox="1"/>
          <p:nvPr/>
        </p:nvSpPr>
        <p:spPr>
          <a:xfrm>
            <a:off x="23402610" y="33979570"/>
            <a:ext cx="30155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/>
              <a:t>共通規格で誰もが</a:t>
            </a:r>
            <a:br>
              <a:rPr lang="en-US" altLang="ja-JP" sz="2000" dirty="0"/>
            </a:br>
            <a:r>
              <a:rPr lang="ja-JP" altLang="en-US" sz="2000" dirty="0"/>
              <a:t>音源を開発・利用できる</a:t>
            </a:r>
          </a:p>
        </p:txBody>
      </p:sp>
      <p:sp>
        <p:nvSpPr>
          <p:cNvPr id="1053" name="テキスト ボックス 1052">
            <a:extLst>
              <a:ext uri="{FF2B5EF4-FFF2-40B4-BE49-F238E27FC236}">
                <a16:creationId xmlns:a16="http://schemas.microsoft.com/office/drawing/2014/main" id="{0E678788-8B13-9734-CF2D-A5C39F4147FB}"/>
              </a:ext>
            </a:extLst>
          </p:cNvPr>
          <p:cNvSpPr txBox="1"/>
          <p:nvPr/>
        </p:nvSpPr>
        <p:spPr>
          <a:xfrm>
            <a:off x="17693734" y="34907434"/>
            <a:ext cx="3040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hlinkClick r:id="rId8"/>
              </a:rPr>
              <a:t>https://spring-fragrance.mints.ne.jp/aviutl/</a:t>
            </a:r>
            <a:r>
              <a:rPr lang="ja-JP" altLang="en-US" sz="1100" dirty="0"/>
              <a:t> </a:t>
            </a:r>
          </a:p>
        </p:txBody>
      </p:sp>
      <p:sp>
        <p:nvSpPr>
          <p:cNvPr id="1055" name="テキスト ボックス 1054">
            <a:extLst>
              <a:ext uri="{FF2B5EF4-FFF2-40B4-BE49-F238E27FC236}">
                <a16:creationId xmlns:a16="http://schemas.microsoft.com/office/drawing/2014/main" id="{CA447472-19E6-3CFA-0C55-DCCD38E8FBAD}"/>
              </a:ext>
            </a:extLst>
          </p:cNvPr>
          <p:cNvSpPr txBox="1"/>
          <p:nvPr/>
        </p:nvSpPr>
        <p:spPr>
          <a:xfrm>
            <a:off x="20966661" y="34681162"/>
            <a:ext cx="14524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hlinkClick r:id="rId9"/>
              </a:rPr>
              <a:t>https://github.com</a:t>
            </a:r>
            <a:r>
              <a:rPr lang="ja-JP" altLang="en-US" sz="1100" dirty="0"/>
              <a:t> </a:t>
            </a:r>
          </a:p>
        </p:txBody>
      </p:sp>
      <p:sp>
        <p:nvSpPr>
          <p:cNvPr id="1057" name="テキスト ボックス 1056">
            <a:extLst>
              <a:ext uri="{FF2B5EF4-FFF2-40B4-BE49-F238E27FC236}">
                <a16:creationId xmlns:a16="http://schemas.microsoft.com/office/drawing/2014/main" id="{01E2104F-62B1-A8B3-B21B-C3BC1AEAD107}"/>
              </a:ext>
            </a:extLst>
          </p:cNvPr>
          <p:cNvSpPr txBox="1"/>
          <p:nvPr/>
        </p:nvSpPr>
        <p:spPr>
          <a:xfrm>
            <a:off x="23427612" y="34687484"/>
            <a:ext cx="30155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hlinkClick r:id="rId10"/>
              </a:rPr>
              <a:t>https://www.steinberg.net/ja/developers/</a:t>
            </a:r>
            <a:r>
              <a:rPr lang="ja-JP" altLang="en-US" sz="1100" dirty="0"/>
              <a:t>　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072A458-897C-B73E-B390-556521BFAF1B}"/>
              </a:ext>
            </a:extLst>
          </p:cNvPr>
          <p:cNvGrpSpPr/>
          <p:nvPr/>
        </p:nvGrpSpPr>
        <p:grpSpPr>
          <a:xfrm>
            <a:off x="1523887" y="5111785"/>
            <a:ext cx="6363562" cy="4975557"/>
            <a:chOff x="1953596" y="6319452"/>
            <a:chExt cx="7243956" cy="6153504"/>
          </a:xfrm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176BB5B6-AB35-7A43-EC9C-B22A5828BBBC}"/>
                </a:ext>
              </a:extLst>
            </p:cNvPr>
            <p:cNvSpPr/>
            <p:nvPr/>
          </p:nvSpPr>
          <p:spPr>
            <a:xfrm>
              <a:off x="1953596" y="6319452"/>
              <a:ext cx="7243956" cy="6153504"/>
            </a:xfrm>
            <a:prstGeom prst="roundRect">
              <a:avLst>
                <a:gd name="adj" fmla="val 11713"/>
              </a:avLst>
            </a:prstGeom>
            <a:noFill/>
            <a:ln w="152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4037" dirty="0">
                <a:solidFill>
                  <a:schemeClr val="tx1"/>
                </a:solidFill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2826EA-2116-9736-B9F9-DF4DCB9CBCFD}"/>
                </a:ext>
              </a:extLst>
            </p:cNvPr>
            <p:cNvSpPr txBox="1"/>
            <p:nvPr/>
          </p:nvSpPr>
          <p:spPr>
            <a:xfrm>
              <a:off x="2523311" y="8024863"/>
              <a:ext cx="6603568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3200" dirty="0"/>
                <a:t>開発終了や仕様変更</a:t>
              </a:r>
              <a:br>
                <a:rPr lang="en-US" altLang="ja-JP" sz="3200" dirty="0"/>
              </a:br>
              <a:r>
                <a:rPr lang="ja-JP" altLang="en-US" sz="3200" dirty="0"/>
                <a:t>に振り回される</a:t>
              </a:r>
              <a:endParaRPr lang="en-US" altLang="ja-JP" sz="3200" dirty="0"/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3200" dirty="0"/>
                <a:t>本当に自分に合った</a:t>
              </a:r>
              <a:br>
                <a:rPr lang="en-US" altLang="ja-JP" sz="3200" dirty="0"/>
              </a:br>
              <a:r>
                <a:rPr lang="en-US" altLang="ja-JP" sz="3200" dirty="0"/>
                <a:t>DAW</a:t>
              </a:r>
              <a:r>
                <a:rPr lang="ja-JP" altLang="en-US" sz="3200" dirty="0"/>
                <a:t>が見つからない</a:t>
              </a:r>
              <a:endParaRPr lang="en-US" altLang="ja-JP" sz="3200" dirty="0"/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3200" dirty="0"/>
                <a:t>「もっとこうだったら</a:t>
              </a:r>
              <a:br>
                <a:rPr lang="en-US" altLang="ja-JP" sz="3200" dirty="0"/>
              </a:br>
              <a:r>
                <a:rPr lang="ja-JP" altLang="en-US" sz="3200" dirty="0"/>
                <a:t>良いのに</a:t>
              </a:r>
              <a:r>
                <a:rPr lang="en-US" altLang="ja-JP" sz="3200" dirty="0"/>
                <a:t>…</a:t>
              </a:r>
              <a:r>
                <a:rPr lang="ja-JP" altLang="en-US" sz="3200" dirty="0"/>
                <a:t>」という不満</a:t>
              </a:r>
              <a:endParaRPr lang="en-US" altLang="ja-JP" sz="3200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9332374-1AB8-C1BE-B6AA-0A6991168C2D}"/>
                </a:ext>
              </a:extLst>
            </p:cNvPr>
            <p:cNvSpPr txBox="1"/>
            <p:nvPr/>
          </p:nvSpPr>
          <p:spPr>
            <a:xfrm>
              <a:off x="2500939" y="6702921"/>
              <a:ext cx="609318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既存</a:t>
              </a:r>
              <a:r>
                <a:rPr kumimoji="0" lang="en-US" altLang="ja-JP" sz="5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DAW</a:t>
              </a:r>
              <a:r>
                <a:rPr kumimoji="0" lang="ja-JP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の</a:t>
              </a:r>
              <a:r>
                <a:rPr kumimoji="0" lang="ja-JP" alt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課題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CAC06507-E7A1-572A-47F2-9E78C5965415}"/>
              </a:ext>
            </a:extLst>
          </p:cNvPr>
          <p:cNvGrpSpPr/>
          <p:nvPr/>
        </p:nvGrpSpPr>
        <p:grpSpPr>
          <a:xfrm>
            <a:off x="8314804" y="5066460"/>
            <a:ext cx="6250639" cy="4975557"/>
            <a:chOff x="14779155" y="6528659"/>
            <a:chExt cx="12559650" cy="3617360"/>
          </a:xfrm>
        </p:grpSpPr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B09E1BEA-CC8B-1258-6240-06E33666D524}"/>
                </a:ext>
              </a:extLst>
            </p:cNvPr>
            <p:cNvSpPr/>
            <p:nvPr/>
          </p:nvSpPr>
          <p:spPr>
            <a:xfrm>
              <a:off x="14779155" y="6528659"/>
              <a:ext cx="12559650" cy="3617360"/>
            </a:xfrm>
            <a:prstGeom prst="roundRect">
              <a:avLst>
                <a:gd name="adj" fmla="val 11713"/>
              </a:avLst>
            </a:prstGeom>
            <a:noFill/>
            <a:ln w="152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4037" dirty="0">
                <a:solidFill>
                  <a:schemeClr val="tx1"/>
                </a:solidFill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9BE1C60C-1552-4184-E59E-8E9B52FE821E}"/>
                </a:ext>
              </a:extLst>
            </p:cNvPr>
            <p:cNvSpPr txBox="1"/>
            <p:nvPr/>
          </p:nvSpPr>
          <p:spPr>
            <a:xfrm>
              <a:off x="15153734" y="7872256"/>
              <a:ext cx="12185069" cy="1857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「無いなら、</a:t>
              </a:r>
              <a:br>
                <a:rPr kumimoji="1" lang="en-US" altLang="ja-JP" sz="3200" dirty="0"/>
              </a:br>
              <a:r>
                <a:rPr kumimoji="1" lang="ja-JP" altLang="en-US" sz="3200" dirty="0"/>
                <a:t>自分で作ってしまおう！」</a:t>
              </a:r>
              <a:endParaRPr kumimoji="1" lang="en-US" altLang="ja-JP" sz="3200" dirty="0"/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ユーザが自分好みの</a:t>
              </a:r>
              <a:br>
                <a:rPr kumimoji="1" lang="en-US" altLang="ja-JP" sz="3200" dirty="0"/>
              </a:br>
              <a:r>
                <a:rPr kumimoji="1" lang="ja-JP" altLang="en-US" sz="3200" dirty="0"/>
                <a:t>音楽制作環境を自ら</a:t>
              </a:r>
              <a:br>
                <a:rPr kumimoji="1" lang="en-US" altLang="ja-JP" sz="3200" dirty="0"/>
              </a:br>
              <a:r>
                <a:rPr kumimoji="1" lang="ja-JP" altLang="en-US" sz="3200" dirty="0"/>
                <a:t>構築できる世界の実現へ</a:t>
              </a:r>
              <a:endParaRPr kumimoji="1" lang="en-US" altLang="ja-JP" sz="3200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E1521B49-9E97-70B0-3897-3E31EDF6488C}"/>
                </a:ext>
              </a:extLst>
            </p:cNvPr>
            <p:cNvSpPr txBox="1"/>
            <p:nvPr/>
          </p:nvSpPr>
          <p:spPr>
            <a:xfrm>
              <a:off x="15078705" y="6534202"/>
              <a:ext cx="11445426" cy="1575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DAWIY </a:t>
              </a:r>
              <a:br>
                <a:rPr kumimoji="0" lang="en-US" altLang="ja-JP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</a:br>
              <a:r>
                <a:rPr lang="ja-JP" altLang="en-US" sz="6000" dirty="0">
                  <a:solidFill>
                    <a:prstClr val="black"/>
                  </a:solidFill>
                  <a:latin typeface="モボ-Bold" panose="02000800000000000000" pitchFamily="50" charset="-128"/>
                  <a:ea typeface="モボ-Bold" panose="02000800000000000000" pitchFamily="50" charset="-128"/>
                </a:rPr>
                <a:t>（</a:t>
              </a:r>
              <a:r>
                <a:rPr kumimoji="0" lang="en-US" altLang="ja-JP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DAW </a:t>
              </a:r>
              <a:r>
                <a:rPr kumimoji="0" lang="en-US" altLang="ja-JP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+</a:t>
              </a:r>
              <a:r>
                <a:rPr kumimoji="0" lang="en-US" altLang="ja-JP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 DIY</a:t>
              </a:r>
              <a:r>
                <a:rPr kumimoji="0" lang="ja-JP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）</a:t>
              </a:r>
            </a:p>
          </p:txBody>
        </p:sp>
      </p:grpSp>
      <p:sp>
        <p:nvSpPr>
          <p:cNvPr id="1058" name="正方形/長方形 1057">
            <a:extLst>
              <a:ext uri="{FF2B5EF4-FFF2-40B4-BE49-F238E27FC236}">
                <a16:creationId xmlns:a16="http://schemas.microsoft.com/office/drawing/2014/main" id="{F7B306EC-0938-76BC-F6AB-FB84F9B9F67F}"/>
              </a:ext>
            </a:extLst>
          </p:cNvPr>
          <p:cNvSpPr/>
          <p:nvPr/>
        </p:nvSpPr>
        <p:spPr>
          <a:xfrm>
            <a:off x="7420057" y="7088111"/>
            <a:ext cx="1173899" cy="11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63" name="グループ化 1062">
            <a:extLst>
              <a:ext uri="{FF2B5EF4-FFF2-40B4-BE49-F238E27FC236}">
                <a16:creationId xmlns:a16="http://schemas.microsoft.com/office/drawing/2014/main" id="{04DFF8F4-69F0-D8CD-1FB9-2F2FC0977820}"/>
              </a:ext>
            </a:extLst>
          </p:cNvPr>
          <p:cNvGrpSpPr/>
          <p:nvPr/>
        </p:nvGrpSpPr>
        <p:grpSpPr>
          <a:xfrm>
            <a:off x="14942061" y="5038876"/>
            <a:ext cx="6250640" cy="4975557"/>
            <a:chOff x="14779155" y="6528659"/>
            <a:chExt cx="12559650" cy="3617360"/>
          </a:xfrm>
        </p:grpSpPr>
        <p:sp>
          <p:nvSpPr>
            <p:cNvPr id="1064" name="四角形: 角を丸くする 1063">
              <a:extLst>
                <a:ext uri="{FF2B5EF4-FFF2-40B4-BE49-F238E27FC236}">
                  <a16:creationId xmlns:a16="http://schemas.microsoft.com/office/drawing/2014/main" id="{E49FB929-42A4-ED8F-DD88-2C9E0FC3EF4B}"/>
                </a:ext>
              </a:extLst>
            </p:cNvPr>
            <p:cNvSpPr/>
            <p:nvPr/>
          </p:nvSpPr>
          <p:spPr>
            <a:xfrm>
              <a:off x="14779155" y="6528659"/>
              <a:ext cx="12559650" cy="3617360"/>
            </a:xfrm>
            <a:prstGeom prst="roundRect">
              <a:avLst>
                <a:gd name="adj" fmla="val 11713"/>
              </a:avLst>
            </a:prstGeom>
            <a:noFill/>
            <a:ln w="152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4037" dirty="0">
                <a:solidFill>
                  <a:schemeClr val="tx1"/>
                </a:solidFill>
              </a:endParaRPr>
            </a:p>
          </p:txBody>
        </p:sp>
        <p:sp>
          <p:nvSpPr>
            <p:cNvPr id="1065" name="テキスト ボックス 1064">
              <a:extLst>
                <a:ext uri="{FF2B5EF4-FFF2-40B4-BE49-F238E27FC236}">
                  <a16:creationId xmlns:a16="http://schemas.microsoft.com/office/drawing/2014/main" id="{78FA32A3-3B5B-52E4-08FB-7E453BA46CCE}"/>
                </a:ext>
              </a:extLst>
            </p:cNvPr>
            <p:cNvSpPr txBox="1"/>
            <p:nvPr/>
          </p:nvSpPr>
          <p:spPr>
            <a:xfrm>
              <a:off x="16014012" y="7907639"/>
              <a:ext cx="10170927" cy="1857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試したい新しい機能の</a:t>
              </a:r>
              <a:br>
                <a:rPr kumimoji="1" lang="en-US" altLang="ja-JP" sz="3200" dirty="0"/>
              </a:br>
              <a:r>
                <a:rPr lang="ja-JP" altLang="en-US" sz="3200" dirty="0"/>
                <a:t>取捨選択</a:t>
              </a:r>
              <a:r>
                <a:rPr kumimoji="1" lang="ja-JP" altLang="en-US" sz="3200" dirty="0"/>
                <a:t>が可能</a:t>
              </a:r>
              <a:endParaRPr kumimoji="1" lang="en-US" altLang="ja-JP" sz="3200" dirty="0"/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柔軟な</a:t>
              </a:r>
              <a:r>
                <a:rPr kumimoji="1" lang="en-US" altLang="ja-JP" sz="3200" dirty="0"/>
                <a:t>GUI</a:t>
              </a:r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馴染みの操作が可能</a:t>
              </a:r>
              <a:endParaRPr kumimoji="1" lang="en-US" altLang="ja-JP" sz="3200" dirty="0"/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en-US" altLang="ja-JP" sz="3200" dirty="0"/>
                <a:t>PC</a:t>
              </a:r>
              <a:r>
                <a:rPr kumimoji="1" lang="ja-JP" altLang="en-US" sz="3200" dirty="0"/>
                <a:t>スペックに優しい</a:t>
              </a:r>
              <a:endParaRPr kumimoji="1" lang="en-US" altLang="ja-JP" sz="3200" dirty="0"/>
            </a:p>
          </p:txBody>
        </p:sp>
        <p:sp>
          <p:nvSpPr>
            <p:cNvPr id="1066" name="テキスト ボックス 1065">
              <a:extLst>
                <a:ext uri="{FF2B5EF4-FFF2-40B4-BE49-F238E27FC236}">
                  <a16:creationId xmlns:a16="http://schemas.microsoft.com/office/drawing/2014/main" id="{2D7BCF2B-242B-EA5B-6207-F321255DCC97}"/>
                </a:ext>
              </a:extLst>
            </p:cNvPr>
            <p:cNvSpPr txBox="1"/>
            <p:nvPr/>
          </p:nvSpPr>
          <p:spPr>
            <a:xfrm>
              <a:off x="15215907" y="6717464"/>
              <a:ext cx="11445426" cy="1141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自分好みの</a:t>
              </a:r>
              <a:endParaRPr kumimoji="0" lang="en-US" altLang="ja-JP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 panose="02000800000000000000" pitchFamily="50" charset="-128"/>
                <a:ea typeface="モボ-Bold" panose="02000800000000000000" pitchFamily="50" charset="-128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4800" dirty="0">
                  <a:solidFill>
                    <a:prstClr val="black"/>
                  </a:solidFill>
                  <a:latin typeface="モボ-Bold" panose="02000800000000000000" pitchFamily="50" charset="-128"/>
                  <a:ea typeface="モボ-Bold" panose="02000800000000000000" pitchFamily="50" charset="-128"/>
                </a:rPr>
                <a:t>制作環境</a:t>
              </a:r>
              <a:r>
                <a:rPr kumimoji="0" lang="ja-JP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とは</a:t>
              </a:r>
              <a:r>
                <a:rPr kumimoji="0" lang="en-US" altLang="ja-JP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…</a:t>
              </a:r>
              <a:endParaRPr kumimoji="0" lang="ja-JP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 panose="02000800000000000000" pitchFamily="50" charset="-128"/>
                <a:ea typeface="モボ-Bold" panose="02000800000000000000" pitchFamily="50" charset="-128"/>
                <a:cs typeface="+mn-cs"/>
              </a:endParaRPr>
            </a:p>
          </p:txBody>
        </p:sp>
      </p:grpSp>
      <p:sp>
        <p:nvSpPr>
          <p:cNvPr id="1061" name="正方形/長方形 1060">
            <a:extLst>
              <a:ext uri="{FF2B5EF4-FFF2-40B4-BE49-F238E27FC236}">
                <a16:creationId xmlns:a16="http://schemas.microsoft.com/office/drawing/2014/main" id="{D50819DE-B19C-3BBF-B022-6B97E39A0BB2}"/>
              </a:ext>
            </a:extLst>
          </p:cNvPr>
          <p:cNvSpPr/>
          <p:nvPr/>
        </p:nvSpPr>
        <p:spPr>
          <a:xfrm>
            <a:off x="14183367" y="7042391"/>
            <a:ext cx="1154159" cy="1119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2" name="直線矢印コネクタ 1061">
            <a:extLst>
              <a:ext uri="{FF2B5EF4-FFF2-40B4-BE49-F238E27FC236}">
                <a16:creationId xmlns:a16="http://schemas.microsoft.com/office/drawing/2014/main" id="{E2E25DF2-64E1-AACA-E458-E8B9C624D30C}"/>
              </a:ext>
            </a:extLst>
          </p:cNvPr>
          <p:cNvCxnSpPr>
            <a:cxnSpLocks/>
          </p:cNvCxnSpPr>
          <p:nvPr/>
        </p:nvCxnSpPr>
        <p:spPr>
          <a:xfrm>
            <a:off x="14308142" y="7593064"/>
            <a:ext cx="980832" cy="6499"/>
          </a:xfrm>
          <a:prstGeom prst="straightConnector1">
            <a:avLst/>
          </a:prstGeom>
          <a:ln w="317500">
            <a:solidFill>
              <a:schemeClr val="tx1"/>
            </a:solidFill>
            <a:prstDash val="solid"/>
            <a:headEnd w="lg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3" name="グループ化 1072">
            <a:extLst>
              <a:ext uri="{FF2B5EF4-FFF2-40B4-BE49-F238E27FC236}">
                <a16:creationId xmlns:a16="http://schemas.microsoft.com/office/drawing/2014/main" id="{EE0F8B60-776C-A2F6-00A1-83C7BC7ED928}"/>
              </a:ext>
            </a:extLst>
          </p:cNvPr>
          <p:cNvGrpSpPr/>
          <p:nvPr/>
        </p:nvGrpSpPr>
        <p:grpSpPr>
          <a:xfrm>
            <a:off x="6931306" y="10435378"/>
            <a:ext cx="19628665" cy="2393609"/>
            <a:chOff x="1690879" y="10364371"/>
            <a:chExt cx="19628665" cy="2393609"/>
          </a:xfrm>
        </p:grpSpPr>
        <p:sp>
          <p:nvSpPr>
            <p:cNvPr id="1067" name="四角形: 角を丸くする 1066">
              <a:extLst>
                <a:ext uri="{FF2B5EF4-FFF2-40B4-BE49-F238E27FC236}">
                  <a16:creationId xmlns:a16="http://schemas.microsoft.com/office/drawing/2014/main" id="{174DDFC6-A901-ECD2-651B-821666019414}"/>
                </a:ext>
              </a:extLst>
            </p:cNvPr>
            <p:cNvSpPr/>
            <p:nvPr/>
          </p:nvSpPr>
          <p:spPr>
            <a:xfrm>
              <a:off x="1690879" y="10364371"/>
              <a:ext cx="19501815" cy="2393609"/>
            </a:xfrm>
            <a:prstGeom prst="roundRect">
              <a:avLst>
                <a:gd name="adj" fmla="val 11713"/>
              </a:avLst>
            </a:prstGeom>
            <a:noFill/>
            <a:ln w="152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4037" dirty="0">
                <a:solidFill>
                  <a:schemeClr val="tx1"/>
                </a:solidFill>
              </a:endParaRPr>
            </a:p>
          </p:txBody>
        </p:sp>
        <p:sp>
          <p:nvSpPr>
            <p:cNvPr id="1068" name="テキスト ボックス 1067">
              <a:extLst>
                <a:ext uri="{FF2B5EF4-FFF2-40B4-BE49-F238E27FC236}">
                  <a16:creationId xmlns:a16="http://schemas.microsoft.com/office/drawing/2014/main" id="{96AE3B6B-A836-CF95-C5C2-CBB02D3C8891}"/>
                </a:ext>
              </a:extLst>
            </p:cNvPr>
            <p:cNvSpPr txBox="1"/>
            <p:nvPr/>
          </p:nvSpPr>
          <p:spPr>
            <a:xfrm>
              <a:off x="5003097" y="10558493"/>
              <a:ext cx="16316447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確率に基づいた自動メロディ生成</a:t>
              </a:r>
              <a:endParaRPr kumimoji="1" lang="en-US" altLang="ja-JP" sz="3200" dirty="0"/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自分の理想的な画面配置を自分自身で設計（</a:t>
              </a:r>
              <a:r>
                <a:rPr kumimoji="1" lang="en-US" altLang="ja-JP" sz="3200" dirty="0"/>
                <a:t>DIY</a:t>
              </a:r>
              <a:r>
                <a:rPr kumimoji="1" lang="ja-JP" altLang="en-US" sz="3200" dirty="0"/>
                <a:t>）した</a:t>
              </a:r>
              <a:endParaRPr kumimoji="1" lang="en-US" altLang="ja-JP" sz="3200" dirty="0"/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ja-JP" altLang="en-US" sz="3200" dirty="0"/>
                <a:t>ピアノロールの描画形式が自分にとって馴染みのあるものになっている</a:t>
              </a:r>
              <a:endParaRPr kumimoji="1" lang="en-US" altLang="ja-JP" sz="3200" dirty="0"/>
            </a:p>
            <a:p>
              <a:pPr marL="685800" indent="-685800">
                <a:buFont typeface="Arial" panose="020B0604020202020204" pitchFamily="34" charset="0"/>
                <a:buChar char="•"/>
              </a:pPr>
              <a:r>
                <a:rPr kumimoji="1" lang="en-US" altLang="ja-JP" sz="3200" dirty="0"/>
                <a:t>Excel</a:t>
              </a:r>
              <a:r>
                <a:rPr kumimoji="1" lang="ja-JP" altLang="en-US" sz="3200" dirty="0"/>
                <a:t>なので要求スペックは低い</a:t>
              </a:r>
              <a:endParaRPr kumimoji="1" lang="en-US" altLang="ja-JP" sz="3200" dirty="0"/>
            </a:p>
          </p:txBody>
        </p:sp>
        <p:sp>
          <p:nvSpPr>
            <p:cNvPr id="1069" name="テキスト ボックス 1068">
              <a:extLst>
                <a:ext uri="{FF2B5EF4-FFF2-40B4-BE49-F238E27FC236}">
                  <a16:creationId xmlns:a16="http://schemas.microsoft.com/office/drawing/2014/main" id="{448E9A52-5AED-6BAE-1D13-C4662F0F5E39}"/>
                </a:ext>
              </a:extLst>
            </p:cNvPr>
            <p:cNvSpPr txBox="1"/>
            <p:nvPr/>
          </p:nvSpPr>
          <p:spPr>
            <a:xfrm>
              <a:off x="1733885" y="10749911"/>
              <a:ext cx="312864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実現</a:t>
              </a:r>
              <a:endParaRPr kumimoji="0" lang="en-US" altLang="ja-JP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 panose="02000800000000000000" pitchFamily="50" charset="-128"/>
                <a:ea typeface="モボ-Bold" panose="02000800000000000000" pitchFamily="50" charset="-128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したこと</a:t>
              </a:r>
            </a:p>
          </p:txBody>
        </p:sp>
      </p:grpSp>
      <p:cxnSp>
        <p:nvCxnSpPr>
          <p:cNvPr id="1072" name="直線矢印コネクタ 1071">
            <a:extLst>
              <a:ext uri="{FF2B5EF4-FFF2-40B4-BE49-F238E27FC236}">
                <a16:creationId xmlns:a16="http://schemas.microsoft.com/office/drawing/2014/main" id="{A73ED320-6F88-0F32-A831-7E53FCCA2BE4}"/>
              </a:ext>
            </a:extLst>
          </p:cNvPr>
          <p:cNvCxnSpPr>
            <a:cxnSpLocks/>
          </p:cNvCxnSpPr>
          <p:nvPr/>
        </p:nvCxnSpPr>
        <p:spPr>
          <a:xfrm>
            <a:off x="7596387" y="7641151"/>
            <a:ext cx="980832" cy="6499"/>
          </a:xfrm>
          <a:prstGeom prst="straightConnector1">
            <a:avLst/>
          </a:prstGeom>
          <a:ln w="317500">
            <a:solidFill>
              <a:schemeClr val="tx1"/>
            </a:solidFill>
            <a:prstDash val="solid"/>
            <a:headEnd w="lg" len="sm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6160FDFD-6970-92CA-6370-EFE47107A66D}"/>
              </a:ext>
            </a:extLst>
          </p:cNvPr>
          <p:cNvSpPr/>
          <p:nvPr/>
        </p:nvSpPr>
        <p:spPr>
          <a:xfrm>
            <a:off x="3288580" y="29251146"/>
            <a:ext cx="13399678" cy="6965165"/>
          </a:xfrm>
          <a:prstGeom prst="roundRect">
            <a:avLst>
              <a:gd name="adj" fmla="val 6243"/>
            </a:avLst>
          </a:prstGeom>
          <a:solidFill>
            <a:schemeClr val="bg1">
              <a:lumMod val="75000"/>
              <a:alpha val="10000"/>
            </a:schemeClr>
          </a:solidFill>
          <a:ln w="152400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60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0CFBFFA-BF2F-C7A5-D56D-B1E68E71BD14}"/>
              </a:ext>
            </a:extLst>
          </p:cNvPr>
          <p:cNvSpPr txBox="1"/>
          <p:nvPr/>
        </p:nvSpPr>
        <p:spPr>
          <a:xfrm>
            <a:off x="15918978" y="29370326"/>
            <a:ext cx="67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5400" dirty="0">
                <a:solidFill>
                  <a:schemeClr val="tx1">
                    <a:alpha val="10000"/>
                  </a:schemeClr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5</a:t>
            </a:r>
            <a:endParaRPr kumimoji="1" lang="ja-JP" altLang="en-US" sz="5400" dirty="0">
              <a:solidFill>
                <a:schemeClr val="tx1">
                  <a:alpha val="10000"/>
                </a:schemeClr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E7569361-F0EC-961D-6118-74B0D0B6D625}"/>
              </a:ext>
            </a:extLst>
          </p:cNvPr>
          <p:cNvSpPr/>
          <p:nvPr/>
        </p:nvSpPr>
        <p:spPr>
          <a:xfrm>
            <a:off x="2875341" y="29554774"/>
            <a:ext cx="13432639" cy="6965165"/>
          </a:xfrm>
          <a:prstGeom prst="roundRect">
            <a:avLst>
              <a:gd name="adj" fmla="val 6243"/>
            </a:avLst>
          </a:prstGeom>
          <a:solidFill>
            <a:schemeClr val="bg1">
              <a:lumMod val="75000"/>
              <a:alpha val="20000"/>
            </a:schemeClr>
          </a:solidFill>
          <a:ln w="152400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6000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AE719B4-5E97-B52A-FF62-4C1C1F955EDC}"/>
              </a:ext>
            </a:extLst>
          </p:cNvPr>
          <p:cNvSpPr txBox="1"/>
          <p:nvPr/>
        </p:nvSpPr>
        <p:spPr>
          <a:xfrm>
            <a:off x="15608309" y="29652751"/>
            <a:ext cx="603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5400" dirty="0">
                <a:solidFill>
                  <a:schemeClr val="tx1">
                    <a:alpha val="20000"/>
                  </a:schemeClr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4</a:t>
            </a:r>
            <a:endParaRPr kumimoji="1" lang="ja-JP" altLang="en-US" sz="5400" dirty="0">
              <a:solidFill>
                <a:schemeClr val="tx1">
                  <a:alpha val="20000"/>
                </a:schemeClr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71A4AC92-8956-73CA-518F-8A9BDE304B46}"/>
              </a:ext>
            </a:extLst>
          </p:cNvPr>
          <p:cNvSpPr/>
          <p:nvPr/>
        </p:nvSpPr>
        <p:spPr>
          <a:xfrm>
            <a:off x="2456241" y="29898846"/>
            <a:ext cx="13432639" cy="6965165"/>
          </a:xfrm>
          <a:prstGeom prst="roundRect">
            <a:avLst>
              <a:gd name="adj" fmla="val 6243"/>
            </a:avLst>
          </a:prstGeom>
          <a:solidFill>
            <a:schemeClr val="bg1">
              <a:lumMod val="85000"/>
              <a:alpha val="40000"/>
            </a:schemeClr>
          </a:solidFill>
          <a:ln w="152400">
            <a:solidFill>
              <a:schemeClr val="tx1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6000" dirty="0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AA99D5F-FA50-B74A-E2EC-45AE99974BED}"/>
              </a:ext>
            </a:extLst>
          </p:cNvPr>
          <p:cNvSpPr txBox="1"/>
          <p:nvPr/>
        </p:nvSpPr>
        <p:spPr>
          <a:xfrm>
            <a:off x="15227309" y="29984861"/>
            <a:ext cx="583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5400" dirty="0">
                <a:solidFill>
                  <a:schemeClr val="tx1">
                    <a:alpha val="40000"/>
                  </a:schemeClr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3</a:t>
            </a:r>
            <a:endParaRPr kumimoji="1" lang="ja-JP" altLang="en-US" sz="5400" dirty="0">
              <a:solidFill>
                <a:schemeClr val="tx1">
                  <a:alpha val="40000"/>
                </a:schemeClr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0F4D12CE-5686-3123-1C86-BBAE011A7F88}"/>
              </a:ext>
            </a:extLst>
          </p:cNvPr>
          <p:cNvSpPr/>
          <p:nvPr/>
        </p:nvSpPr>
        <p:spPr>
          <a:xfrm>
            <a:off x="2006661" y="30247608"/>
            <a:ext cx="13432639" cy="6965165"/>
          </a:xfrm>
          <a:prstGeom prst="roundRect">
            <a:avLst>
              <a:gd name="adj" fmla="val 7337"/>
            </a:avLst>
          </a:prstGeom>
          <a:solidFill>
            <a:schemeClr val="bg1">
              <a:lumMod val="95000"/>
              <a:alpha val="60000"/>
            </a:schemeClr>
          </a:solidFill>
          <a:ln w="152400">
            <a:solidFill>
              <a:schemeClr val="tx1"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6000" dirty="0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354A47-A3FD-5BC3-5EE8-02DC7BB6A830}"/>
              </a:ext>
            </a:extLst>
          </p:cNvPr>
          <p:cNvSpPr txBox="1"/>
          <p:nvPr/>
        </p:nvSpPr>
        <p:spPr>
          <a:xfrm>
            <a:off x="14747631" y="30387581"/>
            <a:ext cx="583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5400" dirty="0">
                <a:solidFill>
                  <a:schemeClr val="tx1">
                    <a:alpha val="60000"/>
                  </a:schemeClr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2</a:t>
            </a:r>
            <a:endParaRPr kumimoji="1" lang="ja-JP" altLang="en-US" sz="5400" dirty="0">
              <a:solidFill>
                <a:schemeClr val="tx1">
                  <a:alpha val="60000"/>
                </a:schemeClr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18EF2DD5-013B-D771-635E-8F67A39D7ED0}"/>
              </a:ext>
            </a:extLst>
          </p:cNvPr>
          <p:cNvSpPr/>
          <p:nvPr/>
        </p:nvSpPr>
        <p:spPr>
          <a:xfrm>
            <a:off x="1625661" y="30652640"/>
            <a:ext cx="13432639" cy="6965165"/>
          </a:xfrm>
          <a:prstGeom prst="roundRect">
            <a:avLst>
              <a:gd name="adj" fmla="val 8431"/>
            </a:avLst>
          </a:prstGeom>
          <a:solidFill>
            <a:schemeClr val="bg1"/>
          </a:solidFill>
          <a:ln w="152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6000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6A89A6C-28D8-CB5B-B2BC-ECDB61AAD7C6}"/>
              </a:ext>
            </a:extLst>
          </p:cNvPr>
          <p:cNvSpPr txBox="1"/>
          <p:nvPr/>
        </p:nvSpPr>
        <p:spPr>
          <a:xfrm>
            <a:off x="12217570" y="30789426"/>
            <a:ext cx="2770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トラック</a:t>
            </a:r>
            <a:r>
              <a:rPr kumimoji="1" lang="en-US" altLang="ja-JP" sz="54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1</a:t>
            </a:r>
            <a:endParaRPr kumimoji="1" lang="ja-JP" altLang="en-US" sz="5400" dirty="0"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grpSp>
        <p:nvGrpSpPr>
          <p:cNvPr id="1108" name="グループ化 1107">
            <a:extLst>
              <a:ext uri="{FF2B5EF4-FFF2-40B4-BE49-F238E27FC236}">
                <a16:creationId xmlns:a16="http://schemas.microsoft.com/office/drawing/2014/main" id="{E77FD3D6-2F91-105B-A683-DC2E9A2CC7F2}"/>
              </a:ext>
            </a:extLst>
          </p:cNvPr>
          <p:cNvGrpSpPr/>
          <p:nvPr/>
        </p:nvGrpSpPr>
        <p:grpSpPr>
          <a:xfrm>
            <a:off x="1919849" y="31309640"/>
            <a:ext cx="8423429" cy="6006370"/>
            <a:chOff x="1858889" y="31309640"/>
            <a:chExt cx="8423429" cy="6006370"/>
          </a:xfrm>
        </p:grpSpPr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79EAE105-9726-22AD-2927-CC5B0553709E}"/>
                </a:ext>
              </a:extLst>
            </p:cNvPr>
            <p:cNvSpPr txBox="1"/>
            <p:nvPr/>
          </p:nvSpPr>
          <p:spPr>
            <a:xfrm>
              <a:off x="2403561" y="31492217"/>
              <a:ext cx="7147347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/>
                  <a:ea typeface="モボ-Bold"/>
                  <a:cs typeface="+mj-cs"/>
                </a:rPr>
                <a:t>メロディ</a:t>
              </a:r>
              <a:r>
                <a:rPr kumimoji="1" lang="ja-JP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/>
                  <a:ea typeface="モボ-Bold"/>
                  <a:cs typeface="+mj-cs"/>
                </a:rPr>
                <a:t>生成</a:t>
              </a:r>
              <a:r>
                <a:rPr kumimoji="1" lang="ja-JP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/>
                  <a:ea typeface="モボ-Bold"/>
                  <a:cs typeface="+mj-cs"/>
                </a:rPr>
                <a:t>アルゴリズム</a:t>
              </a:r>
              <a:endParaRPr lang="ja-JP" altLang="en-US" sz="48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endParaRPr>
            </a:p>
          </p:txBody>
        </p:sp>
        <p:grpSp>
          <p:nvGrpSpPr>
            <p:cNvPr id="1090" name="グループ化 1089">
              <a:extLst>
                <a:ext uri="{FF2B5EF4-FFF2-40B4-BE49-F238E27FC236}">
                  <a16:creationId xmlns:a16="http://schemas.microsoft.com/office/drawing/2014/main" id="{58B71404-1CC8-07C8-2EF9-E4E647CD9451}"/>
                </a:ext>
              </a:extLst>
            </p:cNvPr>
            <p:cNvGrpSpPr/>
            <p:nvPr/>
          </p:nvGrpSpPr>
          <p:grpSpPr>
            <a:xfrm>
              <a:off x="2043048" y="32230328"/>
              <a:ext cx="8087988" cy="5056978"/>
              <a:chOff x="1224183" y="32060428"/>
              <a:chExt cx="13913778" cy="5690663"/>
            </a:xfrm>
          </p:grpSpPr>
          <p:sp>
            <p:nvSpPr>
              <p:cNvPr id="27" name="ひし形 26">
                <a:extLst>
                  <a:ext uri="{FF2B5EF4-FFF2-40B4-BE49-F238E27FC236}">
                    <a16:creationId xmlns:a16="http://schemas.microsoft.com/office/drawing/2014/main" id="{588EAE04-530A-C82A-F820-803AAD5971F8}"/>
                  </a:ext>
                </a:extLst>
              </p:cNvPr>
              <p:cNvSpPr/>
              <p:nvPr/>
            </p:nvSpPr>
            <p:spPr>
              <a:xfrm>
                <a:off x="1860886" y="33917792"/>
                <a:ext cx="2391716" cy="1415257"/>
              </a:xfrm>
              <a:prstGeom prst="diamond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線矢印コネクタ 27">
                <a:extLst>
                  <a:ext uri="{FF2B5EF4-FFF2-40B4-BE49-F238E27FC236}">
                    <a16:creationId xmlns:a16="http://schemas.microsoft.com/office/drawing/2014/main" id="{50E54E70-7EBF-5146-1A05-4F1B2FFEB38E}"/>
                  </a:ext>
                </a:extLst>
              </p:cNvPr>
              <p:cNvCxnSpPr>
                <a:cxnSpLocks/>
                <a:stCxn id="27" idx="0"/>
              </p:cNvCxnSpPr>
              <p:nvPr/>
            </p:nvCxnSpPr>
            <p:spPr>
              <a:xfrm flipV="1">
                <a:off x="3056745" y="33144500"/>
                <a:ext cx="0" cy="77329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2D5E766B-8B01-B7AB-F828-26A057818B34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 flipV="1">
                <a:off x="3056745" y="35333048"/>
                <a:ext cx="0" cy="74119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矢印コネクタ 38">
                <a:extLst>
                  <a:ext uri="{FF2B5EF4-FFF2-40B4-BE49-F238E27FC236}">
                    <a16:creationId xmlns:a16="http://schemas.microsoft.com/office/drawing/2014/main" id="{C0EC785E-6B3F-8371-76D3-3A2AD0145B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0982" y="33165074"/>
                <a:ext cx="142486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矢印コネクタ 40">
                <a:extLst>
                  <a:ext uri="{FF2B5EF4-FFF2-40B4-BE49-F238E27FC236}">
                    <a16:creationId xmlns:a16="http://schemas.microsoft.com/office/drawing/2014/main" id="{D30DE24B-A9FA-4DC6-5754-0C17A9D8B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35985" y="36053889"/>
                <a:ext cx="1467483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98A51460-EC35-1D99-47FD-D0354A74753B}"/>
                  </a:ext>
                </a:extLst>
              </p:cNvPr>
              <p:cNvSpPr txBox="1"/>
              <p:nvPr/>
            </p:nvSpPr>
            <p:spPr>
              <a:xfrm>
                <a:off x="2331144" y="32856773"/>
                <a:ext cx="624574" cy="796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2000" b="1" dirty="0">
                    <a:latin typeface="+mn-ea"/>
                  </a:rPr>
                  <a:t>音符</a:t>
                </a: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E7BF169C-E1C3-8440-AA58-154F27C6FC53}"/>
                  </a:ext>
                </a:extLst>
              </p:cNvPr>
              <p:cNvSpPr txBox="1"/>
              <p:nvPr/>
            </p:nvSpPr>
            <p:spPr>
              <a:xfrm>
                <a:off x="2441572" y="35455028"/>
                <a:ext cx="478906" cy="796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b="1" dirty="0">
                    <a:latin typeface="+mn-ea"/>
                  </a:rPr>
                  <a:t>休符</a:t>
                </a:r>
              </a:p>
            </p:txBody>
          </p:sp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AAB6BDEB-436B-9C54-55FC-658345E5B0BA}"/>
                  </a:ext>
                </a:extLst>
              </p:cNvPr>
              <p:cNvSpPr txBox="1"/>
              <p:nvPr/>
            </p:nvSpPr>
            <p:spPr>
              <a:xfrm>
                <a:off x="1911013" y="34170264"/>
                <a:ext cx="2294005" cy="1243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ja-JP" altLang="en-US" sz="2000" b="1" dirty="0">
                    <a:latin typeface="+mn-ea"/>
                  </a:rPr>
                  <a:t>音符</a:t>
                </a:r>
                <a:r>
                  <a:rPr lang="en-US" altLang="ja-JP" sz="2000" b="1" dirty="0">
                    <a:latin typeface="+mn-ea"/>
                  </a:rPr>
                  <a:t> </a:t>
                </a:r>
              </a:p>
              <a:p>
                <a:pPr algn="ctr">
                  <a:lnSpc>
                    <a:spcPts val="2000"/>
                  </a:lnSpc>
                </a:pPr>
                <a:r>
                  <a:rPr lang="en-US" altLang="ja-JP" sz="2000" b="1" dirty="0">
                    <a:latin typeface="+mn-ea"/>
                  </a:rPr>
                  <a:t>or</a:t>
                </a:r>
              </a:p>
              <a:p>
                <a:pPr algn="ctr">
                  <a:lnSpc>
                    <a:spcPts val="2000"/>
                  </a:lnSpc>
                </a:pPr>
                <a:r>
                  <a:rPr lang="ja-JP" altLang="en-US" sz="2000" b="1" dirty="0">
                    <a:latin typeface="+mn-ea"/>
                  </a:rPr>
                  <a:t>休符</a:t>
                </a:r>
                <a:endParaRPr lang="en-US" altLang="ja-JP" sz="2000" b="1" dirty="0">
                  <a:latin typeface="+mn-ea"/>
                </a:endParaRPr>
              </a:p>
            </p:txBody>
          </p:sp>
          <p:cxnSp>
            <p:nvCxnSpPr>
              <p:cNvPr id="48" name="直線矢印コネクタ 47">
                <a:extLst>
                  <a:ext uri="{FF2B5EF4-FFF2-40B4-BE49-F238E27FC236}">
                    <a16:creationId xmlns:a16="http://schemas.microsoft.com/office/drawing/2014/main" id="{7E3EF154-2A50-33B8-BCD3-094CCB82BD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3857" y="36050079"/>
                <a:ext cx="504952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矢印コネクタ 49">
                <a:extLst>
                  <a:ext uri="{FF2B5EF4-FFF2-40B4-BE49-F238E27FC236}">
                    <a16:creationId xmlns:a16="http://schemas.microsoft.com/office/drawing/2014/main" id="{934BF7D8-F19A-724F-9518-6B0500A3EE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40731" y="33165752"/>
                <a:ext cx="72146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4EAE090F-6ECE-F2AF-1B00-06F52B3D3E9D}"/>
                  </a:ext>
                </a:extLst>
              </p:cNvPr>
              <p:cNvSpPr txBox="1"/>
              <p:nvPr/>
            </p:nvSpPr>
            <p:spPr>
              <a:xfrm>
                <a:off x="5951217" y="32250971"/>
                <a:ext cx="656794" cy="1489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b="1" dirty="0">
                    <a:latin typeface="+mn-ea"/>
                  </a:rPr>
                  <a:t>音高決定</a:t>
                </a:r>
              </a:p>
            </p:txBody>
          </p:sp>
          <p:cxnSp>
            <p:nvCxnSpPr>
              <p:cNvPr id="63" name="直線矢印コネクタ 62">
                <a:extLst>
                  <a:ext uri="{FF2B5EF4-FFF2-40B4-BE49-F238E27FC236}">
                    <a16:creationId xmlns:a16="http://schemas.microsoft.com/office/drawing/2014/main" id="{1DB2FCE7-369A-BB30-C1C5-1E29C0443B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71454" y="33158921"/>
                <a:ext cx="727307" cy="615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8" name="テキスト ボックス 1027">
                <a:extLst>
                  <a:ext uri="{FF2B5EF4-FFF2-40B4-BE49-F238E27FC236}">
                    <a16:creationId xmlns:a16="http://schemas.microsoft.com/office/drawing/2014/main" id="{80F65EF9-D991-5201-855A-8D952E7E3FD9}"/>
                  </a:ext>
                </a:extLst>
              </p:cNvPr>
              <p:cNvSpPr txBox="1"/>
              <p:nvPr/>
            </p:nvSpPr>
            <p:spPr>
              <a:xfrm>
                <a:off x="7490734" y="32060428"/>
                <a:ext cx="443575" cy="2167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ja-JP" altLang="en-US" sz="2000" b="1" dirty="0">
                    <a:latin typeface="+mn-ea"/>
                  </a:rPr>
                  <a:t>ベロシティ決定</a:t>
                </a:r>
              </a:p>
            </p:txBody>
          </p:sp>
          <p:cxnSp>
            <p:nvCxnSpPr>
              <p:cNvPr id="1029" name="直線矢印コネクタ 1028">
                <a:extLst>
                  <a:ext uri="{FF2B5EF4-FFF2-40B4-BE49-F238E27FC236}">
                    <a16:creationId xmlns:a16="http://schemas.microsoft.com/office/drawing/2014/main" id="{79601344-81E4-FD70-55BF-6BA5AEDED2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33383" y="33138703"/>
                <a:ext cx="0" cy="293750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" name="直線矢印コネクタ 1029">
                <a:extLst>
                  <a:ext uri="{FF2B5EF4-FFF2-40B4-BE49-F238E27FC236}">
                    <a16:creationId xmlns:a16="http://schemas.microsoft.com/office/drawing/2014/main" id="{2FDE1445-3D50-907B-CA7C-01A111BDE3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93913" y="33720408"/>
                <a:ext cx="0" cy="89494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8" name="楕円 1037">
                <a:extLst>
                  <a:ext uri="{FF2B5EF4-FFF2-40B4-BE49-F238E27FC236}">
                    <a16:creationId xmlns:a16="http://schemas.microsoft.com/office/drawing/2014/main" id="{EA569B00-A6E5-A5BD-CFDF-F45F73AFB6FD}"/>
                  </a:ext>
                </a:extLst>
              </p:cNvPr>
              <p:cNvSpPr/>
              <p:nvPr/>
            </p:nvSpPr>
            <p:spPr>
              <a:xfrm>
                <a:off x="5311339" y="34512886"/>
                <a:ext cx="4539272" cy="112219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00" b="1" dirty="0"/>
              </a:p>
            </p:txBody>
          </p:sp>
          <p:sp>
            <p:nvSpPr>
              <p:cNvPr id="1039" name="テキスト ボックス 1038">
                <a:extLst>
                  <a:ext uri="{FF2B5EF4-FFF2-40B4-BE49-F238E27FC236}">
                    <a16:creationId xmlns:a16="http://schemas.microsoft.com/office/drawing/2014/main" id="{77F9465D-54B5-DF51-11E2-B8489E68BDF7}"/>
                  </a:ext>
                </a:extLst>
              </p:cNvPr>
              <p:cNvSpPr txBox="1"/>
              <p:nvPr/>
            </p:nvSpPr>
            <p:spPr>
              <a:xfrm>
                <a:off x="4587575" y="32257124"/>
                <a:ext cx="639625" cy="1489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b="1" dirty="0">
                    <a:latin typeface="+mn-ea"/>
                  </a:rPr>
                  <a:t>音価決定</a:t>
                </a:r>
              </a:p>
            </p:txBody>
          </p:sp>
          <p:cxnSp>
            <p:nvCxnSpPr>
              <p:cNvPr id="1041" name="直線矢印コネクタ 1040">
                <a:extLst>
                  <a:ext uri="{FF2B5EF4-FFF2-40B4-BE49-F238E27FC236}">
                    <a16:creationId xmlns:a16="http://schemas.microsoft.com/office/drawing/2014/main" id="{9136273D-D240-7171-3705-0481ABB0AB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2738" y="33174544"/>
                <a:ext cx="697113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直線矢印コネクタ 1041">
                <a:extLst>
                  <a:ext uri="{FF2B5EF4-FFF2-40B4-BE49-F238E27FC236}">
                    <a16:creationId xmlns:a16="http://schemas.microsoft.com/office/drawing/2014/main" id="{E4A73CDB-C578-0E56-AAF2-3310CFD49B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43545" y="34621760"/>
                <a:ext cx="84609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3" name="テキスト ボックス 1042">
                <a:extLst>
                  <a:ext uri="{FF2B5EF4-FFF2-40B4-BE49-F238E27FC236}">
                    <a16:creationId xmlns:a16="http://schemas.microsoft.com/office/drawing/2014/main" id="{71316791-AA80-45EC-BA03-D0857090D82E}"/>
                  </a:ext>
                </a:extLst>
              </p:cNvPr>
              <p:cNvSpPr txBox="1"/>
              <p:nvPr/>
            </p:nvSpPr>
            <p:spPr>
              <a:xfrm>
                <a:off x="4640010" y="35156108"/>
                <a:ext cx="438659" cy="1904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b="1" dirty="0">
                    <a:latin typeface="+mn-ea"/>
                  </a:rPr>
                  <a:t>音価決定</a:t>
                </a:r>
              </a:p>
            </p:txBody>
          </p:sp>
          <p:cxnSp>
            <p:nvCxnSpPr>
              <p:cNvPr id="1044" name="直線矢印コネクタ 1043">
                <a:extLst>
                  <a:ext uri="{FF2B5EF4-FFF2-40B4-BE49-F238E27FC236}">
                    <a16:creationId xmlns:a16="http://schemas.microsoft.com/office/drawing/2014/main" id="{5461145F-8EBE-A53E-4099-AEE7301A21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12450" y="33150884"/>
                <a:ext cx="747790" cy="802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6" name="テキスト ボックス 1045">
                <a:extLst>
                  <a:ext uri="{FF2B5EF4-FFF2-40B4-BE49-F238E27FC236}">
                    <a16:creationId xmlns:a16="http://schemas.microsoft.com/office/drawing/2014/main" id="{259C6FA1-9C89-490E-84E3-56687402B5D2}"/>
                  </a:ext>
                </a:extLst>
              </p:cNvPr>
              <p:cNvSpPr txBox="1"/>
              <p:nvPr/>
            </p:nvSpPr>
            <p:spPr>
              <a:xfrm>
                <a:off x="8976022" y="32416611"/>
                <a:ext cx="426738" cy="1559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ja-JP" altLang="en-US" sz="2000" b="1" dirty="0">
                    <a:latin typeface="+mn-ea"/>
                  </a:rPr>
                  <a:t>音符の描画</a:t>
                </a:r>
              </a:p>
            </p:txBody>
          </p:sp>
          <p:sp>
            <p:nvSpPr>
              <p:cNvPr id="1047" name="テキスト ボックス 1046">
                <a:extLst>
                  <a:ext uri="{FF2B5EF4-FFF2-40B4-BE49-F238E27FC236}">
                    <a16:creationId xmlns:a16="http://schemas.microsoft.com/office/drawing/2014/main" id="{1E7BA94A-ACF8-0350-6249-0E38E3E0F768}"/>
                  </a:ext>
                </a:extLst>
              </p:cNvPr>
              <p:cNvSpPr txBox="1"/>
              <p:nvPr/>
            </p:nvSpPr>
            <p:spPr>
              <a:xfrm>
                <a:off x="5262150" y="34863333"/>
                <a:ext cx="4637646" cy="575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b="1" dirty="0">
                    <a:latin typeface="+mn-ea"/>
                  </a:rPr>
                  <a:t>スケール内外を決定</a:t>
                </a:r>
              </a:p>
            </p:txBody>
          </p:sp>
          <p:sp>
            <p:nvSpPr>
              <p:cNvPr id="1048" name="ひし形 1047">
                <a:extLst>
                  <a:ext uri="{FF2B5EF4-FFF2-40B4-BE49-F238E27FC236}">
                    <a16:creationId xmlns:a16="http://schemas.microsoft.com/office/drawing/2014/main" id="{6BAFE886-FD25-093F-54A5-151C4371F993}"/>
                  </a:ext>
                </a:extLst>
              </p:cNvPr>
              <p:cNvSpPr/>
              <p:nvPr/>
            </p:nvSpPr>
            <p:spPr>
              <a:xfrm>
                <a:off x="10986296" y="33726488"/>
                <a:ext cx="2861365" cy="1785883"/>
              </a:xfrm>
              <a:prstGeom prst="diamond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2" name="テキスト ボックス 1051">
                <a:extLst>
                  <a:ext uri="{FF2B5EF4-FFF2-40B4-BE49-F238E27FC236}">
                    <a16:creationId xmlns:a16="http://schemas.microsoft.com/office/drawing/2014/main" id="{BDEABC34-94E7-120E-3BE6-1412261D5F2B}"/>
                  </a:ext>
                </a:extLst>
              </p:cNvPr>
              <p:cNvSpPr txBox="1"/>
              <p:nvPr/>
            </p:nvSpPr>
            <p:spPr>
              <a:xfrm>
                <a:off x="11154658" y="34418409"/>
                <a:ext cx="2623043" cy="575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b="1" dirty="0">
                    <a:latin typeface="+mn-ea"/>
                  </a:rPr>
                  <a:t>終了時刻か</a:t>
                </a:r>
                <a:endParaRPr lang="en-US" altLang="ja-JP" sz="2000" b="1" dirty="0">
                  <a:latin typeface="+mn-ea"/>
                </a:endParaRPr>
              </a:p>
            </p:txBody>
          </p:sp>
          <p:cxnSp>
            <p:nvCxnSpPr>
              <p:cNvPr id="1054" name="直線矢印コネクタ 1053">
                <a:extLst>
                  <a:ext uri="{FF2B5EF4-FFF2-40B4-BE49-F238E27FC236}">
                    <a16:creationId xmlns:a16="http://schemas.microsoft.com/office/drawing/2014/main" id="{D131DFC0-34E0-6B84-DD07-EA789D933E0E}"/>
                  </a:ext>
                </a:extLst>
              </p:cNvPr>
              <p:cNvCxnSpPr>
                <a:cxnSpLocks/>
                <a:stCxn id="1048" idx="3"/>
              </p:cNvCxnSpPr>
              <p:nvPr/>
            </p:nvCxnSpPr>
            <p:spPr>
              <a:xfrm>
                <a:off x="13847652" y="34619421"/>
                <a:ext cx="74109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6" name="テキスト ボックス 1055">
                <a:extLst>
                  <a:ext uri="{FF2B5EF4-FFF2-40B4-BE49-F238E27FC236}">
                    <a16:creationId xmlns:a16="http://schemas.microsoft.com/office/drawing/2014/main" id="{0A184ED5-C627-EC59-0FEA-0FD61EA3BBA6}"/>
                  </a:ext>
                </a:extLst>
              </p:cNvPr>
              <p:cNvSpPr txBox="1"/>
              <p:nvPr/>
            </p:nvSpPr>
            <p:spPr>
              <a:xfrm>
                <a:off x="14662310" y="34185339"/>
                <a:ext cx="475651" cy="1216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lang="ja-JP" altLang="en-US" sz="2000" b="1" dirty="0">
                    <a:latin typeface="+mn-ea"/>
                  </a:rPr>
                  <a:t>終了</a:t>
                </a:r>
              </a:p>
            </p:txBody>
          </p:sp>
          <p:cxnSp>
            <p:nvCxnSpPr>
              <p:cNvPr id="1059" name="直線矢印コネクタ 1058">
                <a:extLst>
                  <a:ext uri="{FF2B5EF4-FFF2-40B4-BE49-F238E27FC236}">
                    <a16:creationId xmlns:a16="http://schemas.microsoft.com/office/drawing/2014/main" id="{E0AD1E4E-A55A-5CD0-6FA8-44E0FA96B127}"/>
                  </a:ext>
                </a:extLst>
              </p:cNvPr>
              <p:cNvCxnSpPr>
                <a:cxnSpLocks/>
                <a:stCxn id="1048" idx="2"/>
              </p:cNvCxnSpPr>
              <p:nvPr/>
            </p:nvCxnSpPr>
            <p:spPr>
              <a:xfrm>
                <a:off x="12416979" y="35512372"/>
                <a:ext cx="0" cy="153349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0" name="テキスト ボックス 1069">
                <a:extLst>
                  <a:ext uri="{FF2B5EF4-FFF2-40B4-BE49-F238E27FC236}">
                    <a16:creationId xmlns:a16="http://schemas.microsoft.com/office/drawing/2014/main" id="{543E72FE-65C7-004D-B755-BE8CA8C75E38}"/>
                  </a:ext>
                </a:extLst>
              </p:cNvPr>
              <p:cNvSpPr txBox="1"/>
              <p:nvPr/>
            </p:nvSpPr>
            <p:spPr>
              <a:xfrm>
                <a:off x="13340857" y="33526883"/>
                <a:ext cx="1041539" cy="10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b="1" dirty="0">
                    <a:latin typeface="+mn-ea"/>
                  </a:rPr>
                  <a:t>はい</a:t>
                </a:r>
              </a:p>
            </p:txBody>
          </p:sp>
          <p:sp>
            <p:nvSpPr>
              <p:cNvPr id="1071" name="テキスト ボックス 1070">
                <a:extLst>
                  <a:ext uri="{FF2B5EF4-FFF2-40B4-BE49-F238E27FC236}">
                    <a16:creationId xmlns:a16="http://schemas.microsoft.com/office/drawing/2014/main" id="{210DC911-4BEA-F14D-5274-3FB36F440125}"/>
                  </a:ext>
                </a:extLst>
              </p:cNvPr>
              <p:cNvSpPr txBox="1"/>
              <p:nvPr/>
            </p:nvSpPr>
            <p:spPr>
              <a:xfrm>
                <a:off x="12633627" y="35540225"/>
                <a:ext cx="385812" cy="1461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b="1" dirty="0">
                    <a:latin typeface="+mn-ea"/>
                  </a:rPr>
                  <a:t>いいえ</a:t>
                </a:r>
              </a:p>
            </p:txBody>
          </p:sp>
          <p:cxnSp>
            <p:nvCxnSpPr>
              <p:cNvPr id="1074" name="直線矢印コネクタ 1073">
                <a:extLst>
                  <a:ext uri="{FF2B5EF4-FFF2-40B4-BE49-F238E27FC236}">
                    <a16:creationId xmlns:a16="http://schemas.microsoft.com/office/drawing/2014/main" id="{C9433541-D553-8C79-5FA8-3415306253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132" y="37035039"/>
                <a:ext cx="1123342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5" name="直線矢印コネクタ 1074">
                <a:extLst>
                  <a:ext uri="{FF2B5EF4-FFF2-40B4-BE49-F238E27FC236}">
                    <a16:creationId xmlns:a16="http://schemas.microsoft.com/office/drawing/2014/main" id="{A2CEA765-A537-D9A5-7C1E-CFD5152527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6478" y="34618727"/>
                <a:ext cx="0" cy="242714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6" name="直線矢印コネクタ 1075">
                <a:extLst>
                  <a:ext uri="{FF2B5EF4-FFF2-40B4-BE49-F238E27FC236}">
                    <a16:creationId xmlns:a16="http://schemas.microsoft.com/office/drawing/2014/main" id="{02E087FD-4FC8-3DB7-E159-CFFDAA97F5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4183" y="34607455"/>
                <a:ext cx="64686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7" name="テキスト ボックス 1076">
                <a:extLst>
                  <a:ext uri="{FF2B5EF4-FFF2-40B4-BE49-F238E27FC236}">
                    <a16:creationId xmlns:a16="http://schemas.microsoft.com/office/drawing/2014/main" id="{652D7D48-44BC-557B-BF43-4E498954EE5F}"/>
                  </a:ext>
                </a:extLst>
              </p:cNvPr>
              <p:cNvSpPr txBox="1"/>
              <p:nvPr/>
            </p:nvSpPr>
            <p:spPr>
              <a:xfrm>
                <a:off x="5198425" y="37107261"/>
                <a:ext cx="3342572" cy="643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lang="ja-JP" altLang="en-US" sz="2000" b="1" dirty="0">
                    <a:latin typeface="+mn-ea"/>
                  </a:rPr>
                  <a:t>ティック進行</a:t>
                </a:r>
              </a:p>
            </p:txBody>
          </p:sp>
        </p:grpSp>
        <p:sp>
          <p:nvSpPr>
            <p:cNvPr id="1102" name="四角形: 角を丸くする 1101">
              <a:extLst>
                <a:ext uri="{FF2B5EF4-FFF2-40B4-BE49-F238E27FC236}">
                  <a16:creationId xmlns:a16="http://schemas.microsoft.com/office/drawing/2014/main" id="{72ABBFC0-88A4-4E5B-BD18-EC05BD346430}"/>
                </a:ext>
              </a:extLst>
            </p:cNvPr>
            <p:cNvSpPr/>
            <p:nvPr/>
          </p:nvSpPr>
          <p:spPr>
            <a:xfrm>
              <a:off x="1858889" y="31309640"/>
              <a:ext cx="8423429" cy="6006370"/>
            </a:xfrm>
            <a:prstGeom prst="roundRect">
              <a:avLst>
                <a:gd name="adj" fmla="val 11713"/>
              </a:avLst>
            </a:prstGeom>
            <a:noFill/>
            <a:ln w="889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4037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07" name="グループ化 1106">
            <a:extLst>
              <a:ext uri="{FF2B5EF4-FFF2-40B4-BE49-F238E27FC236}">
                <a16:creationId xmlns:a16="http://schemas.microsoft.com/office/drawing/2014/main" id="{9F9E26A2-A809-7B98-07FA-C73F2A09BAF3}"/>
              </a:ext>
            </a:extLst>
          </p:cNvPr>
          <p:cNvGrpSpPr/>
          <p:nvPr/>
        </p:nvGrpSpPr>
        <p:grpSpPr>
          <a:xfrm>
            <a:off x="10569790" y="32323214"/>
            <a:ext cx="4158013" cy="4945829"/>
            <a:chOff x="10600270" y="32323214"/>
            <a:chExt cx="4158013" cy="4945829"/>
          </a:xfrm>
        </p:grpSpPr>
        <p:sp>
          <p:nvSpPr>
            <p:cNvPr id="1103" name="四角形: 角を丸くする 1102">
              <a:extLst>
                <a:ext uri="{FF2B5EF4-FFF2-40B4-BE49-F238E27FC236}">
                  <a16:creationId xmlns:a16="http://schemas.microsoft.com/office/drawing/2014/main" id="{886B31DE-9602-DFC5-731C-7666D5BCD21A}"/>
                </a:ext>
              </a:extLst>
            </p:cNvPr>
            <p:cNvSpPr/>
            <p:nvPr/>
          </p:nvSpPr>
          <p:spPr>
            <a:xfrm>
              <a:off x="10600270" y="32323214"/>
              <a:ext cx="4158013" cy="4945829"/>
            </a:xfrm>
            <a:prstGeom prst="roundRect">
              <a:avLst>
                <a:gd name="adj" fmla="val 11713"/>
              </a:avLst>
            </a:prstGeom>
            <a:noFill/>
            <a:ln w="889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4037" dirty="0">
                <a:solidFill>
                  <a:schemeClr val="tx1"/>
                </a:solidFill>
              </a:endParaRPr>
            </a:p>
          </p:txBody>
        </p:sp>
        <p:sp>
          <p:nvSpPr>
            <p:cNvPr id="1104" name="テキスト ボックス 1103">
              <a:extLst>
                <a:ext uri="{FF2B5EF4-FFF2-40B4-BE49-F238E27FC236}">
                  <a16:creationId xmlns:a16="http://schemas.microsoft.com/office/drawing/2014/main" id="{C56E4945-7FA4-F45B-1F19-05B5DD9FA9CD}"/>
                </a:ext>
              </a:extLst>
            </p:cNvPr>
            <p:cNvSpPr txBox="1"/>
            <p:nvPr/>
          </p:nvSpPr>
          <p:spPr>
            <a:xfrm>
              <a:off x="11090828" y="33595833"/>
              <a:ext cx="3510639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3600" dirty="0">
                  <a:solidFill>
                    <a:schemeClr val="tx1"/>
                  </a:solidFill>
                  <a:latin typeface="モボ-Bold" panose="02000800000000000000" pitchFamily="50" charset="-128"/>
                  <a:ea typeface="モボ-Bold" panose="02000800000000000000" pitchFamily="50" charset="-128"/>
                </a:rPr>
                <a:t>主音</a:t>
              </a:r>
              <a:endParaRPr lang="en-US" altLang="ja-JP" sz="36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3600" dirty="0">
                  <a:latin typeface="モボ-Bold" panose="02000800000000000000" pitchFamily="50" charset="-128"/>
                  <a:ea typeface="モボ-Bold" panose="02000800000000000000" pitchFamily="50" charset="-128"/>
                </a:rPr>
                <a:t>スケール</a:t>
              </a:r>
              <a:endParaRPr lang="en-US" altLang="ja-JP" sz="3600" dirty="0">
                <a:latin typeface="モボ-Bold" panose="02000800000000000000" pitchFamily="50" charset="-128"/>
                <a:ea typeface="モボ-Bold" panose="02000800000000000000" pitchFamily="50" charset="-128"/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3600" dirty="0">
                  <a:solidFill>
                    <a:schemeClr val="tx1"/>
                  </a:solidFill>
                  <a:latin typeface="モボ-Bold" panose="02000800000000000000" pitchFamily="50" charset="-128"/>
                  <a:ea typeface="モボ-Bold" panose="02000800000000000000" pitchFamily="50" charset="-128"/>
                </a:rPr>
                <a:t>コード進行</a:t>
              </a:r>
              <a:endParaRPr lang="en-US" altLang="ja-JP" sz="36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ja-JP" altLang="en-US" sz="3600" dirty="0">
                  <a:latin typeface="モボ-Bold" panose="02000800000000000000" pitchFamily="50" charset="-128"/>
                  <a:ea typeface="モボ-Bold" panose="02000800000000000000" pitchFamily="50" charset="-128"/>
                </a:rPr>
                <a:t>音域</a:t>
              </a:r>
              <a:endParaRPr lang="en-US" altLang="ja-JP" sz="3600" dirty="0">
                <a:latin typeface="モボ-Bold" panose="02000800000000000000" pitchFamily="50" charset="-128"/>
                <a:ea typeface="モボ-Bold" panose="02000800000000000000" pitchFamily="50" charset="-128"/>
              </a:endParaRPr>
            </a:p>
            <a:p>
              <a:r>
                <a:rPr lang="ja-JP" altLang="en-US" sz="3600" dirty="0">
                  <a:latin typeface="モボ-Bold" panose="02000800000000000000" pitchFamily="50" charset="-128"/>
                  <a:ea typeface="モボ-Bold" panose="02000800000000000000" pitchFamily="50" charset="-128"/>
                </a:rPr>
                <a:t>　  </a:t>
              </a:r>
              <a:r>
                <a:rPr lang="en-US" altLang="ja-JP" sz="3600" dirty="0">
                  <a:latin typeface="モボ-Bold" panose="02000800000000000000" pitchFamily="50" charset="-128"/>
                  <a:ea typeface="モボ-Bold" panose="02000800000000000000" pitchFamily="50" charset="-128"/>
                </a:rPr>
                <a:t>e</a:t>
              </a:r>
              <a:r>
                <a:rPr lang="en-US" altLang="ja-JP" sz="3600" dirty="0">
                  <a:solidFill>
                    <a:schemeClr val="tx1"/>
                  </a:solidFill>
                  <a:latin typeface="モボ-Bold" panose="02000800000000000000" pitchFamily="50" charset="-128"/>
                  <a:ea typeface="モボ-Bold" panose="02000800000000000000" pitchFamily="50" charset="-128"/>
                </a:rPr>
                <a:t>tc.</a:t>
              </a:r>
              <a:endParaRPr lang="ja-JP" altLang="en-US" sz="3600" dirty="0">
                <a:solidFill>
                  <a:schemeClr val="tx1"/>
                </a:solidFill>
                <a:latin typeface="モボ-Bold" panose="02000800000000000000" pitchFamily="50" charset="-128"/>
                <a:ea typeface="モボ-Bold" panose="02000800000000000000" pitchFamily="50" charset="-128"/>
              </a:endParaRPr>
            </a:p>
          </p:txBody>
        </p:sp>
        <p:sp>
          <p:nvSpPr>
            <p:cNvPr id="1105" name="テキスト ボックス 1104">
              <a:extLst>
                <a:ext uri="{FF2B5EF4-FFF2-40B4-BE49-F238E27FC236}">
                  <a16:creationId xmlns:a16="http://schemas.microsoft.com/office/drawing/2014/main" id="{F6EBAC4A-F350-4852-1E7F-D36C9FE261FA}"/>
                </a:ext>
              </a:extLst>
            </p:cNvPr>
            <p:cNvSpPr txBox="1"/>
            <p:nvPr/>
          </p:nvSpPr>
          <p:spPr>
            <a:xfrm>
              <a:off x="12658875" y="36368262"/>
              <a:ext cx="200347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4400" dirty="0">
                  <a:solidFill>
                    <a:prstClr val="black"/>
                  </a:solidFill>
                  <a:latin typeface="モボ-Bold" panose="02000800000000000000" pitchFamily="50" charset="-128"/>
                  <a:ea typeface="モボ-Bold" panose="02000800000000000000" pitchFamily="50" charset="-128"/>
                </a:rPr>
                <a:t>を</a:t>
              </a:r>
              <a:r>
                <a:rPr kumimoji="0" lang="ja-JP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指定</a:t>
              </a:r>
              <a:endParaRPr kumimoji="0" lang="ja-JP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モボ-Bold" panose="02000800000000000000" pitchFamily="50" charset="-128"/>
                <a:ea typeface="モボ-Bold" panose="02000800000000000000" pitchFamily="50" charset="-128"/>
                <a:cs typeface="+mn-cs"/>
              </a:endParaRPr>
            </a:p>
          </p:txBody>
        </p:sp>
        <p:sp>
          <p:nvSpPr>
            <p:cNvPr id="1106" name="テキスト ボックス 1105">
              <a:extLst>
                <a:ext uri="{FF2B5EF4-FFF2-40B4-BE49-F238E27FC236}">
                  <a16:creationId xmlns:a16="http://schemas.microsoft.com/office/drawing/2014/main" id="{237E164F-4D68-546D-6CC6-290616646E1D}"/>
                </a:ext>
              </a:extLst>
            </p:cNvPr>
            <p:cNvSpPr txBox="1"/>
            <p:nvPr/>
          </p:nvSpPr>
          <p:spPr>
            <a:xfrm>
              <a:off x="10801592" y="32733107"/>
              <a:ext cx="389503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モボ-Bold" panose="02000800000000000000" pitchFamily="50" charset="-128"/>
                  <a:ea typeface="モボ-Bold" panose="02000800000000000000" pitchFamily="50" charset="-128"/>
                  <a:cs typeface="+mn-cs"/>
                </a:rPr>
                <a:t>トラックごとに</a:t>
              </a:r>
            </a:p>
          </p:txBody>
        </p:sp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4BA8B3F-A68B-E41D-C158-CF3766E8BF5F}"/>
              </a:ext>
            </a:extLst>
          </p:cNvPr>
          <p:cNvCxnSpPr/>
          <p:nvPr/>
        </p:nvCxnSpPr>
        <p:spPr>
          <a:xfrm>
            <a:off x="649705" y="3231011"/>
            <a:ext cx="27480127" cy="0"/>
          </a:xfrm>
          <a:prstGeom prst="line">
            <a:avLst/>
          </a:prstGeom>
          <a:ln w="1270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図 5" descr="ダイアグラム">
            <a:extLst>
              <a:ext uri="{FF2B5EF4-FFF2-40B4-BE49-F238E27FC236}">
                <a16:creationId xmlns:a16="http://schemas.microsoft.com/office/drawing/2014/main" id="{8C892D28-D002-825B-EE18-E09B3054D6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" t="291" r="927" b="734"/>
          <a:stretch>
            <a:fillRect/>
          </a:stretch>
        </p:blipFill>
        <p:spPr>
          <a:xfrm>
            <a:off x="876604" y="13293452"/>
            <a:ext cx="26909968" cy="1529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5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2">
      <a:majorFont>
        <a:latin typeface="モボ-Bold"/>
        <a:ea typeface="モボ-Bold"/>
        <a:cs typeface=""/>
      </a:majorFont>
      <a:minorFont>
        <a:latin typeface="モボ-Regular"/>
        <a:ea typeface="モボ-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4618</TotalTime>
  <Words>404</Words>
  <Application>Microsoft Office PowerPoint</Application>
  <PresentationFormat>ユーザー設定</PresentationFormat>
  <Paragraphs>77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モボ-Bold</vt:lpstr>
      <vt:lpstr>モボ-Regular</vt:lpstr>
      <vt:lpstr>モボ-SemiBold</vt:lpstr>
      <vt:lpstr>游ゴシック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山崎 承太郎</dc:creator>
  <cp:lastModifiedBy>山崎 承太郎</cp:lastModifiedBy>
  <cp:revision>186</cp:revision>
  <dcterms:created xsi:type="dcterms:W3CDTF">2025-08-18T14:45:59Z</dcterms:created>
  <dcterms:modified xsi:type="dcterms:W3CDTF">2026-02-21T06:12:42Z</dcterms:modified>
</cp:coreProperties>
</file>