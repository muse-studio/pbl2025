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"/>
  </p:notesMasterIdLst>
  <p:sldIdLst>
    <p:sldId id="257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47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5933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457" autoAdjust="0"/>
  </p:normalViewPr>
  <p:slideViewPr>
    <p:cSldViewPr snapToGrid="0">
      <p:cViewPr>
        <p:scale>
          <a:sx n="33" d="100"/>
          <a:sy n="33" d="100"/>
        </p:scale>
        <p:origin x="710" y="-869"/>
      </p:cViewPr>
      <p:guideLst>
        <p:guide orient="horz" pos="13447"/>
        <p:guide pos="95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508F7A-9664-4DC4-B15B-5718BC8699CB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CCB7B9-77EE-46B5-A619-36CFFBFA74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2199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B8547-2284-AD91-637D-BD77EDA2C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CA92F24-3721-5760-E7E6-405B451DF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06B46C3-E590-70AF-09D5-C5D7837A3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2D14EC-F90C-A7F5-3E5D-0FFA81F5FA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CCB7B9-77EE-46B5-A619-36CFFBFA74B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4042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2301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82" userDrawn="1">
          <p15:clr>
            <a:srgbClr val="FBAE40"/>
          </p15:clr>
        </p15:guide>
        <p15:guide id="2" pos="953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5908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7841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7957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1816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6499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2449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269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904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6962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2505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C0DCE9-6D12-4F45-9AD7-B1AAE202024F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0431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kumimoji="1"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kumimoji="1"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NumberZero-0621/DAWIY" TargetMode="External"/><Relationship Id="rId5" Type="http://schemas.openxmlformats.org/officeDocument/2006/relationships/image" Target="../media/image3.pn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68A83-0B7A-5296-07F7-A616F4512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0" name="図 1209" descr="ダイアグラム">
            <a:extLst>
              <a:ext uri="{FF2B5EF4-FFF2-40B4-BE49-F238E27FC236}">
                <a16:creationId xmlns:a16="http://schemas.microsoft.com/office/drawing/2014/main" id="{22D39AD7-C77C-1BE7-C7B0-89D3E5AC03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4808" y="33484151"/>
            <a:ext cx="13790364" cy="7753936"/>
          </a:xfrm>
          <a:prstGeom prst="rect">
            <a:avLst/>
          </a:prstGeom>
        </p:spPr>
      </p:pic>
      <p:pic>
        <p:nvPicPr>
          <p:cNvPr id="1208" name="図 1207" descr="時計と文字の加工写真">
            <a:extLst>
              <a:ext uri="{FF2B5EF4-FFF2-40B4-BE49-F238E27FC236}">
                <a16:creationId xmlns:a16="http://schemas.microsoft.com/office/drawing/2014/main" id="{FC3BCE1E-8693-8E9D-1E8B-B9972776F9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40503" y="27146290"/>
            <a:ext cx="13804671" cy="5836004"/>
          </a:xfrm>
          <a:prstGeom prst="rect">
            <a:avLst/>
          </a:prstGeom>
        </p:spPr>
      </p:pic>
      <p:pic>
        <p:nvPicPr>
          <p:cNvPr id="1256" name="図 1255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99EEA22A-C7D3-721F-766A-B34C4F6D51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730" y="32289215"/>
            <a:ext cx="6794062" cy="2318244"/>
          </a:xfrm>
          <a:prstGeom prst="rect">
            <a:avLst/>
          </a:prstGeom>
        </p:spPr>
      </p:pic>
      <p:sp>
        <p:nvSpPr>
          <p:cNvPr id="1250" name="テキスト ボックス 1249">
            <a:extLst>
              <a:ext uri="{FF2B5EF4-FFF2-40B4-BE49-F238E27FC236}">
                <a16:creationId xmlns:a16="http://schemas.microsoft.com/office/drawing/2014/main" id="{E5B93EE6-9095-2E22-403F-356887E092B9}"/>
              </a:ext>
            </a:extLst>
          </p:cNvPr>
          <p:cNvSpPr txBox="1"/>
          <p:nvPr/>
        </p:nvSpPr>
        <p:spPr>
          <a:xfrm>
            <a:off x="1678837" y="30072478"/>
            <a:ext cx="8910971" cy="11897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App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"../../App"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{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DAWIYPlugin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}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"../IDawiyPlugin"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DawiyPluginBase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"../DawiyPluginBase"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HostAPI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"../API/HostAPI"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Track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"../../Models/Track/Track"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MIDIRegion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"../../Models/Region/MIDIRegion"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{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MIDI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MIDINote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}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"../../Audio/MIDI/MIDI"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{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RATIO_MILLS_BY_PX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TEMPO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}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"../../Env"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@</a:t>
            </a:r>
            <a:r>
              <a:rPr lang="en-US" altLang="ja-JP" sz="1200" dirty="0">
                <a:solidFill>
                  <a:srgbClr val="95933D"/>
                </a:solidFill>
                <a:latin typeface="Consolas" panose="020B0609020204030204" pitchFamily="49" charset="0"/>
              </a:rPr>
              <a:t>DAWIYPlugin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export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default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EC9B0"/>
                </a:solidFill>
                <a:latin typeface="Consolas" panose="020B0609020204030204" pitchFamily="49" charset="0"/>
              </a:rPr>
              <a:t>MelodyCreatorPlugin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extends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EC9B0"/>
                </a:solidFill>
                <a:latin typeface="Consolas" panose="020B0609020204030204" pitchFamily="49" charset="0"/>
              </a:rPr>
              <a:t>DawiyPluginBase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id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"melody-creator-plugin"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name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"Melody Creator"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description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"Adds a simple 'Do-Re-Mi' sequence to a new track within a MIDI clip."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author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"AI Assistant"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constructor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app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EC9B0"/>
                </a:solidFill>
                <a:latin typeface="Consolas" panose="020B0609020204030204" pitchFamily="49" charset="0"/>
              </a:rPr>
              <a:t>App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super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app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override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95933D"/>
                </a:solidFill>
                <a:latin typeface="Consolas" panose="020B0609020204030204" pitchFamily="49" charset="0"/>
              </a:rPr>
              <a:t>onInit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host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EC9B0"/>
                </a:solidFill>
                <a:latin typeface="Consolas" panose="020B0609020204030204" pitchFamily="49" charset="0"/>
              </a:rPr>
              <a:t>HostAPI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host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ui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showToast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"Melody Creator Plugin initialized!"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override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95933D"/>
                </a:solidFill>
                <a:latin typeface="Consolas" panose="020B0609020204030204" pitchFamily="49" charset="0"/>
              </a:rPr>
              <a:t>render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container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EC9B0"/>
                </a:solidFill>
                <a:latin typeface="Consolas" panose="020B0609020204030204" pitchFamily="49" charset="0"/>
              </a:rPr>
              <a:t>HTMLElement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container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className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"p-3"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container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innerHTML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`</a:t>
            </a: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&lt;h3&gt;Melody Creator&lt;/h3&gt;</a:t>
            </a: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&lt;p&gt;Click the button below to add a new MIDI track with a simple </a:t>
            </a:r>
          </a:p>
          <a:p>
            <a:pPr>
              <a:lnSpc>
                <a:spcPts val="1000"/>
              </a:lnSpc>
            </a:pPr>
            <a:r>
              <a:rPr lang="ja-JP" altLang="en-US" sz="1200" dirty="0">
                <a:solidFill>
                  <a:srgbClr val="CE9178"/>
                </a:solidFill>
                <a:latin typeface="Consolas" panose="020B0609020204030204" pitchFamily="49" charset="0"/>
              </a:rPr>
              <a:t>              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C4-D4-E4 quarter-note melody starting from beat 0.&lt;/p&gt;</a:t>
            </a: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`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createMelodyButton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document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>
                <a:solidFill>
                  <a:srgbClr val="95933D"/>
                </a:solidFill>
                <a:latin typeface="Consolas" panose="020B0609020204030204" pitchFamily="49" charset="0"/>
              </a:rPr>
              <a:t>createElement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"button"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createMelodyButton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className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r>
              <a:rPr lang="en-US" altLang="ja-JP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btn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btn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-primary w-100 mt-3"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createMelodyButton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textContent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"Add Do-Re-Mi Track"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createMelodyButton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onclick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()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=&gt;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569CD6"/>
                </a:solidFill>
                <a:latin typeface="Consolas" panose="020B0609020204030204" pitchFamily="49" charset="0"/>
              </a:rPr>
              <a:t>this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createDoReMiMelody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container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>
                <a:solidFill>
                  <a:srgbClr val="95933D"/>
                </a:solidFill>
                <a:latin typeface="Consolas" panose="020B0609020204030204" pitchFamily="49" charset="0"/>
              </a:rPr>
              <a:t>appendChild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createMelodyButton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async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95933D"/>
                </a:solidFill>
                <a:latin typeface="Consolas" panose="020B0609020204030204" pitchFamily="49" charset="0"/>
              </a:rPr>
              <a:t>createDoReMiMelody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try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newTrack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EC9B0"/>
                </a:solidFill>
                <a:latin typeface="Consolas" panose="020B0609020204030204" pitchFamily="49" charset="0"/>
              </a:rPr>
              <a:t>Track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await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569CD6"/>
                </a:solidFill>
                <a:latin typeface="Consolas" panose="020B0609020204030204" pitchFamily="49" charset="0"/>
              </a:rPr>
              <a:t>this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app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tracksController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createTrack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"Do-Re-Mi Track"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FC1FF"/>
                </a:solidFill>
                <a:latin typeface="Consolas" panose="020B0609020204030204" pitchFamily="49" charset="0"/>
              </a:rPr>
              <a:t>notes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{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pitch: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B5CEA8"/>
                </a:solidFill>
                <a:latin typeface="Consolas" panose="020B0609020204030204" pitchFamily="49" charset="0"/>
              </a:rPr>
              <a:t>60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name: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"C4"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{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pitch: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B5CEA8"/>
                </a:solidFill>
                <a:latin typeface="Consolas" panose="020B0609020204030204" pitchFamily="49" charset="0"/>
              </a:rPr>
              <a:t>62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name: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"D4"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{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pitch: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B5CEA8"/>
                </a:solidFill>
                <a:latin typeface="Consolas" panose="020B0609020204030204" pitchFamily="49" charset="0"/>
              </a:rPr>
              <a:t>64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name: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"E4"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];</a:t>
            </a: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beatMs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ja-JP" sz="1200" dirty="0">
                <a:solidFill>
                  <a:srgbClr val="B5CEA8"/>
                </a:solidFill>
                <a:latin typeface="Consolas" panose="020B0609020204030204" pitchFamily="49" charset="0"/>
              </a:rPr>
              <a:t>60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TEMPO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durationMs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B5CEA8"/>
                </a:solidFill>
                <a:latin typeface="Consolas" panose="020B0609020204030204" pitchFamily="49" charset="0"/>
              </a:rPr>
              <a:t>3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beatMs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FC1FF"/>
                </a:solidFill>
                <a:latin typeface="Consolas" panose="020B0609020204030204" pitchFamily="49" charset="0"/>
              </a:rPr>
              <a:t>midi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new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EC9B0"/>
                </a:solidFill>
                <a:latin typeface="Consolas" panose="020B0609020204030204" pitchFamily="49" charset="0"/>
              </a:rPr>
              <a:t>MIDI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durationMs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FC1FF"/>
                </a:solidFill>
                <a:latin typeface="Consolas" panose="020B0609020204030204" pitchFamily="49" charset="0"/>
              </a:rPr>
              <a:t>velocity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B5CEA8"/>
                </a:solidFill>
                <a:latin typeface="Consolas" panose="020B0609020204030204" pitchFamily="49" charset="0"/>
              </a:rPr>
              <a:t>100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 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notes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length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 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++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FC1FF"/>
                </a:solidFill>
                <a:latin typeface="Consolas" panose="020B0609020204030204" pitchFamily="49" charset="0"/>
              </a:rPr>
              <a:t>note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FC1FF"/>
                </a:solidFill>
                <a:latin typeface="Consolas" panose="020B0609020204030204" pitchFamily="49" charset="0"/>
              </a:rPr>
              <a:t>notes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startTimeMs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beatMs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noteDurationMs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beatMs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midi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putNote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new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MIDINote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note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pitch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velocity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noteDurationMs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startTimeMs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}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startMs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newRegion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new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EC9B0"/>
                </a:solidFill>
                <a:latin typeface="Consolas" panose="020B0609020204030204" pitchFamily="49" charset="0"/>
              </a:rPr>
              <a:t>MIDIRegion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4FC1FF"/>
                </a:solidFill>
                <a:latin typeface="Consolas" panose="020B0609020204030204" pitchFamily="49" charset="0"/>
              </a:rPr>
              <a:t>midi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startMs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 err="1">
                <a:solidFill>
                  <a:srgbClr val="569CD6"/>
                </a:solidFill>
                <a:latin typeface="Consolas" panose="020B0609020204030204" pitchFamily="49" charset="0"/>
              </a:rPr>
              <a:t>this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app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regionsController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addRegion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newTrack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newRegion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 err="1">
                <a:solidFill>
                  <a:srgbClr val="569CD6"/>
                </a:solidFill>
                <a:latin typeface="Consolas" panose="020B0609020204030204" pitchFamily="49" charset="0"/>
              </a:rPr>
              <a:t>this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app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tracksController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select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newTrack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 err="1">
                <a:solidFill>
                  <a:srgbClr val="569CD6"/>
                </a:solidFill>
                <a:latin typeface="Consolas" panose="020B0609020204030204" pitchFamily="49" charset="0"/>
              </a:rPr>
              <a:t>this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app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hostAPI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ui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showToast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`'Do-Re-Mi' melody added to "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${</a:t>
            </a:r>
            <a:r>
              <a:rPr lang="en-US" altLang="ja-JP" sz="1200" dirty="0">
                <a:solidFill>
                  <a:srgbClr val="4FC1FF"/>
                </a:solidFill>
                <a:latin typeface="Consolas" panose="020B0609020204030204" pitchFamily="49" charset="0"/>
              </a:rPr>
              <a:t>newTrack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element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name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}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"!`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} </a:t>
            </a:r>
            <a:r>
              <a:rPr lang="en-US" altLang="ja-JP" sz="1200" dirty="0">
                <a:solidFill>
                  <a:srgbClr val="C586C0"/>
                </a:solidFill>
                <a:latin typeface="Consolas" panose="020B0609020204030204" pitchFamily="49" charset="0"/>
              </a:rPr>
              <a:t>catch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en-US" altLang="ja-JP" sz="120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4EC9B0"/>
                </a:solidFill>
                <a:latin typeface="Consolas" panose="020B0609020204030204" pitchFamily="49" charset="0"/>
              </a:rPr>
              <a:t>any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 err="1">
                <a:solidFill>
                  <a:srgbClr val="569CD6"/>
                </a:solidFill>
                <a:latin typeface="Consolas" panose="020B0609020204030204" pitchFamily="49" charset="0"/>
              </a:rPr>
              <a:t>this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app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hostAPI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ui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showToast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`Error creating melody: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${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en-US" altLang="ja-JP" sz="1200" dirty="0" err="1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message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}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`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true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ja-JP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ja-JP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error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1200" dirty="0">
                <a:solidFill>
                  <a:srgbClr val="CE9178"/>
                </a:solidFill>
                <a:latin typeface="Consolas" panose="020B0609020204030204" pitchFamily="49" charset="0"/>
              </a:rPr>
              <a:t>"Error creating melody:"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120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000"/>
              </a:lnSpc>
            </a:pPr>
            <a:b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ja-JP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>
                <a:solidFill>
                  <a:srgbClr val="569CD6"/>
                </a:solidFill>
                <a:latin typeface="Consolas" panose="020B0609020204030204" pitchFamily="49" charset="0"/>
              </a:rPr>
              <a:t>override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1200" dirty="0" err="1">
                <a:solidFill>
                  <a:srgbClr val="95933D"/>
                </a:solidFill>
                <a:latin typeface="Consolas" panose="020B0609020204030204" pitchFamily="49" charset="0"/>
              </a:rPr>
              <a:t>onDeactivate</a:t>
            </a: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000"/>
              </a:lnSpc>
            </a:pPr>
            <a:r>
              <a:rPr lang="en-US" altLang="ja-JP" sz="12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4BA8B3F-A68B-E41D-C158-CF3766E8BF5F}"/>
              </a:ext>
            </a:extLst>
          </p:cNvPr>
          <p:cNvCxnSpPr/>
          <p:nvPr/>
        </p:nvCxnSpPr>
        <p:spPr>
          <a:xfrm>
            <a:off x="1043841" y="3308427"/>
            <a:ext cx="27480127" cy="0"/>
          </a:xfrm>
          <a:prstGeom prst="line">
            <a:avLst/>
          </a:prstGeom>
          <a:ln w="1270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A8EC550-EAEC-47CD-E4D9-40DC4CFD66FA}"/>
              </a:ext>
            </a:extLst>
          </p:cNvPr>
          <p:cNvSpPr/>
          <p:nvPr/>
        </p:nvSpPr>
        <p:spPr>
          <a:xfrm>
            <a:off x="1002091" y="641667"/>
            <a:ext cx="28320014" cy="41328748"/>
          </a:xfrm>
          <a:prstGeom prst="roundRect">
            <a:avLst>
              <a:gd name="adj" fmla="val 2419"/>
            </a:avLst>
          </a:prstGeom>
          <a:noFill/>
          <a:ln w="152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11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70F5C7C-7F11-DDDD-4E3A-A15F1721E702}"/>
              </a:ext>
            </a:extLst>
          </p:cNvPr>
          <p:cNvSpPr/>
          <p:nvPr/>
        </p:nvSpPr>
        <p:spPr>
          <a:xfrm>
            <a:off x="737394" y="641667"/>
            <a:ext cx="28972042" cy="2351522"/>
          </a:xfrm>
          <a:prstGeom prst="roundRect">
            <a:avLst>
              <a:gd name="adj" fmla="val 0"/>
            </a:avLst>
          </a:prstGeom>
          <a:noFill/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88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P</a:t>
            </a:r>
            <a:r>
              <a:rPr lang="en-US" altLang="ja-JP" sz="66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roject</a:t>
            </a:r>
            <a:r>
              <a:rPr lang="en-US" altLang="ja-JP" sz="88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DAWIY</a:t>
            </a:r>
            <a:r>
              <a:rPr lang="ja-JP" altLang="en-US" sz="80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：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自分好み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lang="en-US" altLang="ja-JP" sz="72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DAW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環境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を</a:t>
            </a:r>
            <a:r>
              <a:rPr lang="en-US" altLang="ja-JP" sz="72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DIY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する</a:t>
            </a:r>
            <a:r>
              <a:rPr lang="ja-JP" altLang="en-US" sz="60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共通プラットフォーム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構築</a:t>
            </a:r>
            <a:endParaRPr lang="en-US" altLang="ja-JP" sz="5400" dirty="0">
              <a:solidFill>
                <a:schemeClr val="tx1"/>
              </a:solidFill>
              <a:latin typeface="モボ-Bold" panose="02000800000000000000" pitchFamily="50" charset="-128"/>
              <a:ea typeface="モボ-Bold" panose="02000800000000000000" pitchFamily="50" charset="-128"/>
            </a:endParaRPr>
          </a:p>
          <a:p>
            <a:pPr algn="ctr"/>
            <a:endParaRPr lang="en-US" altLang="ja-JP" sz="800" dirty="0">
              <a:solidFill>
                <a:schemeClr val="tx1"/>
              </a:solidFill>
              <a:latin typeface="モボ-Bold" panose="02000800000000000000" pitchFamily="50" charset="-128"/>
              <a:ea typeface="モボ-Bold" panose="02000800000000000000" pitchFamily="50" charset="-128"/>
            </a:endParaRPr>
          </a:p>
          <a:p>
            <a:pPr algn="ctr"/>
            <a:r>
              <a:rPr lang="en-US" altLang="ja-JP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B1 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山崎 承太郎　橋田 光代 　福知山公立大学 情報学部</a:t>
            </a:r>
          </a:p>
        </p:txBody>
      </p:sp>
      <p:grpSp>
        <p:nvGrpSpPr>
          <p:cNvPr id="1094" name="グループ化 1093">
            <a:extLst>
              <a:ext uri="{FF2B5EF4-FFF2-40B4-BE49-F238E27FC236}">
                <a16:creationId xmlns:a16="http://schemas.microsoft.com/office/drawing/2014/main" id="{A208CE7F-7DD2-28C5-67D4-47DE5B48B093}"/>
              </a:ext>
            </a:extLst>
          </p:cNvPr>
          <p:cNvGrpSpPr/>
          <p:nvPr/>
        </p:nvGrpSpPr>
        <p:grpSpPr>
          <a:xfrm>
            <a:off x="19681638" y="3074580"/>
            <a:ext cx="5875559" cy="1228913"/>
            <a:chOff x="18608040" y="3819068"/>
            <a:chExt cx="5875559" cy="1228913"/>
          </a:xfrm>
        </p:grpSpPr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7A0C7C85-DEDD-EC07-8639-6B13AF00784C}"/>
                </a:ext>
              </a:extLst>
            </p:cNvPr>
            <p:cNvSpPr/>
            <p:nvPr/>
          </p:nvSpPr>
          <p:spPr>
            <a:xfrm>
              <a:off x="18608040" y="3819068"/>
              <a:ext cx="5875559" cy="1228913"/>
            </a:xfrm>
            <a:prstGeom prst="roundRect">
              <a:avLst>
                <a:gd name="adj" fmla="val 16517"/>
              </a:avLst>
            </a:prstGeom>
            <a:solidFill>
              <a:schemeClr val="bg1"/>
            </a:solidFill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0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98414954-C4AD-8557-9A04-F5A1B53C4579}"/>
                </a:ext>
              </a:extLst>
            </p:cNvPr>
            <p:cNvSpPr txBox="1"/>
            <p:nvPr/>
          </p:nvSpPr>
          <p:spPr>
            <a:xfrm>
              <a:off x="18835039" y="4516509"/>
              <a:ext cx="555707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000" dirty="0">
                  <a:solidFill>
                    <a:srgbClr val="467886"/>
                  </a:solidFill>
                  <a:hlinkClick r:id="rId6"/>
                </a:rPr>
                <a:t>https://github.com/NumberZero-0621/DAWIY</a:t>
              </a:r>
              <a:r>
                <a:rPr lang="en-US" altLang="ja-JP" sz="2000" dirty="0">
                  <a:solidFill>
                    <a:srgbClr val="467886"/>
                  </a:solidFill>
                </a:rPr>
                <a:t> </a:t>
              </a:r>
              <a:endParaRPr lang="ja-JP" altLang="en-US" sz="2000" dirty="0">
                <a:solidFill>
                  <a:srgbClr val="467886"/>
                </a:solidFill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6A28D6F0-25B7-CBEB-5FB4-A314ABF9B1AA}"/>
                </a:ext>
              </a:extLst>
            </p:cNvPr>
            <p:cNvSpPr txBox="1"/>
            <p:nvPr/>
          </p:nvSpPr>
          <p:spPr>
            <a:xfrm>
              <a:off x="20270677" y="3869906"/>
              <a:ext cx="2476639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4800" dirty="0">
                  <a:latin typeface="+mj-ea"/>
                  <a:ea typeface="+mj-ea"/>
                </a:rPr>
                <a:t>GitHub</a:t>
              </a:r>
              <a:endParaRPr lang="ja-JP" altLang="en-US" sz="4800" dirty="0">
                <a:latin typeface="+mj-ea"/>
                <a:ea typeface="+mj-ea"/>
              </a:endParaRPr>
            </a:p>
          </p:txBody>
        </p:sp>
      </p:grpSp>
      <p:pic>
        <p:nvPicPr>
          <p:cNvPr id="6" name="図 5" descr="ダイアグラム">
            <a:extLst>
              <a:ext uri="{FF2B5EF4-FFF2-40B4-BE49-F238E27FC236}">
                <a16:creationId xmlns:a16="http://schemas.microsoft.com/office/drawing/2014/main" id="{8C892D28-D002-825B-EE18-E09B3054D6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7" t="291" r="927" b="734"/>
          <a:stretch>
            <a:fillRect/>
          </a:stretch>
        </p:blipFill>
        <p:spPr>
          <a:xfrm>
            <a:off x="1613998" y="11233125"/>
            <a:ext cx="26909968" cy="15298827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B5CC03A0-8D2E-6BE0-DEC3-67CFB18DEB24}"/>
              </a:ext>
            </a:extLst>
          </p:cNvPr>
          <p:cNvGrpSpPr/>
          <p:nvPr/>
        </p:nvGrpSpPr>
        <p:grpSpPr>
          <a:xfrm>
            <a:off x="25569418" y="2041948"/>
            <a:ext cx="3404265" cy="3297364"/>
            <a:chOff x="23322148" y="3645595"/>
            <a:chExt cx="3404265" cy="3297364"/>
          </a:xfrm>
        </p:grpSpPr>
        <p:sp>
          <p:nvSpPr>
            <p:cNvPr id="29" name="四角形: 角を丸くする 28">
              <a:extLst>
                <a:ext uri="{FF2B5EF4-FFF2-40B4-BE49-F238E27FC236}">
                  <a16:creationId xmlns:a16="http://schemas.microsoft.com/office/drawing/2014/main" id="{C5A20475-896B-27AB-1BEB-E8C6B2DEE56B}"/>
                </a:ext>
              </a:extLst>
            </p:cNvPr>
            <p:cNvSpPr/>
            <p:nvPr/>
          </p:nvSpPr>
          <p:spPr>
            <a:xfrm>
              <a:off x="23322148" y="3645595"/>
              <a:ext cx="3404265" cy="3297364"/>
            </a:xfrm>
            <a:prstGeom prst="roundRect">
              <a:avLst>
                <a:gd name="adj" fmla="val 11713"/>
              </a:avLst>
            </a:prstGeom>
            <a:solidFill>
              <a:schemeClr val="bg1"/>
            </a:solidFill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6000" dirty="0">
                <a:solidFill>
                  <a:schemeClr val="tx1"/>
                </a:solidFill>
              </a:endParaRPr>
            </a:p>
          </p:txBody>
        </p:sp>
        <p:pic>
          <p:nvPicPr>
            <p:cNvPr id="16" name="図 15" descr="QR コード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34E5C523-49F3-FA03-7312-E16598CB0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79" t="6840" r="7992" b="8192"/>
            <a:stretch>
              <a:fillRect/>
            </a:stretch>
          </p:blipFill>
          <p:spPr>
            <a:xfrm>
              <a:off x="23621059" y="3834677"/>
              <a:ext cx="2863207" cy="2916011"/>
            </a:xfrm>
            <a:prstGeom prst="rect">
              <a:avLst/>
            </a:prstGeom>
          </p:spPr>
        </p:pic>
      </p:grp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2DB14006-30BC-929A-9645-018B1F04B5D8}"/>
              </a:ext>
            </a:extLst>
          </p:cNvPr>
          <p:cNvSpPr/>
          <p:nvPr/>
        </p:nvSpPr>
        <p:spPr>
          <a:xfrm>
            <a:off x="1887108" y="4135110"/>
            <a:ext cx="12613179" cy="6897497"/>
          </a:xfrm>
          <a:prstGeom prst="roundRect">
            <a:avLst>
              <a:gd name="adj" fmla="val 7215"/>
            </a:avLst>
          </a:prstGeom>
          <a:noFill/>
          <a:ln w="152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6000" dirty="0">
              <a:solidFill>
                <a:schemeClr val="tx1"/>
              </a:solidFill>
            </a:endParaRPr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3EB0C5D8-7004-56B1-958B-039564E917B7}"/>
              </a:ext>
            </a:extLst>
          </p:cNvPr>
          <p:cNvCxnSpPr>
            <a:cxnSpLocks/>
            <a:stCxn id="40" idx="1"/>
          </p:cNvCxnSpPr>
          <p:nvPr/>
        </p:nvCxnSpPr>
        <p:spPr>
          <a:xfrm flipH="1">
            <a:off x="3075560" y="10162172"/>
            <a:ext cx="9522462" cy="0"/>
          </a:xfrm>
          <a:prstGeom prst="line">
            <a:avLst/>
          </a:prstGeom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コンテンツ プレースホルダー 2">
            <a:extLst>
              <a:ext uri="{FF2B5EF4-FFF2-40B4-BE49-F238E27FC236}">
                <a16:creationId xmlns:a16="http://schemas.microsoft.com/office/drawing/2014/main" id="{7D3AAC7F-B10D-E141-35D9-626D2B03327D}"/>
              </a:ext>
            </a:extLst>
          </p:cNvPr>
          <p:cNvSpPr txBox="1">
            <a:spLocks/>
          </p:cNvSpPr>
          <p:nvPr/>
        </p:nvSpPr>
        <p:spPr>
          <a:xfrm>
            <a:off x="12598022" y="9878102"/>
            <a:ext cx="1635758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互換性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43" name="コンテンツ プレースホルダー 2">
            <a:extLst>
              <a:ext uri="{FF2B5EF4-FFF2-40B4-BE49-F238E27FC236}">
                <a16:creationId xmlns:a16="http://schemas.microsoft.com/office/drawing/2014/main" id="{33028F53-6071-A073-3D7E-B778808B6263}"/>
              </a:ext>
            </a:extLst>
          </p:cNvPr>
          <p:cNvSpPr txBox="1">
            <a:spLocks/>
          </p:cNvSpPr>
          <p:nvPr/>
        </p:nvSpPr>
        <p:spPr>
          <a:xfrm>
            <a:off x="2171317" y="9878102"/>
            <a:ext cx="904242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UI</a:t>
            </a:r>
          </a:p>
        </p:txBody>
      </p:sp>
      <p:sp>
        <p:nvSpPr>
          <p:cNvPr id="46" name="コンテンツ プレースホルダー 2">
            <a:extLst>
              <a:ext uri="{FF2B5EF4-FFF2-40B4-BE49-F238E27FC236}">
                <a16:creationId xmlns:a16="http://schemas.microsoft.com/office/drawing/2014/main" id="{2A9A647D-E000-9C37-929B-1DEFB8A97793}"/>
              </a:ext>
            </a:extLst>
          </p:cNvPr>
          <p:cNvSpPr txBox="1">
            <a:spLocks/>
          </p:cNvSpPr>
          <p:nvPr/>
        </p:nvSpPr>
        <p:spPr>
          <a:xfrm>
            <a:off x="7265521" y="5540934"/>
            <a:ext cx="1361440" cy="6368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機能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49" name="コンテンツ プレースホルダー 2">
            <a:extLst>
              <a:ext uri="{FF2B5EF4-FFF2-40B4-BE49-F238E27FC236}">
                <a16:creationId xmlns:a16="http://schemas.microsoft.com/office/drawing/2014/main" id="{465345A2-322E-3864-87A7-1FBC86CFD69B}"/>
              </a:ext>
            </a:extLst>
          </p:cNvPr>
          <p:cNvSpPr txBox="1">
            <a:spLocks/>
          </p:cNvSpPr>
          <p:nvPr/>
        </p:nvSpPr>
        <p:spPr>
          <a:xfrm>
            <a:off x="6257855" y="8789125"/>
            <a:ext cx="3344464" cy="661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000" dirty="0"/>
              <a:t>異なる</a:t>
            </a:r>
            <a:r>
              <a:rPr lang="en-US" altLang="ja-JP" sz="2000" dirty="0"/>
              <a:t>DAW</a:t>
            </a:r>
            <a:r>
              <a:rPr lang="ja-JP" altLang="en-US" sz="2000" dirty="0"/>
              <a:t>での</a:t>
            </a:r>
            <a:br>
              <a:rPr lang="en-US" altLang="ja-JP" sz="2000" dirty="0"/>
            </a:br>
            <a:r>
              <a:rPr lang="ja-JP" altLang="en-US" sz="2000" dirty="0"/>
              <a:t>データ共有・移行が困難</a:t>
            </a:r>
          </a:p>
        </p:txBody>
      </p:sp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A5681640-6B0F-3E60-227A-8AC736CD9452}"/>
              </a:ext>
            </a:extLst>
          </p:cNvPr>
          <p:cNvCxnSpPr>
            <a:cxnSpLocks/>
            <a:stCxn id="46" idx="1"/>
            <a:endCxn id="43" idx="0"/>
          </p:cNvCxnSpPr>
          <p:nvPr/>
        </p:nvCxnSpPr>
        <p:spPr>
          <a:xfrm flipH="1">
            <a:off x="2623440" y="5859352"/>
            <a:ext cx="4642083" cy="4018751"/>
          </a:xfrm>
          <a:prstGeom prst="line">
            <a:avLst/>
          </a:prstGeom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コネクタ 60">
            <a:extLst>
              <a:ext uri="{FF2B5EF4-FFF2-40B4-BE49-F238E27FC236}">
                <a16:creationId xmlns:a16="http://schemas.microsoft.com/office/drawing/2014/main" id="{5D514B22-4716-65BB-B75D-35C182D86497}"/>
              </a:ext>
            </a:extLst>
          </p:cNvPr>
          <p:cNvCxnSpPr>
            <a:cxnSpLocks/>
            <a:stCxn id="40" idx="0"/>
            <a:endCxn id="46" idx="3"/>
          </p:cNvCxnSpPr>
          <p:nvPr/>
        </p:nvCxnSpPr>
        <p:spPr>
          <a:xfrm flipH="1" flipV="1">
            <a:off x="8626963" y="5859352"/>
            <a:ext cx="4788939" cy="4018751"/>
          </a:xfrm>
          <a:prstGeom prst="line">
            <a:avLst/>
          </a:prstGeom>
          <a:ln w="762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コンテンツ プレースホルダー 2">
            <a:extLst>
              <a:ext uri="{FF2B5EF4-FFF2-40B4-BE49-F238E27FC236}">
                <a16:creationId xmlns:a16="http://schemas.microsoft.com/office/drawing/2014/main" id="{45DD75E4-ED80-379B-7AFA-C77198C33F4E}"/>
              </a:ext>
            </a:extLst>
          </p:cNvPr>
          <p:cNvSpPr txBox="1">
            <a:spLocks/>
          </p:cNvSpPr>
          <p:nvPr/>
        </p:nvSpPr>
        <p:spPr>
          <a:xfrm>
            <a:off x="9530588" y="8789126"/>
            <a:ext cx="2932347" cy="661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000" dirty="0"/>
              <a:t>バージョン </a:t>
            </a:r>
            <a:r>
              <a:rPr lang="en-US" altLang="ja-JP" sz="2000" dirty="0"/>
              <a:t>/ OS</a:t>
            </a:r>
            <a:r>
              <a:rPr lang="ja-JP" altLang="en-US" sz="2000" dirty="0"/>
              <a:t>の</a:t>
            </a:r>
            <a:br>
              <a:rPr lang="en-US" altLang="ja-JP" sz="2000" dirty="0"/>
            </a:br>
            <a:r>
              <a:rPr lang="ja-JP" altLang="en-US" sz="2000" dirty="0"/>
              <a:t>違いによるトラブル</a:t>
            </a:r>
            <a:endParaRPr lang="en-US" altLang="ja-JP" sz="2000" dirty="0"/>
          </a:p>
        </p:txBody>
      </p:sp>
      <p:sp>
        <p:nvSpPr>
          <p:cNvPr id="1078" name="テキスト ボックス 1077">
            <a:extLst>
              <a:ext uri="{FF2B5EF4-FFF2-40B4-BE49-F238E27FC236}">
                <a16:creationId xmlns:a16="http://schemas.microsoft.com/office/drawing/2014/main" id="{5CCCB722-76C8-8D92-9A0B-966D994FCB40}"/>
              </a:ext>
            </a:extLst>
          </p:cNvPr>
          <p:cNvSpPr txBox="1"/>
          <p:nvPr/>
        </p:nvSpPr>
        <p:spPr>
          <a:xfrm>
            <a:off x="6001250" y="6255363"/>
            <a:ext cx="38881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/>
              <a:t>時代変遷による技術革新</a:t>
            </a:r>
            <a:br>
              <a:rPr lang="en-US" altLang="ja-JP" sz="2400" dirty="0"/>
            </a:br>
            <a:r>
              <a:rPr lang="ja-JP" altLang="en-US" sz="2400" dirty="0"/>
              <a:t>（ボカロ、</a:t>
            </a:r>
            <a:r>
              <a:rPr lang="en-US" altLang="ja-JP" sz="2400" dirty="0"/>
              <a:t>AI</a:t>
            </a:r>
            <a:r>
              <a:rPr lang="ja-JP" altLang="en-US" sz="2400" dirty="0"/>
              <a:t>作曲等）</a:t>
            </a:r>
            <a:endParaRPr lang="en-US" altLang="ja-JP" sz="2400" dirty="0"/>
          </a:p>
        </p:txBody>
      </p:sp>
      <p:sp>
        <p:nvSpPr>
          <p:cNvPr id="1079" name="テキスト ボックス 1078">
            <a:extLst>
              <a:ext uri="{FF2B5EF4-FFF2-40B4-BE49-F238E27FC236}">
                <a16:creationId xmlns:a16="http://schemas.microsoft.com/office/drawing/2014/main" id="{C4C2EB32-D154-74D4-C8D3-2BD9B29265D7}"/>
              </a:ext>
            </a:extLst>
          </p:cNvPr>
          <p:cNvSpPr txBox="1"/>
          <p:nvPr/>
        </p:nvSpPr>
        <p:spPr>
          <a:xfrm>
            <a:off x="6421302" y="10268536"/>
            <a:ext cx="304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/>
              <a:t>ソフトウェア難民</a:t>
            </a:r>
            <a:endParaRPr lang="en-US" altLang="ja-JP" sz="2400" dirty="0"/>
          </a:p>
        </p:txBody>
      </p:sp>
      <p:sp>
        <p:nvSpPr>
          <p:cNvPr id="1080" name="テキスト ボックス 1079">
            <a:extLst>
              <a:ext uri="{FF2B5EF4-FFF2-40B4-BE49-F238E27FC236}">
                <a16:creationId xmlns:a16="http://schemas.microsoft.com/office/drawing/2014/main" id="{722245B5-6AA7-2567-CF92-958262E67B91}"/>
              </a:ext>
            </a:extLst>
          </p:cNvPr>
          <p:cNvSpPr txBox="1"/>
          <p:nvPr/>
        </p:nvSpPr>
        <p:spPr>
          <a:xfrm>
            <a:off x="3487268" y="8737045"/>
            <a:ext cx="303045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6" indent="-285756">
              <a:buFont typeface="Arial" panose="020B0604020202020204" pitchFamily="34" charset="0"/>
              <a:buChar char="•"/>
            </a:pPr>
            <a:r>
              <a:rPr lang="en-US" altLang="ja-JP" sz="2000" dirty="0"/>
              <a:t>DAW</a:t>
            </a:r>
            <a:r>
              <a:rPr lang="ja-JP" altLang="en-US" sz="2000" dirty="0"/>
              <a:t>ごとに</a:t>
            </a:r>
            <a:br>
              <a:rPr lang="en-US" altLang="ja-JP" sz="2000" dirty="0"/>
            </a:br>
            <a:r>
              <a:rPr lang="ja-JP" altLang="en-US" sz="2000" dirty="0"/>
              <a:t>操作体系が異なる</a:t>
            </a:r>
            <a:endParaRPr lang="en-US" altLang="ja-JP" sz="2000" dirty="0"/>
          </a:p>
        </p:txBody>
      </p:sp>
      <p:sp>
        <p:nvSpPr>
          <p:cNvPr id="1081" name="テキスト ボックス 1080">
            <a:extLst>
              <a:ext uri="{FF2B5EF4-FFF2-40B4-BE49-F238E27FC236}">
                <a16:creationId xmlns:a16="http://schemas.microsoft.com/office/drawing/2014/main" id="{577A9948-1A9E-2FCD-71CE-10C8E626BD67}"/>
              </a:ext>
            </a:extLst>
          </p:cNvPr>
          <p:cNvSpPr txBox="1"/>
          <p:nvPr/>
        </p:nvSpPr>
        <p:spPr>
          <a:xfrm>
            <a:off x="9436012" y="7177538"/>
            <a:ext cx="44693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dirty="0"/>
              <a:t>欲しい機能が足りない！</a:t>
            </a:r>
            <a:endParaRPr lang="en-US" altLang="ja-JP" sz="2800" dirty="0"/>
          </a:p>
        </p:txBody>
      </p:sp>
      <p:sp>
        <p:nvSpPr>
          <p:cNvPr id="1082" name="テキスト ボックス 1081">
            <a:extLst>
              <a:ext uri="{FF2B5EF4-FFF2-40B4-BE49-F238E27FC236}">
                <a16:creationId xmlns:a16="http://schemas.microsoft.com/office/drawing/2014/main" id="{92309804-33B7-32BB-6F09-7371578148C2}"/>
              </a:ext>
            </a:extLst>
          </p:cNvPr>
          <p:cNvSpPr txBox="1"/>
          <p:nvPr/>
        </p:nvSpPr>
        <p:spPr>
          <a:xfrm>
            <a:off x="5865824" y="7887084"/>
            <a:ext cx="41589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2400" dirty="0"/>
              <a:t>UI</a:t>
            </a:r>
            <a:r>
              <a:rPr lang="ja-JP" altLang="en-US" sz="2400" dirty="0"/>
              <a:t>のカスタマイズが限定的</a:t>
            </a:r>
            <a:endParaRPr lang="en-US" altLang="ja-JP" sz="2400" dirty="0"/>
          </a:p>
        </p:txBody>
      </p:sp>
      <p:sp>
        <p:nvSpPr>
          <p:cNvPr id="1083" name="テキスト ボックス 1082">
            <a:extLst>
              <a:ext uri="{FF2B5EF4-FFF2-40B4-BE49-F238E27FC236}">
                <a16:creationId xmlns:a16="http://schemas.microsoft.com/office/drawing/2014/main" id="{7AE7C53C-20C9-2142-62DF-C96DB15FF742}"/>
              </a:ext>
            </a:extLst>
          </p:cNvPr>
          <p:cNvSpPr txBox="1"/>
          <p:nvPr/>
        </p:nvSpPr>
        <p:spPr>
          <a:xfrm>
            <a:off x="2420610" y="7177538"/>
            <a:ext cx="40451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dirty="0"/>
              <a:t>多機能過ぎて難しい！</a:t>
            </a:r>
            <a:endParaRPr lang="en-US" altLang="ja-JP" sz="2800" dirty="0"/>
          </a:p>
        </p:txBody>
      </p:sp>
      <p:cxnSp>
        <p:nvCxnSpPr>
          <p:cNvPr id="1084" name="直線矢印コネクタ 1083">
            <a:extLst>
              <a:ext uri="{FF2B5EF4-FFF2-40B4-BE49-F238E27FC236}">
                <a16:creationId xmlns:a16="http://schemas.microsoft.com/office/drawing/2014/main" id="{0F76C465-BAB5-5600-5720-3FB4B6AD6932}"/>
              </a:ext>
            </a:extLst>
          </p:cNvPr>
          <p:cNvCxnSpPr>
            <a:cxnSpLocks/>
          </p:cNvCxnSpPr>
          <p:nvPr/>
        </p:nvCxnSpPr>
        <p:spPr>
          <a:xfrm>
            <a:off x="6584460" y="7439148"/>
            <a:ext cx="272168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直線矢印コネクタ 1084">
            <a:extLst>
              <a:ext uri="{FF2B5EF4-FFF2-40B4-BE49-F238E27FC236}">
                <a16:creationId xmlns:a16="http://schemas.microsoft.com/office/drawing/2014/main" id="{337C9AD5-8C4B-CA96-81E6-C3ABD6B1474B}"/>
              </a:ext>
            </a:extLst>
          </p:cNvPr>
          <p:cNvCxnSpPr>
            <a:cxnSpLocks/>
          </p:cNvCxnSpPr>
          <p:nvPr/>
        </p:nvCxnSpPr>
        <p:spPr>
          <a:xfrm>
            <a:off x="7967795" y="9609330"/>
            <a:ext cx="0" cy="568027"/>
          </a:xfrm>
          <a:prstGeom prst="straightConnector1">
            <a:avLst/>
          </a:prstGeom>
          <a:ln w="127000"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6" name="四角形: 角を丸くする 1085">
            <a:extLst>
              <a:ext uri="{FF2B5EF4-FFF2-40B4-BE49-F238E27FC236}">
                <a16:creationId xmlns:a16="http://schemas.microsoft.com/office/drawing/2014/main" id="{372F1F9F-A184-7288-AFDD-7909F2D13408}"/>
              </a:ext>
            </a:extLst>
          </p:cNvPr>
          <p:cNvSpPr/>
          <p:nvPr/>
        </p:nvSpPr>
        <p:spPr>
          <a:xfrm>
            <a:off x="3217556" y="8572648"/>
            <a:ext cx="9522462" cy="1036680"/>
          </a:xfrm>
          <a:prstGeom prst="roundRect">
            <a:avLst>
              <a:gd name="adj" fmla="val 32764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87" name="テキスト ボックス 1086">
            <a:extLst>
              <a:ext uri="{FF2B5EF4-FFF2-40B4-BE49-F238E27FC236}">
                <a16:creationId xmlns:a16="http://schemas.microsoft.com/office/drawing/2014/main" id="{35845E50-8A67-D465-E4D3-03464C2A0E13}"/>
              </a:ext>
            </a:extLst>
          </p:cNvPr>
          <p:cNvSpPr txBox="1"/>
          <p:nvPr/>
        </p:nvSpPr>
        <p:spPr>
          <a:xfrm>
            <a:off x="10024780" y="7586927"/>
            <a:ext cx="3227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dirty="0">
                <a:solidFill>
                  <a:srgbClr val="FF0000"/>
                </a:solidFill>
              </a:rPr>
              <a:t>機能を好きに</a:t>
            </a:r>
            <a:endParaRPr lang="en-US" altLang="ja-JP" sz="2800" dirty="0">
              <a:solidFill>
                <a:srgbClr val="FF0000"/>
              </a:solidFill>
            </a:endParaRPr>
          </a:p>
          <a:p>
            <a:pPr algn="ctr"/>
            <a:r>
              <a:rPr lang="ja-JP" altLang="en-US" sz="2800" dirty="0">
                <a:solidFill>
                  <a:srgbClr val="FF0000"/>
                </a:solidFill>
              </a:rPr>
              <a:t>追加・削除できる</a:t>
            </a:r>
            <a:endParaRPr lang="en-US" altLang="ja-JP" sz="2800" dirty="0">
              <a:solidFill>
                <a:srgbClr val="FF0000"/>
              </a:solidFill>
            </a:endParaRPr>
          </a:p>
        </p:txBody>
      </p:sp>
      <p:sp>
        <p:nvSpPr>
          <p:cNvPr id="1088" name="テキスト ボックス 1087">
            <a:extLst>
              <a:ext uri="{FF2B5EF4-FFF2-40B4-BE49-F238E27FC236}">
                <a16:creationId xmlns:a16="http://schemas.microsoft.com/office/drawing/2014/main" id="{EF69DF54-DDE3-07CD-9A97-687FAC69E494}"/>
              </a:ext>
            </a:extLst>
          </p:cNvPr>
          <p:cNvSpPr txBox="1"/>
          <p:nvPr/>
        </p:nvSpPr>
        <p:spPr>
          <a:xfrm>
            <a:off x="9235647" y="9987075"/>
            <a:ext cx="3227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dirty="0">
                <a:solidFill>
                  <a:srgbClr val="FF0000"/>
                </a:solidFill>
              </a:rPr>
              <a:t>共通フォーマットに対応</a:t>
            </a:r>
            <a:endParaRPr lang="en-US" altLang="ja-JP" sz="2800" dirty="0">
              <a:solidFill>
                <a:srgbClr val="FF0000"/>
              </a:solidFill>
            </a:endParaRPr>
          </a:p>
        </p:txBody>
      </p:sp>
      <p:sp>
        <p:nvSpPr>
          <p:cNvPr id="1089" name="テキスト ボックス 1088">
            <a:extLst>
              <a:ext uri="{FF2B5EF4-FFF2-40B4-BE49-F238E27FC236}">
                <a16:creationId xmlns:a16="http://schemas.microsoft.com/office/drawing/2014/main" id="{E8EFB987-E252-9D05-AC1F-90BDF6EA36FA}"/>
              </a:ext>
            </a:extLst>
          </p:cNvPr>
          <p:cNvSpPr txBox="1"/>
          <p:nvPr/>
        </p:nvSpPr>
        <p:spPr>
          <a:xfrm>
            <a:off x="9512731" y="6125216"/>
            <a:ext cx="3227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2800" dirty="0">
                <a:solidFill>
                  <a:srgbClr val="FF0000"/>
                </a:solidFill>
              </a:rPr>
              <a:t>AI</a:t>
            </a:r>
            <a:r>
              <a:rPr lang="ja-JP" altLang="en-US" sz="2800" dirty="0">
                <a:solidFill>
                  <a:srgbClr val="FF0000"/>
                </a:solidFill>
              </a:rPr>
              <a:t>アシスタント</a:t>
            </a:r>
            <a:endParaRPr lang="en-US" altLang="ja-JP" sz="2800" dirty="0">
              <a:solidFill>
                <a:srgbClr val="FF0000"/>
              </a:solidFill>
            </a:endParaRPr>
          </a:p>
          <a:p>
            <a:pPr algn="ctr"/>
            <a:r>
              <a:rPr lang="ja-JP" altLang="en-US" sz="2800" dirty="0">
                <a:solidFill>
                  <a:srgbClr val="FF0000"/>
                </a:solidFill>
              </a:rPr>
              <a:t>機能を導入</a:t>
            </a:r>
            <a:endParaRPr lang="en-US" altLang="ja-JP" sz="2800" dirty="0">
              <a:solidFill>
                <a:srgbClr val="FF0000"/>
              </a:solidFill>
            </a:endParaRPr>
          </a:p>
        </p:txBody>
      </p:sp>
      <p:sp>
        <p:nvSpPr>
          <p:cNvPr id="1091" name="テキスト ボックス 1090">
            <a:extLst>
              <a:ext uri="{FF2B5EF4-FFF2-40B4-BE49-F238E27FC236}">
                <a16:creationId xmlns:a16="http://schemas.microsoft.com/office/drawing/2014/main" id="{24725164-D6A4-3DD5-6F7A-755460384D22}"/>
              </a:ext>
            </a:extLst>
          </p:cNvPr>
          <p:cNvSpPr txBox="1"/>
          <p:nvPr/>
        </p:nvSpPr>
        <p:spPr>
          <a:xfrm>
            <a:off x="2609287" y="7611033"/>
            <a:ext cx="3227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2800" dirty="0">
                <a:solidFill>
                  <a:srgbClr val="FF0000"/>
                </a:solidFill>
              </a:rPr>
              <a:t>DAW</a:t>
            </a:r>
            <a:r>
              <a:rPr lang="ja-JP" altLang="en-US" sz="2800" dirty="0">
                <a:solidFill>
                  <a:srgbClr val="FF0000"/>
                </a:solidFill>
              </a:rPr>
              <a:t>の基本操作</a:t>
            </a:r>
            <a:br>
              <a:rPr lang="en-US" altLang="ja-JP" sz="2800" dirty="0">
                <a:solidFill>
                  <a:srgbClr val="FF0000"/>
                </a:solidFill>
              </a:rPr>
            </a:br>
            <a:r>
              <a:rPr lang="ja-JP" altLang="en-US" sz="2800" dirty="0">
                <a:solidFill>
                  <a:srgbClr val="FF0000"/>
                </a:solidFill>
              </a:rPr>
              <a:t>体系を整理</a:t>
            </a:r>
            <a:endParaRPr lang="en-US" altLang="ja-JP" sz="2800" dirty="0">
              <a:solidFill>
                <a:srgbClr val="FF0000"/>
              </a:solidFill>
            </a:endParaRPr>
          </a:p>
        </p:txBody>
      </p:sp>
      <p:sp>
        <p:nvSpPr>
          <p:cNvPr id="1093" name="タイトル 1">
            <a:extLst>
              <a:ext uri="{FF2B5EF4-FFF2-40B4-BE49-F238E27FC236}">
                <a16:creationId xmlns:a16="http://schemas.microsoft.com/office/drawing/2014/main" id="{3CAB2107-9159-C28D-B0A4-BCBD992DC720}"/>
              </a:ext>
            </a:extLst>
          </p:cNvPr>
          <p:cNvSpPr txBox="1">
            <a:spLocks/>
          </p:cNvSpPr>
          <p:nvPr/>
        </p:nvSpPr>
        <p:spPr>
          <a:xfrm>
            <a:off x="2178832" y="4187845"/>
            <a:ext cx="11726549" cy="10551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2880086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18898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ja-JP" sz="6700" dirty="0"/>
              <a:t>D</a:t>
            </a:r>
            <a:r>
              <a:rPr lang="en-US" altLang="ja-JP" sz="4800" dirty="0"/>
              <a:t>AW</a:t>
            </a:r>
            <a:r>
              <a:rPr lang="ja-JP" altLang="en-US" sz="4800" dirty="0"/>
              <a:t>の</a:t>
            </a:r>
            <a:r>
              <a:rPr lang="ja-JP" altLang="en-US" sz="5400" dirty="0"/>
              <a:t>かゆいところを</a:t>
            </a:r>
            <a:r>
              <a:rPr lang="en-US" altLang="ja-JP" sz="5400" dirty="0">
                <a:solidFill>
                  <a:srgbClr val="FF0000"/>
                </a:solidFill>
              </a:rPr>
              <a:t>DAWIY</a:t>
            </a:r>
            <a:r>
              <a:rPr lang="ja-JP" altLang="en-US" sz="5400" dirty="0">
                <a:solidFill>
                  <a:srgbClr val="FF0000"/>
                </a:solidFill>
              </a:rPr>
              <a:t>で解決</a:t>
            </a:r>
            <a:endParaRPr lang="ja-JP" altLang="en-US" sz="6600" dirty="0">
              <a:solidFill>
                <a:srgbClr val="FF0000"/>
              </a:solidFill>
            </a:endParaRPr>
          </a:p>
        </p:txBody>
      </p:sp>
      <p:sp>
        <p:nvSpPr>
          <p:cNvPr id="1098" name="タイトル 1">
            <a:extLst>
              <a:ext uri="{FF2B5EF4-FFF2-40B4-BE49-F238E27FC236}">
                <a16:creationId xmlns:a16="http://schemas.microsoft.com/office/drawing/2014/main" id="{595570DB-0655-B14C-978E-59CC1B2F6482}"/>
              </a:ext>
            </a:extLst>
          </p:cNvPr>
          <p:cNvSpPr txBox="1">
            <a:spLocks/>
          </p:cNvSpPr>
          <p:nvPr/>
        </p:nvSpPr>
        <p:spPr>
          <a:xfrm>
            <a:off x="14799198" y="4410874"/>
            <a:ext cx="7120045" cy="10551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2880086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18898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ja-JP" sz="6000" dirty="0"/>
              <a:t>DAW+DIY=DAWIY</a:t>
            </a:r>
            <a:endParaRPr lang="ja-JP" altLang="en-US" sz="5400" dirty="0"/>
          </a:p>
        </p:txBody>
      </p:sp>
      <p:sp>
        <p:nvSpPr>
          <p:cNvPr id="1099" name="タイトル 1">
            <a:extLst>
              <a:ext uri="{FF2B5EF4-FFF2-40B4-BE49-F238E27FC236}">
                <a16:creationId xmlns:a16="http://schemas.microsoft.com/office/drawing/2014/main" id="{BEC8EE4C-9C42-3109-A490-7B0185F420ED}"/>
              </a:ext>
            </a:extLst>
          </p:cNvPr>
          <p:cNvSpPr txBox="1">
            <a:spLocks/>
          </p:cNvSpPr>
          <p:nvPr/>
        </p:nvSpPr>
        <p:spPr>
          <a:xfrm>
            <a:off x="1400753" y="26196673"/>
            <a:ext cx="10898058" cy="10551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2880086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18898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ja-JP" sz="6600" dirty="0"/>
              <a:t>DAWIY</a:t>
            </a:r>
            <a:r>
              <a:rPr lang="ja-JP" altLang="en-US" sz="6600" dirty="0"/>
              <a:t>プラグインとは</a:t>
            </a:r>
            <a:r>
              <a:rPr lang="en-US" altLang="ja-JP" sz="6600" dirty="0"/>
              <a:t>…</a:t>
            </a:r>
            <a:endParaRPr lang="ja-JP" altLang="en-US" sz="6000" dirty="0"/>
          </a:p>
        </p:txBody>
      </p:sp>
      <p:sp>
        <p:nvSpPr>
          <p:cNvPr id="1212" name="テキスト ボックス 1211">
            <a:extLst>
              <a:ext uri="{FF2B5EF4-FFF2-40B4-BE49-F238E27FC236}">
                <a16:creationId xmlns:a16="http://schemas.microsoft.com/office/drawing/2014/main" id="{9086BCEF-6A4D-2A08-5F0B-EA7E9A73F036}"/>
              </a:ext>
            </a:extLst>
          </p:cNvPr>
          <p:cNvSpPr txBox="1"/>
          <p:nvPr/>
        </p:nvSpPr>
        <p:spPr>
          <a:xfrm>
            <a:off x="1737151" y="27169269"/>
            <a:ext cx="110778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3200" dirty="0"/>
              <a:t>VST プラグインではカバーできない、</a:t>
            </a:r>
            <a:endParaRPr lang="en-US" altLang="ja-JP" sz="3200" dirty="0"/>
          </a:p>
          <a:p>
            <a:r>
              <a:rPr lang="ja-JP" altLang="en-US" sz="3200" dirty="0"/>
              <a:t>DAW の入出力・UI・操作等に介入する処理を</a:t>
            </a:r>
            <a:endParaRPr lang="en-US" altLang="ja-JP" sz="3200" dirty="0"/>
          </a:p>
          <a:p>
            <a:r>
              <a:rPr lang="ja-JP" altLang="en-US" sz="3200" dirty="0"/>
              <a:t>拡張するための独自のプラグインシステム</a:t>
            </a:r>
            <a:endParaRPr lang="en-US" altLang="ja-JP" sz="3200" dirty="0"/>
          </a:p>
          <a:p>
            <a:r>
              <a:rPr lang="en-US" altLang="ja-JP" sz="3200" dirty="0">
                <a:latin typeface="Consolas" panose="020B0609020204030204" pitchFamily="49" charset="0"/>
              </a:rPr>
              <a:t>public/src/DawiyPlugins</a:t>
            </a:r>
            <a:r>
              <a:rPr lang="ja-JP" altLang="en-US" sz="3200" dirty="0"/>
              <a:t>ディレクトリ以下に配置された</a:t>
            </a:r>
            <a:endParaRPr lang="en-US" altLang="ja-JP" sz="3200" dirty="0"/>
          </a:p>
          <a:p>
            <a:r>
              <a:rPr lang="en-US" altLang="ja-JP" sz="3200" dirty="0"/>
              <a:t>TypeScript</a:t>
            </a:r>
            <a:r>
              <a:rPr lang="ja-JP" altLang="en-US" sz="3200" dirty="0"/>
              <a:t>ファイル（</a:t>
            </a:r>
            <a:r>
              <a:rPr lang="en-US" altLang="ja-JP" sz="3200" dirty="0">
                <a:latin typeface="Consolas" panose="020B0609020204030204" pitchFamily="49" charset="0"/>
              </a:rPr>
              <a:t>.ts</a:t>
            </a:r>
            <a:r>
              <a:rPr lang="ja-JP" altLang="en-US" sz="3200" dirty="0"/>
              <a:t>）として管理</a:t>
            </a:r>
          </a:p>
        </p:txBody>
      </p:sp>
      <p:sp>
        <p:nvSpPr>
          <p:cNvPr id="1227" name="正方形/長方形 1226">
            <a:extLst>
              <a:ext uri="{FF2B5EF4-FFF2-40B4-BE49-F238E27FC236}">
                <a16:creationId xmlns:a16="http://schemas.microsoft.com/office/drawing/2014/main" id="{A786CBB2-CDBB-C90F-40D2-B50210B5837C}"/>
              </a:ext>
            </a:extLst>
          </p:cNvPr>
          <p:cNvSpPr/>
          <p:nvPr/>
        </p:nvSpPr>
        <p:spPr>
          <a:xfrm>
            <a:off x="1926076" y="33476962"/>
            <a:ext cx="6316981" cy="243178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28" name="テキスト ボックス 1227">
            <a:extLst>
              <a:ext uri="{FF2B5EF4-FFF2-40B4-BE49-F238E27FC236}">
                <a16:creationId xmlns:a16="http://schemas.microsoft.com/office/drawing/2014/main" id="{3E83178B-B8D6-C2DB-711D-CDF26F889299}"/>
              </a:ext>
            </a:extLst>
          </p:cNvPr>
          <p:cNvSpPr txBox="1"/>
          <p:nvPr/>
        </p:nvSpPr>
        <p:spPr>
          <a:xfrm>
            <a:off x="6496929" y="33514119"/>
            <a:ext cx="1723861" cy="4001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ja-JP" altLang="en-US" sz="2000" dirty="0">
                <a:solidFill>
                  <a:srgbClr val="FF0000"/>
                </a:solidFill>
              </a:rPr>
              <a:t>見た目の定義</a:t>
            </a:r>
          </a:p>
        </p:txBody>
      </p:sp>
      <p:sp>
        <p:nvSpPr>
          <p:cNvPr id="1229" name="正方形/長方形 1228">
            <a:extLst>
              <a:ext uri="{FF2B5EF4-FFF2-40B4-BE49-F238E27FC236}">
                <a16:creationId xmlns:a16="http://schemas.microsoft.com/office/drawing/2014/main" id="{194EE379-C802-F0B2-7900-4F2220DD6523}"/>
              </a:ext>
            </a:extLst>
          </p:cNvPr>
          <p:cNvSpPr/>
          <p:nvPr/>
        </p:nvSpPr>
        <p:spPr>
          <a:xfrm>
            <a:off x="9244012" y="32289216"/>
            <a:ext cx="6076780" cy="231003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30" name="直線矢印コネクタ 1229">
            <a:extLst>
              <a:ext uri="{FF2B5EF4-FFF2-40B4-BE49-F238E27FC236}">
                <a16:creationId xmlns:a16="http://schemas.microsoft.com/office/drawing/2014/main" id="{CF297810-64D8-3957-8E76-AD31D9A11CEB}"/>
              </a:ext>
            </a:extLst>
          </p:cNvPr>
          <p:cNvCxnSpPr>
            <a:cxnSpLocks/>
          </p:cNvCxnSpPr>
          <p:nvPr/>
        </p:nvCxnSpPr>
        <p:spPr>
          <a:xfrm flipV="1">
            <a:off x="7844638" y="33193305"/>
            <a:ext cx="1344119" cy="18983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6" name="正方形/長方形 1235">
            <a:extLst>
              <a:ext uri="{FF2B5EF4-FFF2-40B4-BE49-F238E27FC236}">
                <a16:creationId xmlns:a16="http://schemas.microsoft.com/office/drawing/2014/main" id="{0B654C05-C7E5-93A8-CE04-3429DEDCDAEC}"/>
              </a:ext>
            </a:extLst>
          </p:cNvPr>
          <p:cNvSpPr/>
          <p:nvPr/>
        </p:nvSpPr>
        <p:spPr>
          <a:xfrm>
            <a:off x="1926074" y="36002568"/>
            <a:ext cx="8385948" cy="5247616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37" name="直線矢印コネクタ 1236">
            <a:extLst>
              <a:ext uri="{FF2B5EF4-FFF2-40B4-BE49-F238E27FC236}">
                <a16:creationId xmlns:a16="http://schemas.microsoft.com/office/drawing/2014/main" id="{FE6429DE-3EC8-BECF-4273-64F497743646}"/>
              </a:ext>
            </a:extLst>
          </p:cNvPr>
          <p:cNvCxnSpPr>
            <a:cxnSpLocks/>
          </p:cNvCxnSpPr>
          <p:nvPr/>
        </p:nvCxnSpPr>
        <p:spPr>
          <a:xfrm flipH="1">
            <a:off x="9188757" y="33976379"/>
            <a:ext cx="3631959" cy="1879215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0" name="テキスト ボックス 1239">
            <a:extLst>
              <a:ext uri="{FF2B5EF4-FFF2-40B4-BE49-F238E27FC236}">
                <a16:creationId xmlns:a16="http://schemas.microsoft.com/office/drawing/2014/main" id="{D7C91409-E3F7-E18E-93FB-49BD1E734358}"/>
              </a:ext>
            </a:extLst>
          </p:cNvPr>
          <p:cNvSpPr txBox="1"/>
          <p:nvPr/>
        </p:nvSpPr>
        <p:spPr>
          <a:xfrm>
            <a:off x="8861453" y="41315091"/>
            <a:ext cx="1558383" cy="4001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ja-JP" altLang="en-US" sz="2000" dirty="0">
                <a:solidFill>
                  <a:srgbClr val="0070C0"/>
                </a:solidFill>
              </a:rPr>
              <a:t>挙動の定義</a:t>
            </a:r>
          </a:p>
        </p:txBody>
      </p:sp>
      <p:sp>
        <p:nvSpPr>
          <p:cNvPr id="1247" name="テキスト ボックス 1246">
            <a:extLst>
              <a:ext uri="{FF2B5EF4-FFF2-40B4-BE49-F238E27FC236}">
                <a16:creationId xmlns:a16="http://schemas.microsoft.com/office/drawing/2014/main" id="{C0E2D1FD-F6A7-FFFE-414F-E9D4E76F0546}"/>
              </a:ext>
            </a:extLst>
          </p:cNvPr>
          <p:cNvSpPr txBox="1"/>
          <p:nvPr/>
        </p:nvSpPr>
        <p:spPr>
          <a:xfrm>
            <a:off x="10312022" y="35455482"/>
            <a:ext cx="2832890" cy="4001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ja-JP" altLang="en-US" sz="2000" dirty="0">
                <a:solidFill>
                  <a:srgbClr val="0070C0"/>
                </a:solidFill>
              </a:rPr>
              <a:t>ボタンを押すと発火</a:t>
            </a:r>
          </a:p>
        </p:txBody>
      </p:sp>
      <p:pic>
        <p:nvPicPr>
          <p:cNvPr id="1262" name="図 1261" descr="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E1366DA8-EB3D-4542-27E2-5316AE09655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90793" y="35990053"/>
            <a:ext cx="4435446" cy="5270293"/>
          </a:xfrm>
          <a:prstGeom prst="rect">
            <a:avLst/>
          </a:prstGeom>
        </p:spPr>
      </p:pic>
      <p:cxnSp>
        <p:nvCxnSpPr>
          <p:cNvPr id="1263" name="直線矢印コネクタ 1262">
            <a:extLst>
              <a:ext uri="{FF2B5EF4-FFF2-40B4-BE49-F238E27FC236}">
                <a16:creationId xmlns:a16="http://schemas.microsoft.com/office/drawing/2014/main" id="{3D3D7A2E-F626-099C-C3C1-E14646E2B6FA}"/>
              </a:ext>
            </a:extLst>
          </p:cNvPr>
          <p:cNvCxnSpPr>
            <a:cxnSpLocks/>
          </p:cNvCxnSpPr>
          <p:nvPr/>
        </p:nvCxnSpPr>
        <p:spPr>
          <a:xfrm>
            <a:off x="10395787" y="39914144"/>
            <a:ext cx="502218" cy="0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8" name="正方形/長方形 1267">
            <a:extLst>
              <a:ext uri="{FF2B5EF4-FFF2-40B4-BE49-F238E27FC236}">
                <a16:creationId xmlns:a16="http://schemas.microsoft.com/office/drawing/2014/main" id="{D7A9D84F-AA6F-FE2F-B9B2-DCF26B5427B1}"/>
              </a:ext>
            </a:extLst>
          </p:cNvPr>
          <p:cNvSpPr/>
          <p:nvPr/>
        </p:nvSpPr>
        <p:spPr>
          <a:xfrm>
            <a:off x="10990794" y="39594110"/>
            <a:ext cx="4435445" cy="751834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69" name="テキスト ボックス 1268">
            <a:extLst>
              <a:ext uri="{FF2B5EF4-FFF2-40B4-BE49-F238E27FC236}">
                <a16:creationId xmlns:a16="http://schemas.microsoft.com/office/drawing/2014/main" id="{7AAC3424-A2FB-5C41-2A8B-BAA111DF0DC7}"/>
              </a:ext>
            </a:extLst>
          </p:cNvPr>
          <p:cNvSpPr txBox="1"/>
          <p:nvPr/>
        </p:nvSpPr>
        <p:spPr>
          <a:xfrm>
            <a:off x="10937612" y="39091304"/>
            <a:ext cx="4580753" cy="400110"/>
          </a:xfrm>
          <a:prstGeom prst="rect">
            <a:avLst/>
          </a:prstGeom>
          <a:solidFill>
            <a:srgbClr val="FFFFFF">
              <a:alpha val="85098"/>
            </a:srgbClr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ja-JP" altLang="en-US" sz="2000" dirty="0">
                <a:solidFill>
                  <a:srgbClr val="0070C0"/>
                </a:solidFill>
              </a:rPr>
              <a:t>トラックを作成し、</a:t>
            </a:r>
            <a:r>
              <a:rPr lang="en-US" altLang="ja-JP" sz="2000" dirty="0">
                <a:solidFill>
                  <a:srgbClr val="0070C0"/>
                </a:solidFill>
              </a:rPr>
              <a:t>MIDI</a:t>
            </a:r>
            <a:r>
              <a:rPr lang="ja-JP" altLang="en-US" sz="2000" dirty="0">
                <a:solidFill>
                  <a:srgbClr val="0070C0"/>
                </a:solidFill>
              </a:rPr>
              <a:t>ノートを追加</a:t>
            </a:r>
          </a:p>
        </p:txBody>
      </p:sp>
      <p:pic>
        <p:nvPicPr>
          <p:cNvPr id="3" name="図 2" descr="コンピューター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88E248C4-B040-16AE-6F55-50DA1BF92CD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723459" y="5428969"/>
            <a:ext cx="10004194" cy="58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457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4763</TotalTime>
  <Words>786</Words>
  <Application>Microsoft Office PowerPoint</Application>
  <PresentationFormat>ユーザー設定</PresentationFormat>
  <Paragraphs>112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モボ-Bold</vt:lpstr>
      <vt:lpstr>モボ-Regular</vt:lpstr>
      <vt:lpstr>モボ-SemiBold</vt:lpstr>
      <vt:lpstr>游ゴシック</vt:lpstr>
      <vt:lpstr>Arial</vt:lpstr>
      <vt:lpstr>Consolas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243</cp:revision>
  <dcterms:created xsi:type="dcterms:W3CDTF">2025-08-18T14:45:59Z</dcterms:created>
  <dcterms:modified xsi:type="dcterms:W3CDTF">2026-03-05T08:48:15Z</dcterms:modified>
</cp:coreProperties>
</file>